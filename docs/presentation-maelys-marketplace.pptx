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4-1.jpg" ContentType="image/jpg"/>
  <Override PartName="/ppt/media/image-14-2.jpg" ContentType="image/jpg"/>
  <Override PartName="/ppt/media/image-18-1.jpg" ContentType="image/jpg"/>
  <Override PartName="/ppt/media/image-19-1.jpg" ContentType="image/jpg"/>
  <Override PartName="/ppt/media/image-19-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c00233d-03e9-9a5d-66d1-b7555359c4e7}">
          <p14:sldIdLst>
            <p14:sldId id="256"/>
          </p14:sldIdLst>
        </p14:section>
        <p14:section name="Problématique" id="{55126fa9-8adb-1905-b130-b7036a107864}">
          <p14:sldIdLst>
            <p14:sldId id="257"/>
            <p14:sldId id="258"/>
            <p14:sldId id="259"/>
            <p14:sldId id="260"/>
            <p14:sldId id="261"/>
          </p14:sldIdLst>
        </p14:section>
        <p14:section name="Solution" id="{066b6f80-687c-635d-560d-86cd86b187e8}">
          <p14:sldIdLst>
            <p14:sldId id="262"/>
            <p14:sldId id="263"/>
            <p14:sldId id="264"/>
            <p14:sldId id="265"/>
            <p14:sldId id="266"/>
            <p14:sldId id="267"/>
            <p14:sldId id="268"/>
            <p14:sldId id="269"/>
          </p14:sldIdLst>
        </p14:section>
        <p14:section name="Démonstration" id="{606e2282-ba90-5288-2e50-6eda513f692f}">
          <p14:sldIdLst>
            <p14:sldId id="270"/>
            <p14:sldId id="271"/>
            <p14:sldId id="272"/>
            <p14:sldId id="273"/>
            <p14:sldId id="274"/>
            <p14:sldId id="275"/>
            <p14:sldId id="276"/>
            <p14:sldId id="277"/>
          </p14:sldIdLst>
        </p14:section>
        <p14:section name="Conclusion" id="{c3247f41-de31-aced-22df-34e6857bff20}">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chemeClr val="tx2"/>
                </a:solidFill>
                <a:latin typeface="+mn-lt"/>
              </a:rPr>
              <a:t>CA quotidien du 05/09 au 20/10/2026 (k€)</a:t>
            </a:r>
          </a:p>
        </c:rich>
      </c:tx>
      <c:layout/>
      <c:overlay val="0"/>
    </c:title>
    <c:autoTitleDeleted val="0"/>
    <c:plotArea>
      <c:lineChart>
        <c:grouping val="standard"/>
        <c:varyColors val="0"/>
        <c:ser>
          <c:idx val="0"/>
          <c:order val="0"/>
          <c:tx>
            <c:strRef>
              <c:f>Sheet1!$B$1</c:f>
              <c:strCache>
                <c:ptCount val="1"/>
                <c:pt idx="0">
                  <c:v>CA du jour</c:v>
                </c:pt>
              </c:strCache>
            </c:strRef>
          </c:tx>
          <c:spPr>
            <a:ln w="25400">
              <a:solidFill>
                <a:schemeClr val="tx2"/>
              </a:solidFill>
            </a:ln>
          </c:spPr>
          <c:marker>
            <c:symbol val="none"/>
          </c:marker>
          <c:cat>
            <c:strRef>
              <c:f>Sheet1!$A$2:$A$47</c:f>
              <c:strCache>
                <c:ptCount val="46"/>
                <c:pt idx="0">
                  <c:v>05/09</c:v>
                </c:pt>
                <c:pt idx="1">
                  <c:v>06/09</c:v>
                </c:pt>
                <c:pt idx="2">
                  <c:v>07/09</c:v>
                </c:pt>
                <c:pt idx="3">
                  <c:v>08/09</c:v>
                </c:pt>
                <c:pt idx="4">
                  <c:v>09/09</c:v>
                </c:pt>
                <c:pt idx="5">
                  <c:v>10/09</c:v>
                </c:pt>
                <c:pt idx="6">
                  <c:v>11/09</c:v>
                </c:pt>
                <c:pt idx="7">
                  <c:v>12/09</c:v>
                </c:pt>
                <c:pt idx="8">
                  <c:v>13/09</c:v>
                </c:pt>
                <c:pt idx="9">
                  <c:v>14/09</c:v>
                </c:pt>
                <c:pt idx="10">
                  <c:v>15/09</c:v>
                </c:pt>
                <c:pt idx="11">
                  <c:v>16/09</c:v>
                </c:pt>
                <c:pt idx="12">
                  <c:v>17/09</c:v>
                </c:pt>
                <c:pt idx="13">
                  <c:v>18/09</c:v>
                </c:pt>
                <c:pt idx="14">
                  <c:v>19/09</c:v>
                </c:pt>
                <c:pt idx="15">
                  <c:v>20/09</c:v>
                </c:pt>
                <c:pt idx="16">
                  <c:v>21/09</c:v>
                </c:pt>
                <c:pt idx="17">
                  <c:v>22/09</c:v>
                </c:pt>
                <c:pt idx="18">
                  <c:v>23/09</c:v>
                </c:pt>
                <c:pt idx="19">
                  <c:v>24/09</c:v>
                </c:pt>
                <c:pt idx="20">
                  <c:v>25/09</c:v>
                </c:pt>
                <c:pt idx="21">
                  <c:v>26/09</c:v>
                </c:pt>
                <c:pt idx="22">
                  <c:v>27/09</c:v>
                </c:pt>
                <c:pt idx="23">
                  <c:v>28/09</c:v>
                </c:pt>
                <c:pt idx="24">
                  <c:v>29/09</c:v>
                </c:pt>
                <c:pt idx="25">
                  <c:v>30/09</c:v>
                </c:pt>
                <c:pt idx="26">
                  <c:v>01/10</c:v>
                </c:pt>
                <c:pt idx="27">
                  <c:v>02/10</c:v>
                </c:pt>
                <c:pt idx="28">
                  <c:v>03/10</c:v>
                </c:pt>
                <c:pt idx="29">
                  <c:v>04/10</c:v>
                </c:pt>
                <c:pt idx="30">
                  <c:v>05/10</c:v>
                </c:pt>
                <c:pt idx="31">
                  <c:v>06/10</c:v>
                </c:pt>
                <c:pt idx="32">
                  <c:v>07/10</c:v>
                </c:pt>
                <c:pt idx="33">
                  <c:v>08/10</c:v>
                </c:pt>
                <c:pt idx="34">
                  <c:v>09/10</c:v>
                </c:pt>
                <c:pt idx="35">
                  <c:v>10/10</c:v>
                </c:pt>
                <c:pt idx="36">
                  <c:v>11/10</c:v>
                </c:pt>
                <c:pt idx="37">
                  <c:v>12/10</c:v>
                </c:pt>
                <c:pt idx="38">
                  <c:v>13/10</c:v>
                </c:pt>
                <c:pt idx="39">
                  <c:v>14/10</c:v>
                </c:pt>
                <c:pt idx="40">
                  <c:v>15/10</c:v>
                </c:pt>
                <c:pt idx="41">
                  <c:v>16/10</c:v>
                </c:pt>
                <c:pt idx="42">
                  <c:v>17/10</c:v>
                </c:pt>
                <c:pt idx="43">
                  <c:v>18/10</c:v>
                </c:pt>
                <c:pt idx="44">
                  <c:v>19/10</c:v>
                </c:pt>
                <c:pt idx="45">
                  <c:v>20/10</c:v>
                </c:pt>
              </c:strCache>
            </c:strRef>
          </c:cat>
          <c:val>
            <c:numRef>
              <c:f>Sheet1!$B$2:$B$47</c:f>
              <c:numCache>
                <c:formatCode>General</c:formatCode>
                <c:ptCount val="46"/>
                <c:pt idx="0">
                  <c:v>81.8</c:v>
                </c:pt>
                <c:pt idx="1">
                  <c:v>142.2</c:v>
                </c:pt>
                <c:pt idx="2">
                  <c:v>111.3</c:v>
                </c:pt>
                <c:pt idx="3">
                  <c:v>124.9</c:v>
                </c:pt>
                <c:pt idx="4">
                  <c:v>151.3</c:v>
                </c:pt>
                <c:pt idx="5">
                  <c:v>153.6</c:v>
                </c:pt>
                <c:pt idx="6">
                  <c:v>143.4</c:v>
                </c:pt>
                <c:pt idx="7">
                  <c:v>163.7</c:v>
                </c:pt>
                <c:pt idx="8">
                  <c:v>143.6</c:v>
                </c:pt>
                <c:pt idx="9">
                  <c:v>66.2</c:v>
                </c:pt>
                <c:pt idx="10">
                  <c:v>142.8</c:v>
                </c:pt>
                <c:pt idx="11">
                  <c:v>117.0</c:v>
                </c:pt>
                <c:pt idx="12">
                  <c:v>112.6</c:v>
                </c:pt>
                <c:pt idx="13">
                  <c:v>122.7</c:v>
                </c:pt>
                <c:pt idx="14">
                  <c:v>149.6</c:v>
                </c:pt>
                <c:pt idx="15">
                  <c:v>174.2</c:v>
                </c:pt>
                <c:pt idx="16">
                  <c:v>137.7</c:v>
                </c:pt>
                <c:pt idx="17">
                  <c:v>131.1</c:v>
                </c:pt>
                <c:pt idx="18">
                  <c:v>148.1</c:v>
                </c:pt>
                <c:pt idx="19">
                  <c:v>132.7</c:v>
                </c:pt>
                <c:pt idx="20">
                  <c:v>113.1</c:v>
                </c:pt>
                <c:pt idx="21">
                  <c:v>175.9</c:v>
                </c:pt>
                <c:pt idx="22">
                  <c:v>183.5</c:v>
                </c:pt>
                <c:pt idx="23">
                  <c:v>113.2</c:v>
                </c:pt>
                <c:pt idx="24">
                  <c:v>136.1</c:v>
                </c:pt>
                <c:pt idx="25">
                  <c:v>121.7</c:v>
                </c:pt>
                <c:pt idx="26">
                  <c:v>115.7</c:v>
                </c:pt>
                <c:pt idx="27">
                  <c:v>154.0</c:v>
                </c:pt>
                <c:pt idx="28">
                  <c:v>146.2</c:v>
                </c:pt>
                <c:pt idx="29">
                  <c:v>160.0</c:v>
                </c:pt>
                <c:pt idx="30">
                  <c:v>124.8</c:v>
                </c:pt>
                <c:pt idx="31">
                  <c:v>132.6</c:v>
                </c:pt>
                <c:pt idx="32">
                  <c:v>140.2</c:v>
                </c:pt>
                <c:pt idx="33">
                  <c:v>129.7</c:v>
                </c:pt>
                <c:pt idx="34">
                  <c:v>136.9</c:v>
                </c:pt>
                <c:pt idx="35">
                  <c:v>151.6</c:v>
                </c:pt>
                <c:pt idx="36">
                  <c:v>169.8</c:v>
                </c:pt>
                <c:pt idx="37">
                  <c:v>112.4</c:v>
                </c:pt>
                <c:pt idx="38">
                  <c:v>144.2</c:v>
                </c:pt>
                <c:pt idx="39">
                  <c:v>124.8</c:v>
                </c:pt>
                <c:pt idx="40">
                  <c:v>135.5</c:v>
                </c:pt>
                <c:pt idx="41">
                  <c:v>120.9</c:v>
                </c:pt>
                <c:pt idx="42">
                  <c:v>158.6</c:v>
                </c:pt>
                <c:pt idx="43">
                  <c:v>171.0</c:v>
                </c:pt>
                <c:pt idx="44">
                  <c:v>155.4</c:v>
                </c:pt>
                <c:pt idx="45">
                  <c:v>141.9</c:v>
                </c:pt>
              </c:numCache>
            </c:numRef>
          </c:val>
          <c:smooth val="0"/>
        </c:ser>
        <c:ser>
          <c:idx val="1"/>
          <c:order val="1"/>
          <c:tx>
            <c:strRef>
              <c:f>Sheet1!$C$1</c:f>
              <c:strCache>
                <c:ptCount val="1"/>
                <c:pt idx="0">
                  <c:v>Seuil d'alerte : 70 % de la moyenne 7 jours</c:v>
                </c:pt>
              </c:strCache>
            </c:strRef>
          </c:tx>
          <c:spPr>
            <a:ln w="25400">
              <a:solidFill>
                <a:schemeClr val="accent1"/>
              </a:solidFill>
              <a:prstDash val="dash"/>
            </a:ln>
          </c:spPr>
          <c:marker>
            <c:symbol val="none"/>
          </c:marker>
          <c:cat>
            <c:strRef>
              <c:f>Sheet1!$A$2:$A$47</c:f>
              <c:strCache>
                <c:ptCount val="46"/>
                <c:pt idx="0">
                  <c:v>05/09</c:v>
                </c:pt>
                <c:pt idx="1">
                  <c:v>06/09</c:v>
                </c:pt>
                <c:pt idx="2">
                  <c:v>07/09</c:v>
                </c:pt>
                <c:pt idx="3">
                  <c:v>08/09</c:v>
                </c:pt>
                <c:pt idx="4">
                  <c:v>09/09</c:v>
                </c:pt>
                <c:pt idx="5">
                  <c:v>10/09</c:v>
                </c:pt>
                <c:pt idx="6">
                  <c:v>11/09</c:v>
                </c:pt>
                <c:pt idx="7">
                  <c:v>12/09</c:v>
                </c:pt>
                <c:pt idx="8">
                  <c:v>13/09</c:v>
                </c:pt>
                <c:pt idx="9">
                  <c:v>14/09</c:v>
                </c:pt>
                <c:pt idx="10">
                  <c:v>15/09</c:v>
                </c:pt>
                <c:pt idx="11">
                  <c:v>16/09</c:v>
                </c:pt>
                <c:pt idx="12">
                  <c:v>17/09</c:v>
                </c:pt>
                <c:pt idx="13">
                  <c:v>18/09</c:v>
                </c:pt>
                <c:pt idx="14">
                  <c:v>19/09</c:v>
                </c:pt>
                <c:pt idx="15">
                  <c:v>20/09</c:v>
                </c:pt>
                <c:pt idx="16">
                  <c:v>21/09</c:v>
                </c:pt>
                <c:pt idx="17">
                  <c:v>22/09</c:v>
                </c:pt>
                <c:pt idx="18">
                  <c:v>23/09</c:v>
                </c:pt>
                <c:pt idx="19">
                  <c:v>24/09</c:v>
                </c:pt>
                <c:pt idx="20">
                  <c:v>25/09</c:v>
                </c:pt>
                <c:pt idx="21">
                  <c:v>26/09</c:v>
                </c:pt>
                <c:pt idx="22">
                  <c:v>27/09</c:v>
                </c:pt>
                <c:pt idx="23">
                  <c:v>28/09</c:v>
                </c:pt>
                <c:pt idx="24">
                  <c:v>29/09</c:v>
                </c:pt>
                <c:pt idx="25">
                  <c:v>30/09</c:v>
                </c:pt>
                <c:pt idx="26">
                  <c:v>01/10</c:v>
                </c:pt>
                <c:pt idx="27">
                  <c:v>02/10</c:v>
                </c:pt>
                <c:pt idx="28">
                  <c:v>03/10</c:v>
                </c:pt>
                <c:pt idx="29">
                  <c:v>04/10</c:v>
                </c:pt>
                <c:pt idx="30">
                  <c:v>05/10</c:v>
                </c:pt>
                <c:pt idx="31">
                  <c:v>06/10</c:v>
                </c:pt>
                <c:pt idx="32">
                  <c:v>07/10</c:v>
                </c:pt>
                <c:pt idx="33">
                  <c:v>08/10</c:v>
                </c:pt>
                <c:pt idx="34">
                  <c:v>09/10</c:v>
                </c:pt>
                <c:pt idx="35">
                  <c:v>10/10</c:v>
                </c:pt>
                <c:pt idx="36">
                  <c:v>11/10</c:v>
                </c:pt>
                <c:pt idx="37">
                  <c:v>12/10</c:v>
                </c:pt>
                <c:pt idx="38">
                  <c:v>13/10</c:v>
                </c:pt>
                <c:pt idx="39">
                  <c:v>14/10</c:v>
                </c:pt>
                <c:pt idx="40">
                  <c:v>15/10</c:v>
                </c:pt>
                <c:pt idx="41">
                  <c:v>16/10</c:v>
                </c:pt>
                <c:pt idx="42">
                  <c:v>17/10</c:v>
                </c:pt>
                <c:pt idx="43">
                  <c:v>18/10</c:v>
                </c:pt>
                <c:pt idx="44">
                  <c:v>19/10</c:v>
                </c:pt>
                <c:pt idx="45">
                  <c:v>20/10</c:v>
                </c:pt>
              </c:strCache>
            </c:strRef>
          </c:cat>
          <c:val>
            <c:numRef>
              <c:f>Sheet1!$C$2:$C$47</c:f>
              <c:numCache>
                <c:formatCode>General</c:formatCode>
                <c:ptCount val="46"/>
                <c:pt idx="0">
                  <c:v>92.0</c:v>
                </c:pt>
                <c:pt idx="1">
                  <c:v>85.0</c:v>
                </c:pt>
                <c:pt idx="2">
                  <c:v>87.4</c:v>
                </c:pt>
                <c:pt idx="3">
                  <c:v>86.1</c:v>
                </c:pt>
                <c:pt idx="4">
                  <c:v>86.7</c:v>
                </c:pt>
                <c:pt idx="5">
                  <c:v>88.7</c:v>
                </c:pt>
                <c:pt idx="6">
                  <c:v>90.4</c:v>
                </c:pt>
                <c:pt idx="7">
                  <c:v>90.9</c:v>
                </c:pt>
                <c:pt idx="8">
                  <c:v>99.0</c:v>
                </c:pt>
                <c:pt idx="9">
                  <c:v>99.2</c:v>
                </c:pt>
                <c:pt idx="10">
                  <c:v>94.7</c:v>
                </c:pt>
                <c:pt idx="11">
                  <c:v>96.5</c:v>
                </c:pt>
                <c:pt idx="12">
                  <c:v>93.0</c:v>
                </c:pt>
                <c:pt idx="13">
                  <c:v>88.9</c:v>
                </c:pt>
                <c:pt idx="14">
                  <c:v>86.9</c:v>
                </c:pt>
                <c:pt idx="15">
                  <c:v>85.5</c:v>
                </c:pt>
                <c:pt idx="16">
                  <c:v>88.5</c:v>
                </c:pt>
                <c:pt idx="17">
                  <c:v>95.7</c:v>
                </c:pt>
                <c:pt idx="18">
                  <c:v>94.5</c:v>
                </c:pt>
                <c:pt idx="19">
                  <c:v>97.6</c:v>
                </c:pt>
                <c:pt idx="20">
                  <c:v>99.6</c:v>
                </c:pt>
                <c:pt idx="21">
                  <c:v>98.6</c:v>
                </c:pt>
                <c:pt idx="22">
                  <c:v>101.3</c:v>
                </c:pt>
                <c:pt idx="23">
                  <c:v>102.2</c:v>
                </c:pt>
                <c:pt idx="24">
                  <c:v>99.8</c:v>
                </c:pt>
                <c:pt idx="25">
                  <c:v>100.3</c:v>
                </c:pt>
                <c:pt idx="26">
                  <c:v>97.6</c:v>
                </c:pt>
                <c:pt idx="27">
                  <c:v>95.9</c:v>
                </c:pt>
                <c:pt idx="28">
                  <c:v>100.0</c:v>
                </c:pt>
                <c:pt idx="29">
                  <c:v>97.0</c:v>
                </c:pt>
                <c:pt idx="30">
                  <c:v>94.7</c:v>
                </c:pt>
                <c:pt idx="31">
                  <c:v>95.8</c:v>
                </c:pt>
                <c:pt idx="32">
                  <c:v>95.5</c:v>
                </c:pt>
                <c:pt idx="33">
                  <c:v>97.3</c:v>
                </c:pt>
                <c:pt idx="34">
                  <c:v>98.7</c:v>
                </c:pt>
                <c:pt idx="35">
                  <c:v>97.0</c:v>
                </c:pt>
                <c:pt idx="36">
                  <c:v>97.6</c:v>
                </c:pt>
                <c:pt idx="37">
                  <c:v>98.6</c:v>
                </c:pt>
                <c:pt idx="38">
                  <c:v>97.3</c:v>
                </c:pt>
                <c:pt idx="39">
                  <c:v>98.5</c:v>
                </c:pt>
                <c:pt idx="40">
                  <c:v>96.9</c:v>
                </c:pt>
                <c:pt idx="41">
                  <c:v>97.5</c:v>
                </c:pt>
                <c:pt idx="42">
                  <c:v>95.9</c:v>
                </c:pt>
                <c:pt idx="43">
                  <c:v>96.6</c:v>
                </c:pt>
                <c:pt idx="44">
                  <c:v>96.7</c:v>
                </c:pt>
                <c:pt idx="45">
                  <c:v>101.0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chemeClr val="accent6"/>
            </a:solidFill>
          </a:ln>
        </c:spPr>
        <c:txPr>
          <a:bodyPr/>
          <a:lstStyle/>
          <a:p>
            <a:pPr>
              <a:defRPr sz="1100">
                <a:solidFill>
                  <a:schemeClr val="accent5"/>
                </a:solidFill>
                <a:latin typeface="+mn-lt"/>
              </a:defRPr>
            </a:pPr>
          </a:p>
        </c:txPr>
        <c:crossAx val="2140495176"/>
        <c:crosses val="autoZero"/>
        <c:auto val="1"/>
        <c:lblAlgn val="ctr"/>
        <c:lblOffset val="100"/>
        <c:tickLblSkip val="7"/>
        <c:noMultiLvlLbl val="0"/>
      </c:catAx>
      <c:valAx>
        <c:axId val="2140495176"/>
        <c:scaling>
          <c:min val="0.0"/>
        </c:scaling>
        <c:delete val="0"/>
        <c:axPos val="l"/>
        <c:majorGridlines>
          <c:spPr>
            <a:ln w="6350">
              <a:solidFill>
                <a:schemeClr val="accent6"/>
              </a:solidFill>
            </a:ln>
          </c:spPr>
        </c:majorGridlines>
        <c:numFmt formatCode="0" sourceLinked="0"/>
        <c:majorTickMark val="out"/>
        <c:minorTickMark val="none"/>
        <c:tickLblPos val="nextTo"/>
        <c:spPr>
          <a:ln>
            <a:noFill/>
          </a:ln>
        </c:spPr>
        <c:txPr>
          <a:bodyPr/>
          <a:lstStyle/>
          <a:p>
            <a:pPr>
              <a:defRPr sz="1100">
                <a:solidFill>
                  <a:schemeClr val="accent5"/>
                </a:solidFill>
                <a:latin typeface="+mn-lt"/>
              </a:defRPr>
            </a:pPr>
          </a:p>
        </c:txPr>
        <c:crossAx val="2118791784"/>
        <c:crosses val="autoZero"/>
      </c:valAx>
    </c:plotArea>
    <c:legend>
      <c:legendPos val="b"/>
      <c:layout/>
      <c:overlay val="0"/>
      <c:txPr>
        <a:bodyPr/>
        <a:lstStyle/>
        <a:p>
          <a:pPr>
            <a:defRPr sz="1200">
              <a:solidFill>
                <a:schemeClr val="accent5"/>
              </a:solidFill>
              <a:latin typeface="+mn-lt"/>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Maelys Marketplace Analytics : la plateforme data construite pour remplacer le reporting manuel d'une marketplace e-commerce. Trois temps : la problématique, la solution, puis une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contexte et le problème à résoudre.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Maelys est une marketplace française : 2 400 vendeurs, 8 500 commandes par jour, 4,2 millions d'euros de CA par mois. Elle vit d'une commission de 12 % sur chaque vente : la fiabilité des chiffres de vente est donc directement liée à son chiffre d'affaires.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tout est manuel. Un seul analyste passe deux jours par semaine à extraire les données du backoffice vers Excel : 40 % de son temps. Conséquences : des rapports en retard, des erreurs de copier-coller, et aucune détection des anomalies.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cahier des charges formalise sept user stories. Le CEO veut un dashboard hebdomadaire ; la Finance des commissions fiables pour sa clôture ; le responsable catalogue veut détecter les anomalies. S'y ajoutent deux besoins techniques : rejouer une date passée et être alerté en cas d'échec.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mission : construire en deux jours un MVP qui ingère, stocke, expose et détecte. Avec une règle non négociable : rejouer un traitement sur la même date doit donner exactement le même résultat. Le tout testé et reproductible avec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la solution mise en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suit le flux de la donnée. Airflow appelle l'API via un Hook maison, archive le JSON brut dans MinIO, le charge en staging puis dans le modèle dimensionnel. Metabase lit les tables d'agrégats. En parallèle, Prometheus et Grafana supervisent Airflow et la base. Le tout tient dans un docker-compose de 17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DWH est un schéma en étoile classique. Une table de faits au grain de la commande, entourée de quatre dimensions. Chaque dimension a un membre UNKNOWN : un client absent ne casse jamais les clés étrangères. Les agrégats précalculés vivent dans un schéma analytics séparé, c'est lui que lit Metabase.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DAG principal enchaîne : extraction depuis l'API vers MinIO, chargement en staging, contrôle qualité, puis transformation vers la table de faits. En parallèle, les référentiels alimentent les dimensions. Si le contrôle qualité échoue, on ne touche pas au DWH : une alerte part à la place. Point Airflow 3 : on utilise un data interval pour que le run du jour traite la veille 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L'idempotence était la règle d'or. Chaque partition est supprimée puis réinsérée dans une seule transaction. Preuve : trois exécutions du même jour donnent 1 011 lignes et la même empreinte MD5 du contenu. Un test pytest rejoue aussi la transformation sur la base et compare les empreintes.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DAGs d'agrégats et d'anomalies sont déclenchés par la mise à jour de la table de faits, via un Asset Airflow. Pendant le test de reproductibilité, Airflow a perdu deux événements : il manquait 278 515 euros dans les agrégats, et le test de réconciliation l'a détecté. J'ai donc changé de conception : les dates à recalculer sont déduites de l'état des données, grâce à une table refresh_log. Un événement perdu est désormais rattrapé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garde-fous. Un opérateur de qualité maison, avec trois règles configurables : si une règle échoue, on n'alimente pas le DWH. Un DAG de détection d'anomalies : chute du CA global ou par vendeur sous 70 % de la moyenne sur 7 jours, et prix suspects. Enfin des alertes envoyées sur un webhook, y compris quand un DAG échoue.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observabilité : Airflow envoie ses métriques StatsD, converties pour Prometheus, et un exporter supervise PostgreSQL. Grafana charge deux dashboards automatiquement. Remarque : l'ID 11010 indiqué dans le cahier des charges est en réalité un dashboard Kubernetes ; je l'ai remplacé par le dashboard Airflow 3, adapté à notre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se lance en quatre commandes depuis un clone neuf : générer le fichier d'environnement, démarrer la stack, vérifier, puis charger les données de démonstration. J'ai rejoué cette procédure après une remise à zéro complète : les résultats sont identiques au centime, puisque l'API est déterministe.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Premièrement, le test d'idempotence du formateur. Ensuite les dashboards : direction, finance, catalogue. Puis une panne simulée de l'API pour montrer l'alerte d'échec. Enfin la supervision Grafana et la suite de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L'Executive Summary répond aux deux premières user stories : le CA du dernier jour avec sa variation, le nombre de commandes, le panier moyen, la tendance sur 30 jours et le top 5 des vendeurs. Les indicateurs sont calculés sur le dernier jour chargé, pas sur la date système.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Finance dispose de la commission du mois, du CA non commissionné et du montant à facturer par vendeur : c'est sa clôture mensuelle. Le responsable catalogue voit la répartition du CA par catégorie et son évolution hebdomadaire.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les 50 jours chargés, la règle de l'analyste détecte exactement les deux journées de chute simulées par l'API : le 5 septembre à 62 % de la moyenne sur 7 jours, le 14 septembre à 47 %. Elle relève aussi 206 prix suspects, ce qui correspond au taux de défauts injecté volontairement dans l'API.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résumé : les sept user stories sont couvertes, le minimum obligatoire et tous les bonus du cahier des charges. 52 936 commandes chargées, un CA réconcilié au centime entre les faits et les agrégats, 44 tests automatisés, cinq dashboards et trois DAGs.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Quelques limites assumées, documentées dans le README. Et des pistes pour la suite : dbt pour les transformations, une CI qui lance les tests à chaque push, un historique SCD2 des vendeurs, et un passage au cloud avec un vrai gestionnaire de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Le dépôt contient le code, la documentation et la procédure de test complète. Je suis prêt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2880360"/>
            <a:ext cx="10698480" cy="822960"/>
          </a:xfrm>
          <a:prstGeom prst="rect">
            <a:avLst/>
          </a:prstGeom>
          <a:noFill/>
          <a:ln/>
        </p:spPr>
        <p:txBody>
          <a:bodyPr wrap="square" rtlCol="0"/>
          <a:lstStyle>
            <a:lvl1pPr indent="0" marL="0">
              <a:buNone/>
              <a:defRPr lang="en-US" sz="2400" dirty="0">
                <a:solidFill>
                  <a:schemeClr val="accent6"/>
                </a:solidFill>
              </a:defRPr>
            </a:lvl1pPr>
          </a:lstStyle>
          <a:p>
            <a:pPr indent="0" marL="0">
              <a:buNone/>
            </a:pPr>
            <a:endParaRPr lang="en-US" sz="2400" dirty="0"/>
          </a:p>
        </p:txBody>
      </p:sp>
      <p:sp>
        <p:nvSpPr>
          <p:cNvPr id="4" name="Text 0"/>
          <p:cNvSpPr/>
          <p:nvPr>
            <p:ph idx="102" type="body" hasCustomPrompt="1"/>
          </p:nvPr>
        </p:nvSpPr>
        <p:spPr>
          <a:xfrm>
            <a:off x="731520" y="5897880"/>
            <a:ext cx="10698480" cy="411480"/>
          </a:xfrm>
          <a:prstGeom prst="rect">
            <a:avLst/>
          </a:prstGeom>
          <a:noFill/>
          <a:ln/>
        </p:spPr>
        <p:txBody>
          <a:bodyPr wrap="square" rtlCol="0"/>
          <a:lstStyle>
            <a:lvl1pPr indent="0" marL="0">
              <a:buNone/>
              <a:defRPr lang="en-US" sz="1400" dirty="0">
                <a:solidFill>
                  <a:schemeClr val="accent6"/>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3657600" cy="1371600"/>
          </a:xfrm>
          <a:prstGeom prst="rect">
            <a:avLst/>
          </a:prstGeom>
          <a:noFill/>
          <a:ln/>
        </p:spPr>
        <p:txBody>
          <a:bodyPr wrap="square" rtlCol="0"/>
          <a:lstStyle>
            <a:lvl1pPr indent="0" marL="0">
              <a:buNone/>
              <a:defRPr lang="en-US" sz="8800" b="1" dirty="0">
                <a:solidFill>
                  <a:schemeClr val="accent1"/>
                </a:solidFill>
              </a:defRPr>
            </a:lvl1pPr>
          </a:lstStyle>
          <a:p>
            <a:pPr indent="0" marL="0">
              <a:buNone/>
            </a:pPr>
            <a:endParaRPr lang="en-US" sz="8800" dirty="0"/>
          </a:p>
        </p:txBody>
      </p:sp>
      <p:sp>
        <p:nvSpPr>
          <p:cNvPr id="3" name="Text 0"/>
          <p:cNvSpPr/>
          <p:nvPr>
            <p:ph idx="101" type="title" hasCustomPrompt="1"/>
          </p:nvPr>
        </p:nvSpPr>
        <p:spPr>
          <a:xfrm>
            <a:off x="731520" y="2880360"/>
            <a:ext cx="749808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731520" y="3931920"/>
            <a:ext cx="749808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Maelys Marketplace Analytics · Projet final Data Lake et Data Warehouse</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lIns="0" tIns="0" rIns="0" bIns="0" rtlCol="0" anchor="b"/>
          <a:lstStyle/>
          <a:p>
            <a:pPr algn="l" indent="0" marL="0">
              <a:buNone/>
            </a:pPr>
            <a:r>
              <a:rPr lang="en-US" sz="4800" b="1" dirty="0">
                <a:solidFill>
                  <a:schemeClr val="bg1"/>
                </a:solidFill>
              </a:rPr>
              <a:t>Maelys Marketplace Analytics</a:t>
            </a:r>
            <a:endParaRPr lang="en-US" sz="4800" dirty="0"/>
          </a:p>
        </p:txBody>
      </p:sp>
      <p:sp>
        <p:nvSpPr>
          <p:cNvPr id="3" name="Text 0"/>
          <p:cNvSpPr/>
          <p:nvPr>
            <p:ph idx="101" type="body" hasCustomPrompt="1"/>
          </p:nvPr>
        </p:nvSpPr>
        <p:spPr>
          <a:xfrm>
            <a:off x="731520" y="2880360"/>
            <a:ext cx="10698480" cy="822960"/>
          </a:xfrm>
          <a:prstGeom prst="rect">
            <a:avLst/>
          </a:prstGeom>
          <a:noFill/>
          <a:ln/>
        </p:spPr>
        <p:txBody>
          <a:bodyPr wrap="square" lIns="0" tIns="0" rIns="0" bIns="0" rtlCol="0" anchor="t"/>
          <a:lstStyle/>
          <a:p>
            <a:pPr indent="0" marL="0">
              <a:buNone/>
            </a:pPr>
            <a:r>
              <a:rPr lang="en-US" sz="2400" dirty="0">
                <a:solidFill>
                  <a:schemeClr val="accent6"/>
                </a:solidFill>
              </a:rPr>
              <a:t>Du copier-coller Excel à une plateforme data automatisée</a:t>
            </a:r>
            <a:endParaRPr lang="en-US" sz="2400" dirty="0"/>
          </a:p>
        </p:txBody>
      </p:sp>
      <p:sp>
        <p:nvSpPr>
          <p:cNvPr id="4" name="Text 0"/>
          <p:cNvSpPr/>
          <p:nvPr>
            <p:ph idx="102" type="body" hasCustomPrompt="1"/>
          </p:nvPr>
        </p:nvSpPr>
        <p:spPr>
          <a:xfrm>
            <a:off x="731520" y="5897880"/>
            <a:ext cx="10698480" cy="411480"/>
          </a:xfrm>
          <a:prstGeom prst="rect">
            <a:avLst/>
          </a:prstGeom>
          <a:noFill/>
          <a:ln/>
        </p:spPr>
        <p:txBody>
          <a:bodyPr wrap="square" lIns="0" tIns="0" rIns="0" bIns="0" rtlCol="0" anchor="t"/>
          <a:lstStyle/>
          <a:p>
            <a:pPr indent="0" marL="0">
              <a:buNone/>
            </a:pPr>
            <a:r>
              <a:rPr lang="en-US" sz="1400" dirty="0">
                <a:solidFill>
                  <a:schemeClr val="accent6"/>
                </a:solidFill>
              </a:rPr>
              <a:t>Projet final · Data Lake et Data Warehouse · Octobre 2026</a:t>
            </a:r>
            <a:endParaRPr lang="en-US" sz="1400" dirty="0"/>
          </a:p>
        </p:txBody>
      </p:sp>
      <p:sp>
        <p:nvSpPr>
          <p:cNvPr id="5" name="puce-Airflow 3.1"/>
          <p:cNvSpPr/>
          <p:nvPr/>
        </p:nvSpPr>
        <p:spPr>
          <a:xfrm>
            <a:off x="731520" y="4160520"/>
            <a:ext cx="1568196" cy="457200"/>
          </a:xfrm>
          <a:prstGeom prst="roundRect">
            <a:avLst>
              <a:gd name="adj" fmla="val 50000"/>
            </a:avLst>
          </a:prstGeom>
          <a:solidFill>
            <a:schemeClr val="accent4"/>
          </a:solidFill>
          <a:ln/>
        </p:spPr>
      </p:sp>
      <p:sp>
        <p:nvSpPr>
          <p:cNvPr id="6" name="puce-texte-Airflow 3.1"/>
          <p:cNvSpPr txBox="1"/>
          <p:nvPr/>
        </p:nvSpPr>
        <p:spPr>
          <a:xfrm>
            <a:off x="731520" y="4160520"/>
            <a:ext cx="1568196" cy="457200"/>
          </a:xfrm>
          <a:prstGeom prst="rect">
            <a:avLst/>
          </a:prstGeom>
          <a:noFill/>
          <a:ln/>
        </p:spPr>
        <p:txBody>
          <a:bodyPr wrap="square" lIns="0" tIns="0" rIns="0" bIns="0" rtlCol="0" anchor="ctr"/>
          <a:lstStyle/>
          <a:p>
            <a:pPr algn="ctr" indent="0" marL="0">
              <a:buNone/>
            </a:pPr>
            <a:r>
              <a:rPr lang="en-US" sz="1500" dirty="0">
                <a:solidFill>
                  <a:schemeClr val="bg1"/>
                </a:solidFill>
              </a:rPr>
              <a:t>Airflow 3.1</a:t>
            </a:r>
            <a:endParaRPr lang="en-US" sz="1500" dirty="0"/>
          </a:p>
        </p:txBody>
      </p:sp>
      <p:sp>
        <p:nvSpPr>
          <p:cNvPr id="7" name="puce-MinIO"/>
          <p:cNvSpPr/>
          <p:nvPr/>
        </p:nvSpPr>
        <p:spPr>
          <a:xfrm>
            <a:off x="2482596" y="4160520"/>
            <a:ext cx="937260" cy="457200"/>
          </a:xfrm>
          <a:prstGeom prst="roundRect">
            <a:avLst>
              <a:gd name="adj" fmla="val 50000"/>
            </a:avLst>
          </a:prstGeom>
          <a:solidFill>
            <a:schemeClr val="accent4"/>
          </a:solidFill>
          <a:ln/>
        </p:spPr>
      </p:sp>
      <p:sp>
        <p:nvSpPr>
          <p:cNvPr id="8" name="puce-texte-MinIO"/>
          <p:cNvSpPr txBox="1"/>
          <p:nvPr/>
        </p:nvSpPr>
        <p:spPr>
          <a:xfrm>
            <a:off x="2482596" y="4160520"/>
            <a:ext cx="937260" cy="457200"/>
          </a:xfrm>
          <a:prstGeom prst="rect">
            <a:avLst/>
          </a:prstGeom>
          <a:noFill/>
          <a:ln/>
        </p:spPr>
        <p:txBody>
          <a:bodyPr wrap="square" lIns="0" tIns="0" rIns="0" bIns="0" rtlCol="0" anchor="ctr"/>
          <a:lstStyle/>
          <a:p>
            <a:pPr algn="ctr" indent="0" marL="0">
              <a:buNone/>
            </a:pPr>
            <a:r>
              <a:rPr lang="en-US" sz="1500" dirty="0">
                <a:solidFill>
                  <a:schemeClr val="bg1"/>
                </a:solidFill>
              </a:rPr>
              <a:t>MinIO</a:t>
            </a:r>
            <a:endParaRPr lang="en-US" sz="1500" dirty="0"/>
          </a:p>
        </p:txBody>
      </p:sp>
      <p:sp>
        <p:nvSpPr>
          <p:cNvPr id="9" name="puce-PostgreSQL 18"/>
          <p:cNvSpPr/>
          <p:nvPr/>
        </p:nvSpPr>
        <p:spPr>
          <a:xfrm>
            <a:off x="3602736" y="4160520"/>
            <a:ext cx="1778508" cy="457200"/>
          </a:xfrm>
          <a:prstGeom prst="roundRect">
            <a:avLst>
              <a:gd name="adj" fmla="val 50000"/>
            </a:avLst>
          </a:prstGeom>
          <a:solidFill>
            <a:schemeClr val="accent4"/>
          </a:solidFill>
          <a:ln/>
        </p:spPr>
      </p:sp>
      <p:sp>
        <p:nvSpPr>
          <p:cNvPr id="10" name="puce-texte-PostgreSQL 18"/>
          <p:cNvSpPr txBox="1"/>
          <p:nvPr/>
        </p:nvSpPr>
        <p:spPr>
          <a:xfrm>
            <a:off x="3602736" y="4160520"/>
            <a:ext cx="1778508" cy="457200"/>
          </a:xfrm>
          <a:prstGeom prst="rect">
            <a:avLst/>
          </a:prstGeom>
          <a:noFill/>
          <a:ln/>
        </p:spPr>
        <p:txBody>
          <a:bodyPr wrap="square" lIns="0" tIns="0" rIns="0" bIns="0" rtlCol="0" anchor="ctr"/>
          <a:lstStyle/>
          <a:p>
            <a:pPr algn="ctr" indent="0" marL="0">
              <a:buNone/>
            </a:pPr>
            <a:r>
              <a:rPr lang="en-US" sz="1500" dirty="0">
                <a:solidFill>
                  <a:schemeClr val="bg1"/>
                </a:solidFill>
              </a:rPr>
              <a:t>PostgreSQL 18</a:t>
            </a:r>
            <a:endParaRPr lang="en-US" sz="1500" dirty="0"/>
          </a:p>
        </p:txBody>
      </p:sp>
      <p:sp>
        <p:nvSpPr>
          <p:cNvPr id="11" name="puce-Metabase"/>
          <p:cNvSpPr/>
          <p:nvPr/>
        </p:nvSpPr>
        <p:spPr>
          <a:xfrm>
            <a:off x="5564124" y="4160520"/>
            <a:ext cx="1252728" cy="457200"/>
          </a:xfrm>
          <a:prstGeom prst="roundRect">
            <a:avLst>
              <a:gd name="adj" fmla="val 50000"/>
            </a:avLst>
          </a:prstGeom>
          <a:solidFill>
            <a:schemeClr val="accent4"/>
          </a:solidFill>
          <a:ln/>
        </p:spPr>
      </p:sp>
      <p:sp>
        <p:nvSpPr>
          <p:cNvPr id="12" name="puce-texte-Metabase"/>
          <p:cNvSpPr txBox="1"/>
          <p:nvPr/>
        </p:nvSpPr>
        <p:spPr>
          <a:xfrm>
            <a:off x="5564124" y="4160520"/>
            <a:ext cx="1252728" cy="457200"/>
          </a:xfrm>
          <a:prstGeom prst="rect">
            <a:avLst/>
          </a:prstGeom>
          <a:noFill/>
          <a:ln/>
        </p:spPr>
        <p:txBody>
          <a:bodyPr wrap="square" lIns="0" tIns="0" rIns="0" bIns="0" rtlCol="0" anchor="ctr"/>
          <a:lstStyle/>
          <a:p>
            <a:pPr algn="ctr" indent="0" marL="0">
              <a:buNone/>
            </a:pPr>
            <a:r>
              <a:rPr lang="en-US" sz="1500" dirty="0">
                <a:solidFill>
                  <a:schemeClr val="bg1"/>
                </a:solidFill>
              </a:rPr>
              <a:t>Metabase</a:t>
            </a:r>
            <a:endParaRPr lang="en-US" sz="1500" dirty="0"/>
          </a:p>
        </p:txBody>
      </p:sp>
      <p:sp>
        <p:nvSpPr>
          <p:cNvPr id="13" name="puce-Prometheus"/>
          <p:cNvSpPr/>
          <p:nvPr/>
        </p:nvSpPr>
        <p:spPr>
          <a:xfrm>
            <a:off x="6999732" y="4160520"/>
            <a:ext cx="1463040" cy="457200"/>
          </a:xfrm>
          <a:prstGeom prst="roundRect">
            <a:avLst>
              <a:gd name="adj" fmla="val 50000"/>
            </a:avLst>
          </a:prstGeom>
          <a:solidFill>
            <a:schemeClr val="accent4"/>
          </a:solidFill>
          <a:ln/>
        </p:spPr>
      </p:sp>
      <p:sp>
        <p:nvSpPr>
          <p:cNvPr id="14" name="puce-texte-Prometheus"/>
          <p:cNvSpPr txBox="1"/>
          <p:nvPr/>
        </p:nvSpPr>
        <p:spPr>
          <a:xfrm>
            <a:off x="6999732" y="4160520"/>
            <a:ext cx="1463040" cy="457200"/>
          </a:xfrm>
          <a:prstGeom prst="rect">
            <a:avLst/>
          </a:prstGeom>
          <a:noFill/>
          <a:ln/>
        </p:spPr>
        <p:txBody>
          <a:bodyPr wrap="square" lIns="0" tIns="0" rIns="0" bIns="0" rtlCol="0" anchor="ctr"/>
          <a:lstStyle/>
          <a:p>
            <a:pPr algn="ctr" indent="0" marL="0">
              <a:buNone/>
            </a:pPr>
            <a:r>
              <a:rPr lang="en-US" sz="1500" dirty="0">
                <a:solidFill>
                  <a:schemeClr val="bg1"/>
                </a:solidFill>
              </a:rPr>
              <a:t>Prometheus</a:t>
            </a:r>
            <a:endParaRPr lang="en-US" sz="1500" dirty="0"/>
          </a:p>
        </p:txBody>
      </p:sp>
      <p:sp>
        <p:nvSpPr>
          <p:cNvPr id="15" name="puce-Grafana"/>
          <p:cNvSpPr/>
          <p:nvPr/>
        </p:nvSpPr>
        <p:spPr>
          <a:xfrm>
            <a:off x="8645652" y="4160520"/>
            <a:ext cx="1147572" cy="457200"/>
          </a:xfrm>
          <a:prstGeom prst="roundRect">
            <a:avLst>
              <a:gd name="adj" fmla="val 50000"/>
            </a:avLst>
          </a:prstGeom>
          <a:solidFill>
            <a:schemeClr val="accent4"/>
          </a:solidFill>
          <a:ln/>
        </p:spPr>
      </p:sp>
      <p:sp>
        <p:nvSpPr>
          <p:cNvPr id="16" name="puce-texte-Grafana"/>
          <p:cNvSpPr txBox="1"/>
          <p:nvPr/>
        </p:nvSpPr>
        <p:spPr>
          <a:xfrm>
            <a:off x="8645652" y="4160520"/>
            <a:ext cx="1147572" cy="457200"/>
          </a:xfrm>
          <a:prstGeom prst="rect">
            <a:avLst/>
          </a:prstGeom>
          <a:noFill/>
          <a:ln/>
        </p:spPr>
        <p:txBody>
          <a:bodyPr wrap="square" lIns="0" tIns="0" rIns="0" bIns="0" rtlCol="0" anchor="ctr"/>
          <a:lstStyle/>
          <a:p>
            <a:pPr algn="ctr" indent="0" marL="0">
              <a:buNone/>
            </a:pPr>
            <a:r>
              <a:rPr lang="en-US" sz="1500" dirty="0">
                <a:solidFill>
                  <a:schemeClr val="bg1"/>
                </a:solidFill>
              </a:rPr>
              <a:t>Grafana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3657600" cy="1371600"/>
          </a:xfrm>
          <a:prstGeom prst="rect">
            <a:avLst/>
          </a:prstGeom>
          <a:noFill/>
          <a:ln/>
        </p:spPr>
        <p:txBody>
          <a:bodyPr wrap="square" lIns="0" tIns="0" rIns="0" bIns="0" rtlCol="0" anchor="b"/>
          <a:lstStyle/>
          <a:p>
            <a:pPr indent="0" marL="0">
              <a:buNone/>
            </a:pPr>
            <a:r>
              <a:rPr lang="en-US" sz="8800" b="1" dirty="0">
                <a:solidFill>
                  <a:schemeClr val="accent1"/>
                </a:solidFill>
              </a:rPr>
              <a:t>01</a:t>
            </a:r>
            <a:endParaRPr lang="en-US" sz="8800" dirty="0"/>
          </a:p>
        </p:txBody>
      </p:sp>
      <p:sp>
        <p:nvSpPr>
          <p:cNvPr id="3" name="Text 0"/>
          <p:cNvSpPr/>
          <p:nvPr>
            <p:ph idx="101" type="title" hasCustomPrompt="1"/>
          </p:nvPr>
        </p:nvSpPr>
        <p:spPr>
          <a:xfrm>
            <a:off x="731520" y="2880360"/>
            <a:ext cx="7498080" cy="914400"/>
          </a:xfrm>
          <a:prstGeom prst="rect">
            <a:avLst/>
          </a:prstGeom>
          <a:noFill/>
          <a:ln/>
        </p:spPr>
        <p:txBody>
          <a:bodyPr wrap="square" lIns="0" tIns="0" rIns="0" bIns="0" rtlCol="0" anchor="t"/>
          <a:lstStyle/>
          <a:p>
            <a:pPr algn="l" indent="0" marL="0">
              <a:buNone/>
            </a:pPr>
            <a:r>
              <a:rPr lang="en-US" sz="4800" b="1" dirty="0">
                <a:solidFill>
                  <a:schemeClr val="bg1"/>
                </a:solidFill>
              </a:rPr>
              <a:t>Problématique</a:t>
            </a:r>
            <a:endParaRPr lang="en-US" sz="4800" dirty="0"/>
          </a:p>
        </p:txBody>
      </p:sp>
      <p:sp>
        <p:nvSpPr>
          <p:cNvPr id="4" name="Text 0"/>
          <p:cNvSpPr/>
          <p:nvPr>
            <p:ph idx="102" type="body" hasCustomPrompt="1"/>
          </p:nvPr>
        </p:nvSpPr>
        <p:spPr>
          <a:xfrm>
            <a:off x="731520" y="3931920"/>
            <a:ext cx="7498080" cy="1097280"/>
          </a:xfrm>
          <a:prstGeom prst="rect">
            <a:avLst/>
          </a:prstGeom>
          <a:noFill/>
          <a:ln/>
        </p:spPr>
        <p:txBody>
          <a:bodyPr wrap="square" lIns="0" tIns="0" rIns="0" bIns="0" rtlCol="0" anchor="t"/>
          <a:lstStyle/>
          <a:p>
            <a:pPr indent="0" marL="0">
              <a:buNone/>
            </a:pPr>
            <a:r>
              <a:rPr lang="en-US" sz="2000" dirty="0">
                <a:solidFill>
                  <a:schemeClr val="accent6"/>
                </a:solidFill>
              </a:rPr>
              <a:t>Une marketplace qui grandit plus vite que ses outils de pilotage</a:t>
            </a:r>
            <a:endParaRPr lang="en-US" sz="2000" dirty="0"/>
          </a:p>
        </p:txBody>
      </p:sp>
      <p:sp>
        <p:nvSpPr>
          <p:cNvPr id="5" name="icone-section-cercle"/>
          <p:cNvSpPr/>
          <p:nvPr/>
        </p:nvSpPr>
        <p:spPr>
          <a:xfrm>
            <a:off x="8778240" y="1828800"/>
            <a:ext cx="2651760" cy="2651760"/>
          </a:xfrm>
          <a:prstGeom prst="ellipse">
            <a:avLst/>
          </a:prstGeom>
          <a:solidFill>
            <a:schemeClr val="accent4"/>
          </a:solidFill>
          <a:ln/>
        </p:spPr>
      </p:sp>
      <p:pic>
        <p:nvPicPr>
          <p:cNvPr id="6" name="icone-section" descr="preencoded.png">    </p:cNvPr>
          <p:cNvPicPr>
            <a:picLocks noChangeAspect="1"/>
          </p:cNvPicPr>
          <p:nvPr/>
        </p:nvPicPr>
        <p:blipFill>
          <a:blip r:embed="rId1"/>
          <a:stretch>
            <a:fillRect/>
          </a:stretch>
        </p:blipFill>
        <p:spPr>
          <a:xfrm>
            <a:off x="9414662" y="2465222"/>
            <a:ext cx="1378915" cy="13789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LE CONTEXTE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Une marketplace en forte croissance</a:t>
            </a:r>
            <a:endParaRPr lang="en-US" sz="3600" dirty="0"/>
          </a:p>
        </p:txBody>
      </p:sp>
      <p:sp>
        <p:nvSpPr>
          <p:cNvPr id="4" name="carte-stat-0"/>
          <p:cNvSpPr/>
          <p:nvPr/>
        </p:nvSpPr>
        <p:spPr>
          <a:xfrm>
            <a:off x="548640" y="1691640"/>
            <a:ext cx="2606040" cy="3840480"/>
          </a:xfrm>
          <a:prstGeom prst="roundRect">
            <a:avLst>
              <a:gd name="adj" fmla="val 4211"/>
            </a:avLst>
          </a:prstGeom>
          <a:solidFill>
            <a:schemeClr val="bg2"/>
          </a:solidFill>
          <a:ln/>
        </p:spPr>
      </p:sp>
      <p:sp>
        <p:nvSpPr>
          <p:cNvPr id="5" name="icone-stat-0-cercle"/>
          <p:cNvSpPr/>
          <p:nvPr/>
        </p:nvSpPr>
        <p:spPr>
          <a:xfrm>
            <a:off x="868680" y="2011680"/>
            <a:ext cx="777240" cy="777240"/>
          </a:xfrm>
          <a:prstGeom prst="ellipse">
            <a:avLst/>
          </a:prstGeom>
          <a:solidFill>
            <a:schemeClr val="accent4"/>
          </a:solidFill>
          <a:ln/>
        </p:spPr>
      </p:sp>
      <p:pic>
        <p:nvPicPr>
          <p:cNvPr id="6" name="icone-stat-0" descr="preencoded.png">    </p:cNvPr>
          <p:cNvPicPr>
            <a:picLocks noChangeAspect="1"/>
          </p:cNvPicPr>
          <p:nvPr/>
        </p:nvPicPr>
        <p:blipFill>
          <a:blip r:embed="rId1"/>
          <a:stretch>
            <a:fillRect/>
          </a:stretch>
        </p:blipFill>
        <p:spPr>
          <a:xfrm>
            <a:off x="1055218" y="2198218"/>
            <a:ext cx="404165" cy="404165"/>
          </a:xfrm>
          <a:prstGeom prst="rect">
            <a:avLst/>
          </a:prstGeom>
        </p:spPr>
      </p:pic>
      <p:sp>
        <p:nvSpPr>
          <p:cNvPr id="7" name="stat-0"/>
          <p:cNvSpPr txBox="1"/>
          <p:nvPr/>
        </p:nvSpPr>
        <p:spPr>
          <a:xfrm>
            <a:off x="868680" y="3017520"/>
            <a:ext cx="2148840" cy="868680"/>
          </a:xfrm>
          <a:prstGeom prst="rect">
            <a:avLst/>
          </a:prstGeom>
          <a:noFill/>
          <a:ln/>
        </p:spPr>
        <p:txBody>
          <a:bodyPr wrap="square" lIns="0" tIns="0" rIns="0" bIns="0" rtlCol="0" anchor="t"/>
          <a:lstStyle/>
          <a:p>
            <a:pPr indent="0" marL="0">
              <a:buNone/>
            </a:pPr>
            <a:r>
              <a:rPr lang="en-US" sz="4600" b="1" dirty="0">
                <a:solidFill>
                  <a:schemeClr val="tx2"/>
                </a:solidFill>
                <a:latin typeface="Cambria" pitchFamily="34" charset="0"/>
                <a:ea typeface="Cambria" pitchFamily="34" charset="-122"/>
                <a:cs typeface="Cambria" pitchFamily="34" charset="-120"/>
              </a:rPr>
              <a:t>2 400</a:t>
            </a:r>
            <a:endParaRPr lang="en-US" sz="4600" dirty="0"/>
          </a:p>
        </p:txBody>
      </p:sp>
      <p:sp>
        <p:nvSpPr>
          <p:cNvPr id="8" name="stat-label-0"/>
          <p:cNvSpPr txBox="1"/>
          <p:nvPr/>
        </p:nvSpPr>
        <p:spPr>
          <a:xfrm>
            <a:off x="868680" y="3931920"/>
            <a:ext cx="2148840" cy="411480"/>
          </a:xfrm>
          <a:prstGeom prst="rect">
            <a:avLst/>
          </a:prstGeom>
          <a:noFill/>
          <a:ln/>
        </p:spPr>
        <p:txBody>
          <a:bodyPr wrap="square" lIns="0" tIns="0" rIns="0" bIns="0" rtlCol="0" anchor="t"/>
          <a:lstStyle/>
          <a:p>
            <a:pPr indent="0" marL="0">
              <a:buNone/>
            </a:pPr>
            <a:r>
              <a:rPr lang="en-US" sz="1800" b="1" dirty="0">
                <a:solidFill>
                  <a:schemeClr val="tx1"/>
                </a:solidFill>
              </a:rPr>
              <a:t>vendeurs actifs</a:t>
            </a:r>
            <a:endParaRPr lang="en-US" sz="1800" dirty="0"/>
          </a:p>
        </p:txBody>
      </p:sp>
      <p:sp>
        <p:nvSpPr>
          <p:cNvPr id="9" name="stat-sub-0"/>
          <p:cNvSpPr txBox="1"/>
          <p:nvPr/>
        </p:nvSpPr>
        <p:spPr>
          <a:xfrm>
            <a:off x="868680" y="4389120"/>
            <a:ext cx="2148840" cy="731520"/>
          </a:xfrm>
          <a:prstGeom prst="rect">
            <a:avLst/>
          </a:prstGeom>
          <a:noFill/>
          <a:ln/>
        </p:spPr>
        <p:txBody>
          <a:bodyPr wrap="square" lIns="0" tIns="0" rIns="0" bIns="0" rtlCol="0" anchor="t"/>
          <a:lstStyle/>
          <a:p>
            <a:pPr indent="0" marL="0">
              <a:buNone/>
            </a:pPr>
            <a:r>
              <a:rPr lang="en-US" sz="1400" dirty="0">
                <a:solidFill>
                  <a:schemeClr val="accent5"/>
                </a:solidFill>
              </a:rPr>
              <a:t>artisans, DNVB, revendeurs</a:t>
            </a:r>
            <a:endParaRPr lang="en-US" sz="1400" dirty="0"/>
          </a:p>
        </p:txBody>
      </p:sp>
      <p:sp>
        <p:nvSpPr>
          <p:cNvPr id="10" name="carte-stat-1"/>
          <p:cNvSpPr/>
          <p:nvPr/>
        </p:nvSpPr>
        <p:spPr>
          <a:xfrm>
            <a:off x="3367735" y="1691640"/>
            <a:ext cx="2606040" cy="3840480"/>
          </a:xfrm>
          <a:prstGeom prst="roundRect">
            <a:avLst>
              <a:gd name="adj" fmla="val 4211"/>
            </a:avLst>
          </a:prstGeom>
          <a:solidFill>
            <a:schemeClr val="bg2"/>
          </a:solidFill>
          <a:ln/>
        </p:spPr>
      </p:sp>
      <p:sp>
        <p:nvSpPr>
          <p:cNvPr id="11" name="icone-stat-1-cercle"/>
          <p:cNvSpPr/>
          <p:nvPr/>
        </p:nvSpPr>
        <p:spPr>
          <a:xfrm>
            <a:off x="3687775" y="2011680"/>
            <a:ext cx="777240" cy="777240"/>
          </a:xfrm>
          <a:prstGeom prst="ellipse">
            <a:avLst/>
          </a:prstGeom>
          <a:solidFill>
            <a:schemeClr val="accent2"/>
          </a:solidFill>
          <a:ln/>
        </p:spPr>
      </p:sp>
      <p:pic>
        <p:nvPicPr>
          <p:cNvPr id="12" name="icone-stat-1" descr="preencoded.png">    </p:cNvPr>
          <p:cNvPicPr>
            <a:picLocks noChangeAspect="1"/>
          </p:cNvPicPr>
          <p:nvPr/>
        </p:nvPicPr>
        <p:blipFill>
          <a:blip r:embed="rId2"/>
          <a:stretch>
            <a:fillRect/>
          </a:stretch>
        </p:blipFill>
        <p:spPr>
          <a:xfrm>
            <a:off x="3874313" y="2198218"/>
            <a:ext cx="404165" cy="404165"/>
          </a:xfrm>
          <a:prstGeom prst="rect">
            <a:avLst/>
          </a:prstGeom>
        </p:spPr>
      </p:pic>
      <p:sp>
        <p:nvSpPr>
          <p:cNvPr id="13" name="stat-1"/>
          <p:cNvSpPr txBox="1"/>
          <p:nvPr/>
        </p:nvSpPr>
        <p:spPr>
          <a:xfrm>
            <a:off x="3687775" y="3017520"/>
            <a:ext cx="2148840" cy="868680"/>
          </a:xfrm>
          <a:prstGeom prst="rect">
            <a:avLst/>
          </a:prstGeom>
          <a:noFill/>
          <a:ln/>
        </p:spPr>
        <p:txBody>
          <a:bodyPr wrap="square" lIns="0" tIns="0" rIns="0" bIns="0" rtlCol="0" anchor="t"/>
          <a:lstStyle/>
          <a:p>
            <a:pPr indent="0" marL="0">
              <a:buNone/>
            </a:pPr>
            <a:r>
              <a:rPr lang="en-US" sz="4600" b="1" dirty="0">
                <a:solidFill>
                  <a:schemeClr val="tx2"/>
                </a:solidFill>
                <a:latin typeface="Cambria" pitchFamily="34" charset="0"/>
                <a:ea typeface="Cambria" pitchFamily="34" charset="-122"/>
                <a:cs typeface="Cambria" pitchFamily="34" charset="-120"/>
              </a:rPr>
              <a:t>8 500</a:t>
            </a:r>
            <a:endParaRPr lang="en-US" sz="4600" dirty="0"/>
          </a:p>
        </p:txBody>
      </p:sp>
      <p:sp>
        <p:nvSpPr>
          <p:cNvPr id="14" name="stat-label-1"/>
          <p:cNvSpPr txBox="1"/>
          <p:nvPr/>
        </p:nvSpPr>
        <p:spPr>
          <a:xfrm>
            <a:off x="3687775" y="3931920"/>
            <a:ext cx="2148840" cy="411480"/>
          </a:xfrm>
          <a:prstGeom prst="rect">
            <a:avLst/>
          </a:prstGeom>
          <a:noFill/>
          <a:ln/>
        </p:spPr>
        <p:txBody>
          <a:bodyPr wrap="square" lIns="0" tIns="0" rIns="0" bIns="0" rtlCol="0" anchor="t"/>
          <a:lstStyle/>
          <a:p>
            <a:pPr indent="0" marL="0">
              <a:buNone/>
            </a:pPr>
            <a:r>
              <a:rPr lang="en-US" sz="1800" b="1" dirty="0">
                <a:solidFill>
                  <a:schemeClr val="tx1"/>
                </a:solidFill>
              </a:rPr>
              <a:t>commandes par jour</a:t>
            </a:r>
            <a:endParaRPr lang="en-US" sz="1800" dirty="0"/>
          </a:p>
        </p:txBody>
      </p:sp>
      <p:sp>
        <p:nvSpPr>
          <p:cNvPr id="15" name="stat-sub-1"/>
          <p:cNvSpPr txBox="1"/>
          <p:nvPr/>
        </p:nvSpPr>
        <p:spPr>
          <a:xfrm>
            <a:off x="3687775" y="4389120"/>
            <a:ext cx="2148840" cy="731520"/>
          </a:xfrm>
          <a:prstGeom prst="rect">
            <a:avLst/>
          </a:prstGeom>
          <a:noFill/>
          <a:ln/>
        </p:spPr>
        <p:txBody>
          <a:bodyPr wrap="square" lIns="0" tIns="0" rIns="0" bIns="0" rtlCol="0" anchor="t"/>
          <a:lstStyle/>
          <a:p>
            <a:pPr indent="0" marL="0">
              <a:buNone/>
            </a:pPr>
            <a:r>
              <a:rPr lang="en-US" sz="1400" dirty="0">
                <a:solidFill>
                  <a:schemeClr val="accent5"/>
                </a:solidFill>
              </a:rPr>
              <a:t>180 000 produits au catalogue</a:t>
            </a:r>
            <a:endParaRPr lang="en-US" sz="1400" dirty="0"/>
          </a:p>
        </p:txBody>
      </p:sp>
      <p:sp>
        <p:nvSpPr>
          <p:cNvPr id="16" name="carte-stat-2"/>
          <p:cNvSpPr/>
          <p:nvPr/>
        </p:nvSpPr>
        <p:spPr>
          <a:xfrm>
            <a:off x="6186830" y="1691640"/>
            <a:ext cx="2606040" cy="3840480"/>
          </a:xfrm>
          <a:prstGeom prst="roundRect">
            <a:avLst>
              <a:gd name="adj" fmla="val 4211"/>
            </a:avLst>
          </a:prstGeom>
          <a:solidFill>
            <a:schemeClr val="bg2"/>
          </a:solidFill>
          <a:ln/>
        </p:spPr>
      </p:sp>
      <p:sp>
        <p:nvSpPr>
          <p:cNvPr id="17" name="icone-stat-2-cercle"/>
          <p:cNvSpPr/>
          <p:nvPr/>
        </p:nvSpPr>
        <p:spPr>
          <a:xfrm>
            <a:off x="6506870" y="2011680"/>
            <a:ext cx="777240" cy="777240"/>
          </a:xfrm>
          <a:prstGeom prst="ellipse">
            <a:avLst/>
          </a:prstGeom>
          <a:solidFill>
            <a:schemeClr val="accent3"/>
          </a:solidFill>
          <a:ln/>
        </p:spPr>
      </p:sp>
      <p:pic>
        <p:nvPicPr>
          <p:cNvPr id="18" name="icone-stat-2" descr="preencoded.png">    </p:cNvPr>
          <p:cNvPicPr>
            <a:picLocks noChangeAspect="1"/>
          </p:cNvPicPr>
          <p:nvPr/>
        </p:nvPicPr>
        <p:blipFill>
          <a:blip r:embed="rId3"/>
          <a:stretch>
            <a:fillRect/>
          </a:stretch>
        </p:blipFill>
        <p:spPr>
          <a:xfrm>
            <a:off x="6693408" y="2198218"/>
            <a:ext cx="404165" cy="404165"/>
          </a:xfrm>
          <a:prstGeom prst="rect">
            <a:avLst/>
          </a:prstGeom>
        </p:spPr>
      </p:pic>
      <p:sp>
        <p:nvSpPr>
          <p:cNvPr id="19" name="stat-2"/>
          <p:cNvSpPr txBox="1"/>
          <p:nvPr/>
        </p:nvSpPr>
        <p:spPr>
          <a:xfrm>
            <a:off x="6506870" y="3017520"/>
            <a:ext cx="2148840" cy="868680"/>
          </a:xfrm>
          <a:prstGeom prst="rect">
            <a:avLst/>
          </a:prstGeom>
          <a:noFill/>
          <a:ln/>
        </p:spPr>
        <p:txBody>
          <a:bodyPr wrap="square" lIns="0" tIns="0" rIns="0" bIns="0" rtlCol="0" anchor="t"/>
          <a:lstStyle/>
          <a:p>
            <a:pPr indent="0" marL="0">
              <a:buNone/>
            </a:pPr>
            <a:r>
              <a:rPr lang="en-US" sz="4600" b="1" dirty="0">
                <a:solidFill>
                  <a:schemeClr val="tx2"/>
                </a:solidFill>
                <a:latin typeface="Cambria" pitchFamily="34" charset="0"/>
                <a:ea typeface="Cambria" pitchFamily="34" charset="-122"/>
                <a:cs typeface="Cambria" pitchFamily="34" charset="-120"/>
              </a:rPr>
              <a:t>4,2 M€</a:t>
            </a:r>
            <a:endParaRPr lang="en-US" sz="4600" dirty="0"/>
          </a:p>
        </p:txBody>
      </p:sp>
      <p:sp>
        <p:nvSpPr>
          <p:cNvPr id="20" name="stat-label-2"/>
          <p:cNvSpPr txBox="1"/>
          <p:nvPr/>
        </p:nvSpPr>
        <p:spPr>
          <a:xfrm>
            <a:off x="6506870" y="3931920"/>
            <a:ext cx="2148840" cy="411480"/>
          </a:xfrm>
          <a:prstGeom prst="rect">
            <a:avLst/>
          </a:prstGeom>
          <a:noFill/>
          <a:ln/>
        </p:spPr>
        <p:txBody>
          <a:bodyPr wrap="square" lIns="0" tIns="0" rIns="0" bIns="0" rtlCol="0" anchor="t"/>
          <a:lstStyle/>
          <a:p>
            <a:pPr indent="0" marL="0">
              <a:buNone/>
            </a:pPr>
            <a:r>
              <a:rPr lang="en-US" sz="1800" b="1" dirty="0">
                <a:solidFill>
                  <a:schemeClr val="tx1"/>
                </a:solidFill>
              </a:rPr>
              <a:t>de CA mensuel</a:t>
            </a:r>
            <a:endParaRPr lang="en-US" sz="1800" dirty="0"/>
          </a:p>
        </p:txBody>
      </p:sp>
      <p:sp>
        <p:nvSpPr>
          <p:cNvPr id="21" name="stat-sub-2"/>
          <p:cNvSpPr txBox="1"/>
          <p:nvPr/>
        </p:nvSpPr>
        <p:spPr>
          <a:xfrm>
            <a:off x="6506870" y="4389120"/>
            <a:ext cx="2148840" cy="731520"/>
          </a:xfrm>
          <a:prstGeom prst="rect">
            <a:avLst/>
          </a:prstGeom>
          <a:noFill/>
          <a:ln/>
        </p:spPr>
        <p:txBody>
          <a:bodyPr wrap="square" lIns="0" tIns="0" rIns="0" bIns="0" rtlCol="0" anchor="t"/>
          <a:lstStyle/>
          <a:p>
            <a:pPr indent="0" marL="0">
              <a:buNone/>
            </a:pPr>
            <a:r>
              <a:rPr lang="en-US" sz="1400" dirty="0">
                <a:solidFill>
                  <a:schemeClr val="accent5"/>
                </a:solidFill>
              </a:rPr>
              <a:t>pour 75 personnes en interne</a:t>
            </a:r>
            <a:endParaRPr lang="en-US" sz="1400" dirty="0"/>
          </a:p>
        </p:txBody>
      </p:sp>
      <p:sp>
        <p:nvSpPr>
          <p:cNvPr id="22" name="carte-stat-3"/>
          <p:cNvSpPr/>
          <p:nvPr/>
        </p:nvSpPr>
        <p:spPr>
          <a:xfrm>
            <a:off x="9005926" y="1691640"/>
            <a:ext cx="2606040" cy="3840480"/>
          </a:xfrm>
          <a:prstGeom prst="roundRect">
            <a:avLst>
              <a:gd name="adj" fmla="val 4211"/>
            </a:avLst>
          </a:prstGeom>
          <a:solidFill>
            <a:schemeClr val="bg2"/>
          </a:solidFill>
          <a:ln/>
        </p:spPr>
      </p:sp>
      <p:sp>
        <p:nvSpPr>
          <p:cNvPr id="23" name="icone-stat-3-cercle"/>
          <p:cNvSpPr/>
          <p:nvPr/>
        </p:nvSpPr>
        <p:spPr>
          <a:xfrm>
            <a:off x="9325966" y="2011680"/>
            <a:ext cx="777240" cy="777240"/>
          </a:xfrm>
          <a:prstGeom prst="ellipse">
            <a:avLst/>
          </a:prstGeom>
          <a:solidFill>
            <a:schemeClr val="accent1"/>
          </a:solidFill>
          <a:ln/>
        </p:spPr>
      </p:sp>
      <p:pic>
        <p:nvPicPr>
          <p:cNvPr id="24" name="icone-stat-3" descr="preencoded.png">    </p:cNvPr>
          <p:cNvPicPr>
            <a:picLocks noChangeAspect="1"/>
          </p:cNvPicPr>
          <p:nvPr/>
        </p:nvPicPr>
        <p:blipFill>
          <a:blip r:embed="rId4"/>
          <a:stretch>
            <a:fillRect/>
          </a:stretch>
        </p:blipFill>
        <p:spPr>
          <a:xfrm>
            <a:off x="9512503" y="2198218"/>
            <a:ext cx="404165" cy="404165"/>
          </a:xfrm>
          <a:prstGeom prst="rect">
            <a:avLst/>
          </a:prstGeom>
        </p:spPr>
      </p:pic>
      <p:sp>
        <p:nvSpPr>
          <p:cNvPr id="25" name="stat-3"/>
          <p:cNvSpPr txBox="1"/>
          <p:nvPr/>
        </p:nvSpPr>
        <p:spPr>
          <a:xfrm>
            <a:off x="9325966" y="3017520"/>
            <a:ext cx="2148840" cy="868680"/>
          </a:xfrm>
          <a:prstGeom prst="rect">
            <a:avLst/>
          </a:prstGeom>
          <a:noFill/>
          <a:ln/>
        </p:spPr>
        <p:txBody>
          <a:bodyPr wrap="square" lIns="0" tIns="0" rIns="0" bIns="0" rtlCol="0" anchor="t"/>
          <a:lstStyle/>
          <a:p>
            <a:pPr indent="0" marL="0">
              <a:buNone/>
            </a:pPr>
            <a:r>
              <a:rPr lang="en-US" sz="4600" b="1" dirty="0">
                <a:solidFill>
                  <a:schemeClr val="tx2"/>
                </a:solidFill>
                <a:latin typeface="Cambria" pitchFamily="34" charset="0"/>
                <a:ea typeface="Cambria" pitchFamily="34" charset="-122"/>
                <a:cs typeface="Cambria" pitchFamily="34" charset="-120"/>
              </a:rPr>
              <a:t>12 %</a:t>
            </a:r>
            <a:endParaRPr lang="en-US" sz="4600" dirty="0"/>
          </a:p>
        </p:txBody>
      </p:sp>
      <p:sp>
        <p:nvSpPr>
          <p:cNvPr id="26" name="stat-label-3"/>
          <p:cNvSpPr txBox="1"/>
          <p:nvPr/>
        </p:nvSpPr>
        <p:spPr>
          <a:xfrm>
            <a:off x="9325966" y="3931920"/>
            <a:ext cx="2148840" cy="411480"/>
          </a:xfrm>
          <a:prstGeom prst="rect">
            <a:avLst/>
          </a:prstGeom>
          <a:noFill/>
          <a:ln/>
        </p:spPr>
        <p:txBody>
          <a:bodyPr wrap="square" lIns="0" tIns="0" rIns="0" bIns="0" rtlCol="0" anchor="t"/>
          <a:lstStyle/>
          <a:p>
            <a:pPr indent="0" marL="0">
              <a:buNone/>
            </a:pPr>
            <a:r>
              <a:rPr lang="en-US" sz="1800" b="1" dirty="0">
                <a:solidFill>
                  <a:schemeClr val="tx1"/>
                </a:solidFill>
              </a:rPr>
              <a:t>de commission</a:t>
            </a:r>
            <a:endParaRPr lang="en-US" sz="1800" dirty="0"/>
          </a:p>
        </p:txBody>
      </p:sp>
      <p:sp>
        <p:nvSpPr>
          <p:cNvPr id="27" name="stat-sub-3"/>
          <p:cNvSpPr txBox="1"/>
          <p:nvPr/>
        </p:nvSpPr>
        <p:spPr>
          <a:xfrm>
            <a:off x="9325966" y="4389120"/>
            <a:ext cx="2148840" cy="731520"/>
          </a:xfrm>
          <a:prstGeom prst="rect">
            <a:avLst/>
          </a:prstGeom>
          <a:noFill/>
          <a:ln/>
        </p:spPr>
        <p:txBody>
          <a:bodyPr wrap="square" lIns="0" tIns="0" rIns="0" bIns="0" rtlCol="0" anchor="t"/>
          <a:lstStyle/>
          <a:p>
            <a:pPr indent="0" marL="0">
              <a:buNone/>
            </a:pPr>
            <a:r>
              <a:rPr lang="en-US" sz="1400" dirty="0">
                <a:solidFill>
                  <a:schemeClr val="accent5"/>
                </a:solidFill>
              </a:rPr>
              <a:t>prélevée sur chaque vente</a:t>
            </a:r>
            <a:endParaRPr lang="en-US" sz="1400" dirty="0"/>
          </a:p>
        </p:txBody>
      </p:sp>
      <p:sp>
        <p:nvSpPr>
          <p:cNvPr id="28" name="Text 22"/>
          <p:cNvSpPr txBox="1"/>
          <p:nvPr/>
        </p:nvSpPr>
        <p:spPr>
          <a:xfrm>
            <a:off x="548640" y="5760720"/>
            <a:ext cx="11064240" cy="320040"/>
          </a:xfrm>
          <a:prstGeom prst="rect">
            <a:avLst/>
          </a:prstGeom>
          <a:noFill/>
          <a:ln/>
        </p:spPr>
        <p:txBody>
          <a:bodyPr wrap="square" lIns="0" tIns="0" rIns="0" bIns="0" rtlCol="0" anchor="t"/>
          <a:lstStyle/>
          <a:p>
            <a:pPr indent="0" marL="0">
              <a:buNone/>
            </a:pPr>
            <a:r>
              <a:rPr lang="en-US" sz="1200" i="1" dirty="0">
                <a:solidFill>
                  <a:schemeClr val="accent5"/>
                </a:solidFill>
              </a:rPr>
              <a:t>Chiffres fictifs du cahier des charges · Maelys met en relation vendeurs indépendants et consommateurs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LE PROBLÈME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Un reporting manuel, lent et fragile</a:t>
            </a:r>
            <a:endParaRPr lang="en-US" sz="3600" dirty="0"/>
          </a:p>
        </p:txBody>
      </p:sp>
      <p:sp>
        <p:nvSpPr>
          <p:cNvPr id="4" name="carte-douleur"/>
          <p:cNvSpPr/>
          <p:nvPr/>
        </p:nvSpPr>
        <p:spPr>
          <a:xfrm>
            <a:off x="548640" y="1691640"/>
            <a:ext cx="4206240" cy="4206240"/>
          </a:xfrm>
          <a:prstGeom prst="roundRect">
            <a:avLst>
              <a:gd name="adj" fmla="val 2609"/>
            </a:avLst>
          </a:prstGeom>
          <a:solidFill>
            <a:schemeClr val="tx2"/>
          </a:solidFill>
          <a:ln/>
        </p:spPr>
      </p:sp>
      <p:sp>
        <p:nvSpPr>
          <p:cNvPr id="5" name="Text 3"/>
          <p:cNvSpPr txBox="1"/>
          <p:nvPr/>
        </p:nvSpPr>
        <p:spPr>
          <a:xfrm>
            <a:off x="914400" y="2011680"/>
            <a:ext cx="3566160" cy="1188720"/>
          </a:xfrm>
          <a:prstGeom prst="rect">
            <a:avLst/>
          </a:prstGeom>
          <a:noFill/>
          <a:ln/>
        </p:spPr>
        <p:txBody>
          <a:bodyPr wrap="square" lIns="0" tIns="0" rIns="0" bIns="0" rtlCol="0" anchor="t"/>
          <a:lstStyle/>
          <a:p>
            <a:pPr indent="0" marL="0">
              <a:buNone/>
            </a:pPr>
            <a:r>
              <a:rPr lang="en-US" sz="7200" b="1" dirty="0">
                <a:solidFill>
                  <a:schemeClr val="accent1"/>
                </a:solidFill>
                <a:latin typeface="Cambria" pitchFamily="34" charset="0"/>
                <a:ea typeface="Cambria" pitchFamily="34" charset="-122"/>
                <a:cs typeface="Cambria" pitchFamily="34" charset="-120"/>
              </a:rPr>
              <a:t>40 %</a:t>
            </a:r>
            <a:endParaRPr lang="en-US" sz="7200" dirty="0"/>
          </a:p>
        </p:txBody>
      </p:sp>
      <p:sp>
        <p:nvSpPr>
          <p:cNvPr id="6" name="Text 4"/>
          <p:cNvSpPr txBox="1"/>
          <p:nvPr/>
        </p:nvSpPr>
        <p:spPr>
          <a:xfrm>
            <a:off x="914400" y="3246120"/>
            <a:ext cx="3474720" cy="914400"/>
          </a:xfrm>
          <a:prstGeom prst="rect">
            <a:avLst/>
          </a:prstGeom>
          <a:noFill/>
          <a:ln/>
        </p:spPr>
        <p:txBody>
          <a:bodyPr wrap="square" lIns="0" tIns="0" rIns="0" bIns="0" rtlCol="0" anchor="t"/>
          <a:lstStyle/>
          <a:p>
            <a:pPr indent="0" marL="0">
              <a:buNone/>
            </a:pPr>
            <a:r>
              <a:rPr lang="en-US" sz="1800" dirty="0">
                <a:solidFill>
                  <a:schemeClr val="bg1"/>
                </a:solidFill>
              </a:rPr>
              <a:t>du temps de l'unique analyste passe dans l'extraction des données</a:t>
            </a:r>
            <a:endParaRPr lang="en-US" sz="1800" dirty="0"/>
          </a:p>
        </p:txBody>
      </p:sp>
      <p:sp>
        <p:nvSpPr>
          <p:cNvPr id="7" name="Text 5"/>
          <p:cNvSpPr txBox="1"/>
          <p:nvPr/>
        </p:nvSpPr>
        <p:spPr>
          <a:xfrm>
            <a:off x="914400" y="4343400"/>
            <a:ext cx="3474720" cy="914400"/>
          </a:xfrm>
          <a:prstGeom prst="rect">
            <a:avLst/>
          </a:prstGeom>
          <a:noFill/>
          <a:ln/>
        </p:spPr>
        <p:txBody>
          <a:bodyPr wrap="square" lIns="0" tIns="0" rIns="0" bIns="0" rtlCol="0" anchor="t"/>
          <a:lstStyle/>
          <a:p>
            <a:pPr indent="0" marL="0">
              <a:buNone/>
            </a:pPr>
            <a:r>
              <a:rPr lang="en-US" sz="1500" dirty="0">
                <a:solidFill>
                  <a:schemeClr val="accent6"/>
                </a:solidFill>
              </a:rPr>
              <a:t>2 jours par semaine à exporter le backoffice vers Excel, à la main</a:t>
            </a:r>
            <a:endParaRPr lang="en-US" sz="1500" dirty="0"/>
          </a:p>
        </p:txBody>
      </p:sp>
      <p:sp>
        <p:nvSpPr>
          <p:cNvPr id="8" name="icone-douleur-0-cercle"/>
          <p:cNvSpPr/>
          <p:nvPr/>
        </p:nvSpPr>
        <p:spPr>
          <a:xfrm>
            <a:off x="5257800" y="1783080"/>
            <a:ext cx="731520" cy="731520"/>
          </a:xfrm>
          <a:prstGeom prst="ellipse">
            <a:avLst/>
          </a:prstGeom>
          <a:solidFill>
            <a:schemeClr val="accent1"/>
          </a:solidFill>
          <a:ln/>
        </p:spPr>
      </p:sp>
      <p:pic>
        <p:nvPicPr>
          <p:cNvPr id="9" name="icone-douleur-0" descr="preencoded.png">    </p:cNvPr>
          <p:cNvPicPr>
            <a:picLocks noChangeAspect="1"/>
          </p:cNvPicPr>
          <p:nvPr/>
        </p:nvPicPr>
        <p:blipFill>
          <a:blip r:embed="rId1"/>
          <a:stretch>
            <a:fillRect/>
          </a:stretch>
        </p:blipFill>
        <p:spPr>
          <a:xfrm>
            <a:off x="5433365" y="1958645"/>
            <a:ext cx="380390" cy="380390"/>
          </a:xfrm>
          <a:prstGeom prst="rect">
            <a:avLst/>
          </a:prstGeom>
        </p:spPr>
      </p:pic>
      <p:sp>
        <p:nvSpPr>
          <p:cNvPr id="10" name="Text 7"/>
          <p:cNvSpPr txBox="1"/>
          <p:nvPr/>
        </p:nvSpPr>
        <p:spPr>
          <a:xfrm>
            <a:off x="6217920" y="1801368"/>
            <a:ext cx="5394960" cy="365760"/>
          </a:xfrm>
          <a:prstGeom prst="rect">
            <a:avLst/>
          </a:prstGeom>
          <a:noFill/>
          <a:ln/>
        </p:spPr>
        <p:txBody>
          <a:bodyPr wrap="square" lIns="0" tIns="0" rIns="0" bIns="0" rtlCol="0" anchor="t"/>
          <a:lstStyle/>
          <a:p>
            <a:pPr indent="0" marL="0">
              <a:buNone/>
            </a:pPr>
            <a:r>
              <a:rPr lang="en-US" sz="2000" b="1" dirty="0">
                <a:solidFill>
                  <a:schemeClr val="tx2"/>
                </a:solidFill>
              </a:rPr>
              <a:t>Rapports en retard</a:t>
            </a:r>
            <a:endParaRPr lang="en-US" sz="2000" dirty="0"/>
          </a:p>
        </p:txBody>
      </p:sp>
      <p:sp>
        <p:nvSpPr>
          <p:cNvPr id="11" name="Text 8"/>
          <p:cNvSpPr txBox="1"/>
          <p:nvPr/>
        </p:nvSpPr>
        <p:spPr>
          <a:xfrm>
            <a:off x="6217920" y="2212848"/>
            <a:ext cx="5394960" cy="685800"/>
          </a:xfrm>
          <a:prstGeom prst="rect">
            <a:avLst/>
          </a:prstGeom>
          <a:noFill/>
          <a:ln/>
        </p:spPr>
        <p:txBody>
          <a:bodyPr wrap="square" lIns="0" tIns="0" rIns="0" bIns="0" rtlCol="0" anchor="t"/>
          <a:lstStyle/>
          <a:p>
            <a:pPr indent="0" marL="0">
              <a:buNone/>
            </a:pPr>
            <a:r>
              <a:rPr lang="en-US" sz="1500" dirty="0">
                <a:solidFill>
                  <a:schemeClr val="tx1"/>
                </a:solidFill>
              </a:rPr>
              <a:t>Le CEO attend son point hebdomadaire, la Finance sa clôture mensuelle.</a:t>
            </a:r>
            <a:endParaRPr lang="en-US" sz="1500" dirty="0"/>
          </a:p>
        </p:txBody>
      </p:sp>
      <p:sp>
        <p:nvSpPr>
          <p:cNvPr id="12" name="icone-douleur-1-cercle"/>
          <p:cNvSpPr/>
          <p:nvPr/>
        </p:nvSpPr>
        <p:spPr>
          <a:xfrm>
            <a:off x="5257800" y="3154680"/>
            <a:ext cx="731520" cy="731520"/>
          </a:xfrm>
          <a:prstGeom prst="ellipse">
            <a:avLst/>
          </a:prstGeom>
          <a:solidFill>
            <a:schemeClr val="accent1"/>
          </a:solidFill>
          <a:ln/>
        </p:spPr>
      </p:sp>
      <p:pic>
        <p:nvPicPr>
          <p:cNvPr id="13" name="icone-douleur-1" descr="preencoded.png">    </p:cNvPr>
          <p:cNvPicPr>
            <a:picLocks noChangeAspect="1"/>
          </p:cNvPicPr>
          <p:nvPr/>
        </p:nvPicPr>
        <p:blipFill>
          <a:blip r:embed="rId2"/>
          <a:stretch>
            <a:fillRect/>
          </a:stretch>
        </p:blipFill>
        <p:spPr>
          <a:xfrm>
            <a:off x="5433365" y="3330245"/>
            <a:ext cx="380390" cy="380390"/>
          </a:xfrm>
          <a:prstGeom prst="rect">
            <a:avLst/>
          </a:prstGeom>
        </p:spPr>
      </p:pic>
      <p:sp>
        <p:nvSpPr>
          <p:cNvPr id="14" name="Text 10"/>
          <p:cNvSpPr txBox="1"/>
          <p:nvPr/>
        </p:nvSpPr>
        <p:spPr>
          <a:xfrm>
            <a:off x="6217920" y="3172968"/>
            <a:ext cx="5394960" cy="365760"/>
          </a:xfrm>
          <a:prstGeom prst="rect">
            <a:avLst/>
          </a:prstGeom>
          <a:noFill/>
          <a:ln/>
        </p:spPr>
        <p:txBody>
          <a:bodyPr wrap="square" lIns="0" tIns="0" rIns="0" bIns="0" rtlCol="0" anchor="t"/>
          <a:lstStyle/>
          <a:p>
            <a:pPr indent="0" marL="0">
              <a:buNone/>
            </a:pPr>
            <a:r>
              <a:rPr lang="en-US" sz="2000" b="1" dirty="0">
                <a:solidFill>
                  <a:schemeClr val="tx2"/>
                </a:solidFill>
              </a:rPr>
              <a:t>Erreurs de copier-coller</a:t>
            </a:r>
            <a:endParaRPr lang="en-US" sz="2000" dirty="0"/>
          </a:p>
        </p:txBody>
      </p:sp>
      <p:sp>
        <p:nvSpPr>
          <p:cNvPr id="15" name="Text 11"/>
          <p:cNvSpPr txBox="1"/>
          <p:nvPr/>
        </p:nvSpPr>
        <p:spPr>
          <a:xfrm>
            <a:off x="6217920" y="3584448"/>
            <a:ext cx="5394960" cy="685800"/>
          </a:xfrm>
          <a:prstGeom prst="rect">
            <a:avLst/>
          </a:prstGeom>
          <a:noFill/>
          <a:ln/>
        </p:spPr>
        <p:txBody>
          <a:bodyPr wrap="square" lIns="0" tIns="0" rIns="0" bIns="0" rtlCol="0" anchor="t"/>
          <a:lstStyle/>
          <a:p>
            <a:pPr indent="0" marL="0">
              <a:buNone/>
            </a:pPr>
            <a:r>
              <a:rPr lang="en-US" sz="1500" dirty="0">
                <a:solidFill>
                  <a:schemeClr val="tx1"/>
                </a:solidFill>
              </a:rPr>
              <a:t>Chaque extraction manuelle est une occasion de fausser un chiffre de commission.</a:t>
            </a:r>
            <a:endParaRPr lang="en-US" sz="1500" dirty="0"/>
          </a:p>
        </p:txBody>
      </p:sp>
      <p:sp>
        <p:nvSpPr>
          <p:cNvPr id="16" name="icone-douleur-2-cercle"/>
          <p:cNvSpPr/>
          <p:nvPr/>
        </p:nvSpPr>
        <p:spPr>
          <a:xfrm>
            <a:off x="5257800" y="4526280"/>
            <a:ext cx="731520" cy="731520"/>
          </a:xfrm>
          <a:prstGeom prst="ellipse">
            <a:avLst/>
          </a:prstGeom>
          <a:solidFill>
            <a:schemeClr val="accent1"/>
          </a:solidFill>
          <a:ln/>
        </p:spPr>
      </p:sp>
      <p:pic>
        <p:nvPicPr>
          <p:cNvPr id="17" name="icone-douleur-2" descr="preencoded.png">    </p:cNvPr>
          <p:cNvPicPr>
            <a:picLocks noChangeAspect="1"/>
          </p:cNvPicPr>
          <p:nvPr/>
        </p:nvPicPr>
        <p:blipFill>
          <a:blip r:embed="rId3"/>
          <a:stretch>
            <a:fillRect/>
          </a:stretch>
        </p:blipFill>
        <p:spPr>
          <a:xfrm>
            <a:off x="5433365" y="4701845"/>
            <a:ext cx="380390" cy="380390"/>
          </a:xfrm>
          <a:prstGeom prst="rect">
            <a:avLst/>
          </a:prstGeom>
        </p:spPr>
      </p:pic>
      <p:sp>
        <p:nvSpPr>
          <p:cNvPr id="18" name="Text 13"/>
          <p:cNvSpPr txBox="1"/>
          <p:nvPr/>
        </p:nvSpPr>
        <p:spPr>
          <a:xfrm>
            <a:off x="6217920" y="4544568"/>
            <a:ext cx="5394960" cy="365760"/>
          </a:xfrm>
          <a:prstGeom prst="rect">
            <a:avLst/>
          </a:prstGeom>
          <a:noFill/>
          <a:ln/>
        </p:spPr>
        <p:txBody>
          <a:bodyPr wrap="square" lIns="0" tIns="0" rIns="0" bIns="0" rtlCol="0" anchor="t"/>
          <a:lstStyle/>
          <a:p>
            <a:pPr indent="0" marL="0">
              <a:buNone/>
            </a:pPr>
            <a:r>
              <a:rPr lang="en-US" sz="2000" b="1" dirty="0">
                <a:solidFill>
                  <a:schemeClr val="tx2"/>
                </a:solidFill>
              </a:rPr>
              <a:t>Aucune alerte</a:t>
            </a:r>
            <a:endParaRPr lang="en-US" sz="2000" dirty="0"/>
          </a:p>
        </p:txBody>
      </p:sp>
      <p:sp>
        <p:nvSpPr>
          <p:cNvPr id="19" name="Text 14"/>
          <p:cNvSpPr txBox="1"/>
          <p:nvPr/>
        </p:nvSpPr>
        <p:spPr>
          <a:xfrm>
            <a:off x="6217920" y="4956048"/>
            <a:ext cx="5394960" cy="685800"/>
          </a:xfrm>
          <a:prstGeom prst="rect">
            <a:avLst/>
          </a:prstGeom>
          <a:noFill/>
          <a:ln/>
        </p:spPr>
        <p:txBody>
          <a:bodyPr wrap="square" lIns="0" tIns="0" rIns="0" bIns="0" rtlCol="0" anchor="t"/>
          <a:lstStyle/>
          <a:p>
            <a:pPr indent="0" marL="0">
              <a:buNone/>
            </a:pPr>
            <a:r>
              <a:rPr lang="en-US" sz="1500" dirty="0">
                <a:solidFill>
                  <a:schemeClr val="tx1"/>
                </a:solidFill>
              </a:rPr>
              <a:t>Une chute de ventes ou un prix aberrant passe inaperçu jusqu'au prochain rapport.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LES BESOINS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Trois métiers, trois besoins non couverts</a:t>
            </a:r>
            <a:endParaRPr lang="en-US" sz="3600" dirty="0"/>
          </a:p>
        </p:txBody>
      </p:sp>
      <p:sp>
        <p:nvSpPr>
          <p:cNvPr id="4" name="carte-besoin-0"/>
          <p:cNvSpPr/>
          <p:nvPr/>
        </p:nvSpPr>
        <p:spPr>
          <a:xfrm>
            <a:off x="548640" y="1691640"/>
            <a:ext cx="3520440" cy="3337560"/>
          </a:xfrm>
          <a:prstGeom prst="roundRect">
            <a:avLst>
              <a:gd name="adj" fmla="val 3288"/>
            </a:avLst>
          </a:prstGeom>
          <a:solidFill>
            <a:schemeClr val="bg2"/>
          </a:solidFill>
          <a:ln/>
        </p:spPr>
      </p:sp>
      <p:sp>
        <p:nvSpPr>
          <p:cNvPr id="5" name="icone-besoin-0-cercle"/>
          <p:cNvSpPr/>
          <p:nvPr/>
        </p:nvSpPr>
        <p:spPr>
          <a:xfrm>
            <a:off x="868680" y="1965960"/>
            <a:ext cx="731520" cy="731520"/>
          </a:xfrm>
          <a:prstGeom prst="ellipse">
            <a:avLst/>
          </a:prstGeom>
          <a:solidFill>
            <a:schemeClr val="accent4"/>
          </a:solidFill>
          <a:ln/>
        </p:spPr>
      </p:sp>
      <p:pic>
        <p:nvPicPr>
          <p:cNvPr id="6" name="icone-besoin-0" descr="preencoded.png">    </p:cNvPr>
          <p:cNvPicPr>
            <a:picLocks noChangeAspect="1"/>
          </p:cNvPicPr>
          <p:nvPr/>
        </p:nvPicPr>
        <p:blipFill>
          <a:blip r:embed="rId1"/>
          <a:stretch>
            <a:fillRect/>
          </a:stretch>
        </p:blipFill>
        <p:spPr>
          <a:xfrm>
            <a:off x="1044245" y="2141525"/>
            <a:ext cx="380390" cy="380390"/>
          </a:xfrm>
          <a:prstGeom prst="rect">
            <a:avLst/>
          </a:prstGeom>
        </p:spPr>
      </p:pic>
      <p:sp>
        <p:nvSpPr>
          <p:cNvPr id="7" name="Text 4"/>
          <p:cNvSpPr txBox="1"/>
          <p:nvPr/>
        </p:nvSpPr>
        <p:spPr>
          <a:xfrm>
            <a:off x="1783080" y="2176272"/>
            <a:ext cx="2103120" cy="320040"/>
          </a:xfrm>
          <a:prstGeom prst="rect">
            <a:avLst/>
          </a:prstGeom>
          <a:noFill/>
          <a:ln/>
        </p:spPr>
        <p:txBody>
          <a:bodyPr wrap="square" lIns="0" tIns="0" rIns="0" bIns="0" rtlCol="0" anchor="t"/>
          <a:lstStyle/>
          <a:p>
            <a:pPr indent="0" marL="0">
              <a:buNone/>
            </a:pPr>
            <a:r>
              <a:rPr lang="en-US" sz="1400" b="1" dirty="0">
                <a:solidFill>
                  <a:schemeClr val="accent5"/>
                </a:solidFill>
              </a:rPr>
              <a:t>CEO</a:t>
            </a:r>
            <a:endParaRPr lang="en-US" sz="1400" dirty="0"/>
          </a:p>
        </p:txBody>
      </p:sp>
      <p:sp>
        <p:nvSpPr>
          <p:cNvPr id="8" name="Text 5"/>
          <p:cNvSpPr txBox="1"/>
          <p:nvPr/>
        </p:nvSpPr>
        <p:spPr>
          <a:xfrm>
            <a:off x="868680" y="2926080"/>
            <a:ext cx="2971800" cy="411480"/>
          </a:xfrm>
          <a:prstGeom prst="rect">
            <a:avLst/>
          </a:prstGeom>
          <a:noFill/>
          <a:ln/>
        </p:spPr>
        <p:txBody>
          <a:bodyPr wrap="square" lIns="0" tIns="0" rIns="0" bIns="0" rtlCol="0" anchor="t"/>
          <a:lstStyle/>
          <a:p>
            <a:pPr indent="0" marL="0">
              <a:buNone/>
            </a:pPr>
            <a:r>
              <a:rPr lang="en-US" sz="2000" b="1" dirty="0">
                <a:solidFill>
                  <a:schemeClr val="tx2"/>
                </a:solidFill>
              </a:rPr>
              <a:t>Un dashboard hebdo</a:t>
            </a:r>
            <a:endParaRPr lang="en-US" sz="2000" dirty="0"/>
          </a:p>
        </p:txBody>
      </p:sp>
      <p:sp>
        <p:nvSpPr>
          <p:cNvPr id="9" name="Text 6"/>
          <p:cNvSpPr txBox="1"/>
          <p:nvPr/>
        </p:nvSpPr>
        <p:spPr>
          <a:xfrm>
            <a:off x="868680" y="3383280"/>
            <a:ext cx="2971800" cy="868680"/>
          </a:xfrm>
          <a:prstGeom prst="rect">
            <a:avLst/>
          </a:prstGeom>
          <a:noFill/>
          <a:ln/>
        </p:spPr>
        <p:txBody>
          <a:bodyPr wrap="square" lIns="0" tIns="0" rIns="0" bIns="0" rtlCol="0" anchor="t"/>
          <a:lstStyle/>
          <a:p>
            <a:pPr indent="0" marL="0">
              <a:buNone/>
            </a:pPr>
            <a:r>
              <a:rPr lang="en-US" sz="1500" dirty="0">
                <a:solidFill>
                  <a:schemeClr val="tx1"/>
                </a:solidFill>
              </a:rPr>
              <a:t>CA par jour sur 30 jours, top vendeurs, panier moyen</a:t>
            </a:r>
            <a:endParaRPr lang="en-US" sz="1500" dirty="0"/>
          </a:p>
        </p:txBody>
      </p:sp>
      <p:sp>
        <p:nvSpPr>
          <p:cNvPr id="10" name="Text 7"/>
          <p:cNvSpPr txBox="1"/>
          <p:nvPr/>
        </p:nvSpPr>
        <p:spPr>
          <a:xfrm>
            <a:off x="868680" y="4434840"/>
            <a:ext cx="2971800" cy="320040"/>
          </a:xfrm>
          <a:prstGeom prst="rect">
            <a:avLst/>
          </a:prstGeom>
          <a:noFill/>
          <a:ln/>
        </p:spPr>
        <p:txBody>
          <a:bodyPr wrap="square" lIns="0" tIns="0" rIns="0" bIns="0" rtlCol="0" anchor="t"/>
          <a:lstStyle/>
          <a:p>
            <a:pPr indent="0" marL="0">
              <a:buNone/>
            </a:pPr>
            <a:r>
              <a:rPr lang="en-US" sz="1300" b="1" dirty="0">
                <a:solidFill>
                  <a:schemeClr val="accent4"/>
                </a:solidFill>
              </a:rPr>
              <a:t>US-01 · US-02</a:t>
            </a:r>
            <a:endParaRPr lang="en-US" sz="1300" dirty="0"/>
          </a:p>
        </p:txBody>
      </p:sp>
      <p:sp>
        <p:nvSpPr>
          <p:cNvPr id="11" name="carte-besoin-1"/>
          <p:cNvSpPr/>
          <p:nvPr/>
        </p:nvSpPr>
        <p:spPr>
          <a:xfrm>
            <a:off x="4320540" y="1691640"/>
            <a:ext cx="3520440" cy="3337560"/>
          </a:xfrm>
          <a:prstGeom prst="roundRect">
            <a:avLst>
              <a:gd name="adj" fmla="val 3288"/>
            </a:avLst>
          </a:prstGeom>
          <a:solidFill>
            <a:schemeClr val="bg2"/>
          </a:solidFill>
          <a:ln/>
        </p:spPr>
      </p:sp>
      <p:sp>
        <p:nvSpPr>
          <p:cNvPr id="12" name="icone-besoin-1-cercle"/>
          <p:cNvSpPr/>
          <p:nvPr/>
        </p:nvSpPr>
        <p:spPr>
          <a:xfrm>
            <a:off x="4640580" y="1965960"/>
            <a:ext cx="731520" cy="731520"/>
          </a:xfrm>
          <a:prstGeom prst="ellipse">
            <a:avLst/>
          </a:prstGeom>
          <a:solidFill>
            <a:schemeClr val="accent2"/>
          </a:solidFill>
          <a:ln/>
        </p:spPr>
      </p:sp>
      <p:pic>
        <p:nvPicPr>
          <p:cNvPr id="13" name="icone-besoin-1" descr="preencoded.png">    </p:cNvPr>
          <p:cNvPicPr>
            <a:picLocks noChangeAspect="1"/>
          </p:cNvPicPr>
          <p:nvPr/>
        </p:nvPicPr>
        <p:blipFill>
          <a:blip r:embed="rId2"/>
          <a:stretch>
            <a:fillRect/>
          </a:stretch>
        </p:blipFill>
        <p:spPr>
          <a:xfrm>
            <a:off x="4816145" y="2141525"/>
            <a:ext cx="380390" cy="380390"/>
          </a:xfrm>
          <a:prstGeom prst="rect">
            <a:avLst/>
          </a:prstGeom>
        </p:spPr>
      </p:pic>
      <p:sp>
        <p:nvSpPr>
          <p:cNvPr id="14" name="Text 10"/>
          <p:cNvSpPr txBox="1"/>
          <p:nvPr/>
        </p:nvSpPr>
        <p:spPr>
          <a:xfrm>
            <a:off x="5554980" y="2176272"/>
            <a:ext cx="2103120" cy="320040"/>
          </a:xfrm>
          <a:prstGeom prst="rect">
            <a:avLst/>
          </a:prstGeom>
          <a:noFill/>
          <a:ln/>
        </p:spPr>
        <p:txBody>
          <a:bodyPr wrap="square" lIns="0" tIns="0" rIns="0" bIns="0" rtlCol="0" anchor="t"/>
          <a:lstStyle/>
          <a:p>
            <a:pPr indent="0" marL="0">
              <a:buNone/>
            </a:pPr>
            <a:r>
              <a:rPr lang="en-US" sz="1400" b="1" dirty="0">
                <a:solidFill>
                  <a:schemeClr val="accent5"/>
                </a:solidFill>
              </a:rPr>
              <a:t>FINANCE</a:t>
            </a:r>
            <a:endParaRPr lang="en-US" sz="1400" dirty="0"/>
          </a:p>
        </p:txBody>
      </p:sp>
      <p:sp>
        <p:nvSpPr>
          <p:cNvPr id="15" name="Text 11"/>
          <p:cNvSpPr txBox="1"/>
          <p:nvPr/>
        </p:nvSpPr>
        <p:spPr>
          <a:xfrm>
            <a:off x="4640580" y="2926080"/>
            <a:ext cx="2971800" cy="411480"/>
          </a:xfrm>
          <a:prstGeom prst="rect">
            <a:avLst/>
          </a:prstGeom>
          <a:noFill/>
          <a:ln/>
        </p:spPr>
        <p:txBody>
          <a:bodyPr wrap="square" lIns="0" tIns="0" rIns="0" bIns="0" rtlCol="0" anchor="t"/>
          <a:lstStyle/>
          <a:p>
            <a:pPr indent="0" marL="0">
              <a:buNone/>
            </a:pPr>
            <a:r>
              <a:rPr lang="en-US" sz="2000" b="1" dirty="0">
                <a:solidFill>
                  <a:schemeClr val="tx2"/>
                </a:solidFill>
              </a:rPr>
              <a:t>Des chiffres fiables</a:t>
            </a:r>
            <a:endParaRPr lang="en-US" sz="2000" dirty="0"/>
          </a:p>
        </p:txBody>
      </p:sp>
      <p:sp>
        <p:nvSpPr>
          <p:cNvPr id="16" name="Text 12"/>
          <p:cNvSpPr txBox="1"/>
          <p:nvPr/>
        </p:nvSpPr>
        <p:spPr>
          <a:xfrm>
            <a:off x="4640580" y="3383280"/>
            <a:ext cx="2971800" cy="868680"/>
          </a:xfrm>
          <a:prstGeom prst="rect">
            <a:avLst/>
          </a:prstGeom>
          <a:noFill/>
          <a:ln/>
        </p:spPr>
        <p:txBody>
          <a:bodyPr wrap="square" lIns="0" tIns="0" rIns="0" bIns="0" rtlCol="0" anchor="t"/>
          <a:lstStyle/>
          <a:p>
            <a:pPr indent="0" marL="0">
              <a:buNone/>
            </a:pPr>
            <a:r>
              <a:rPr lang="en-US" sz="1500" dirty="0">
                <a:solidFill>
                  <a:schemeClr val="tx1"/>
                </a:solidFill>
              </a:rPr>
              <a:t>Récapitulatif des commissions pour la clôture et la facturation</a:t>
            </a:r>
            <a:endParaRPr lang="en-US" sz="1500" dirty="0"/>
          </a:p>
        </p:txBody>
      </p:sp>
      <p:sp>
        <p:nvSpPr>
          <p:cNvPr id="17" name="Text 13"/>
          <p:cNvSpPr txBox="1"/>
          <p:nvPr/>
        </p:nvSpPr>
        <p:spPr>
          <a:xfrm>
            <a:off x="4640580" y="4434840"/>
            <a:ext cx="2971800" cy="320040"/>
          </a:xfrm>
          <a:prstGeom prst="rect">
            <a:avLst/>
          </a:prstGeom>
          <a:noFill/>
          <a:ln/>
        </p:spPr>
        <p:txBody>
          <a:bodyPr wrap="square" lIns="0" tIns="0" rIns="0" bIns="0" rtlCol="0" anchor="t"/>
          <a:lstStyle/>
          <a:p>
            <a:pPr indent="0" marL="0">
              <a:buNone/>
            </a:pPr>
            <a:r>
              <a:rPr lang="en-US" sz="1300" b="1" dirty="0">
                <a:solidFill>
                  <a:schemeClr val="accent2"/>
                </a:solidFill>
              </a:rPr>
              <a:t>US-03</a:t>
            </a:r>
            <a:endParaRPr lang="en-US" sz="1300" dirty="0"/>
          </a:p>
        </p:txBody>
      </p:sp>
      <p:sp>
        <p:nvSpPr>
          <p:cNvPr id="18" name="carte-besoin-2"/>
          <p:cNvSpPr/>
          <p:nvPr/>
        </p:nvSpPr>
        <p:spPr>
          <a:xfrm>
            <a:off x="8092440" y="1691640"/>
            <a:ext cx="3520440" cy="3337560"/>
          </a:xfrm>
          <a:prstGeom prst="roundRect">
            <a:avLst>
              <a:gd name="adj" fmla="val 3288"/>
            </a:avLst>
          </a:prstGeom>
          <a:solidFill>
            <a:schemeClr val="bg2"/>
          </a:solidFill>
          <a:ln/>
        </p:spPr>
      </p:sp>
      <p:sp>
        <p:nvSpPr>
          <p:cNvPr id="19" name="icone-besoin-2-cercle"/>
          <p:cNvSpPr/>
          <p:nvPr/>
        </p:nvSpPr>
        <p:spPr>
          <a:xfrm>
            <a:off x="8412480" y="1965960"/>
            <a:ext cx="731520" cy="731520"/>
          </a:xfrm>
          <a:prstGeom prst="ellipse">
            <a:avLst/>
          </a:prstGeom>
          <a:solidFill>
            <a:schemeClr val="accent1"/>
          </a:solidFill>
          <a:ln/>
        </p:spPr>
      </p:sp>
      <p:pic>
        <p:nvPicPr>
          <p:cNvPr id="20" name="icone-besoin-2" descr="preencoded.png">    </p:cNvPr>
          <p:cNvPicPr>
            <a:picLocks noChangeAspect="1"/>
          </p:cNvPicPr>
          <p:nvPr/>
        </p:nvPicPr>
        <p:blipFill>
          <a:blip r:embed="rId3"/>
          <a:stretch>
            <a:fillRect/>
          </a:stretch>
        </p:blipFill>
        <p:spPr>
          <a:xfrm>
            <a:off x="8588045" y="2141525"/>
            <a:ext cx="380390" cy="380390"/>
          </a:xfrm>
          <a:prstGeom prst="rect">
            <a:avLst/>
          </a:prstGeom>
        </p:spPr>
      </p:pic>
      <p:sp>
        <p:nvSpPr>
          <p:cNvPr id="21" name="Text 16"/>
          <p:cNvSpPr txBox="1"/>
          <p:nvPr/>
        </p:nvSpPr>
        <p:spPr>
          <a:xfrm>
            <a:off x="9326880" y="2176272"/>
            <a:ext cx="2103120" cy="320040"/>
          </a:xfrm>
          <a:prstGeom prst="rect">
            <a:avLst/>
          </a:prstGeom>
          <a:noFill/>
          <a:ln/>
        </p:spPr>
        <p:txBody>
          <a:bodyPr wrap="square" lIns="0" tIns="0" rIns="0" bIns="0" rtlCol="0" anchor="t"/>
          <a:lstStyle/>
          <a:p>
            <a:pPr indent="0" marL="0">
              <a:buNone/>
            </a:pPr>
            <a:r>
              <a:rPr lang="en-US" sz="1400" b="1" dirty="0">
                <a:solidFill>
                  <a:schemeClr val="accent5"/>
                </a:solidFill>
              </a:rPr>
              <a:t>CATALOGUE</a:t>
            </a:r>
            <a:endParaRPr lang="en-US" sz="1400" dirty="0"/>
          </a:p>
        </p:txBody>
      </p:sp>
      <p:sp>
        <p:nvSpPr>
          <p:cNvPr id="22" name="Text 17"/>
          <p:cNvSpPr txBox="1"/>
          <p:nvPr/>
        </p:nvSpPr>
        <p:spPr>
          <a:xfrm>
            <a:off x="8412480" y="2926080"/>
            <a:ext cx="2971800" cy="411480"/>
          </a:xfrm>
          <a:prstGeom prst="rect">
            <a:avLst/>
          </a:prstGeom>
          <a:noFill/>
          <a:ln/>
        </p:spPr>
        <p:txBody>
          <a:bodyPr wrap="square" lIns="0" tIns="0" rIns="0" bIns="0" rtlCol="0" anchor="t"/>
          <a:lstStyle/>
          <a:p>
            <a:pPr indent="0" marL="0">
              <a:buNone/>
            </a:pPr>
            <a:r>
              <a:rPr lang="en-US" sz="2000" b="1" dirty="0">
                <a:solidFill>
                  <a:schemeClr val="tx2"/>
                </a:solidFill>
              </a:rPr>
              <a:t>Détecter les anomalies</a:t>
            </a:r>
            <a:endParaRPr lang="en-US" sz="2000" dirty="0"/>
          </a:p>
        </p:txBody>
      </p:sp>
      <p:sp>
        <p:nvSpPr>
          <p:cNvPr id="23" name="Text 18"/>
          <p:cNvSpPr txBox="1"/>
          <p:nvPr/>
        </p:nvSpPr>
        <p:spPr>
          <a:xfrm>
            <a:off x="8412480" y="3383280"/>
            <a:ext cx="2971800" cy="868680"/>
          </a:xfrm>
          <a:prstGeom prst="rect">
            <a:avLst/>
          </a:prstGeom>
          <a:noFill/>
          <a:ln/>
        </p:spPr>
        <p:txBody>
          <a:bodyPr wrap="square" lIns="0" tIns="0" rIns="0" bIns="0" rtlCol="0" anchor="t"/>
          <a:lstStyle/>
          <a:p>
            <a:pPr indent="0" marL="0">
              <a:buNone/>
            </a:pPr>
            <a:r>
              <a:rPr lang="en-US" sz="1500" dirty="0">
                <a:solidFill>
                  <a:schemeClr val="tx1"/>
                </a:solidFill>
              </a:rPr>
              <a:t>CA par catégorie, chute des ventes, prix suspects</a:t>
            </a:r>
            <a:endParaRPr lang="en-US" sz="1500" dirty="0"/>
          </a:p>
        </p:txBody>
      </p:sp>
      <p:sp>
        <p:nvSpPr>
          <p:cNvPr id="24" name="Text 19"/>
          <p:cNvSpPr txBox="1"/>
          <p:nvPr/>
        </p:nvSpPr>
        <p:spPr>
          <a:xfrm>
            <a:off x="8412480" y="4434840"/>
            <a:ext cx="2971800" cy="320040"/>
          </a:xfrm>
          <a:prstGeom prst="rect">
            <a:avLst/>
          </a:prstGeom>
          <a:noFill/>
          <a:ln/>
        </p:spPr>
        <p:txBody>
          <a:bodyPr wrap="square" lIns="0" tIns="0" rIns="0" bIns="0" rtlCol="0" anchor="t"/>
          <a:lstStyle/>
          <a:p>
            <a:pPr indent="0" marL="0">
              <a:buNone/>
            </a:pPr>
            <a:r>
              <a:rPr lang="en-US" sz="1300" b="1" dirty="0">
                <a:solidFill>
                  <a:schemeClr val="accent1"/>
                </a:solidFill>
              </a:rPr>
              <a:t>US-04 · US-05</a:t>
            </a:r>
            <a:endParaRPr lang="en-US" sz="1300" dirty="0"/>
          </a:p>
        </p:txBody>
      </p:sp>
      <p:sp>
        <p:nvSpPr>
          <p:cNvPr id="25" name="carte-besoins-transverses"/>
          <p:cNvSpPr/>
          <p:nvPr/>
        </p:nvSpPr>
        <p:spPr>
          <a:xfrm>
            <a:off x="548640" y="5303520"/>
            <a:ext cx="11064240" cy="777240"/>
          </a:xfrm>
          <a:prstGeom prst="roundRect">
            <a:avLst>
              <a:gd name="adj" fmla="val 14118"/>
            </a:avLst>
          </a:prstGeom>
          <a:solidFill>
            <a:schemeClr val="bg2"/>
          </a:solidFill>
          <a:ln/>
        </p:spPr>
      </p:sp>
      <p:sp>
        <p:nvSpPr>
          <p:cNvPr id="26" name="icone-transverse-cercle"/>
          <p:cNvSpPr/>
          <p:nvPr/>
        </p:nvSpPr>
        <p:spPr>
          <a:xfrm>
            <a:off x="777240" y="5422392"/>
            <a:ext cx="548640" cy="548640"/>
          </a:xfrm>
          <a:prstGeom prst="ellipse">
            <a:avLst/>
          </a:prstGeom>
          <a:solidFill>
            <a:schemeClr val="accent5"/>
          </a:solidFill>
          <a:ln/>
        </p:spPr>
      </p:sp>
      <p:pic>
        <p:nvPicPr>
          <p:cNvPr id="27" name="icone-transverse" descr="preencoded.png">    </p:cNvPr>
          <p:cNvPicPr>
            <a:picLocks noChangeAspect="1"/>
          </p:cNvPicPr>
          <p:nvPr/>
        </p:nvPicPr>
        <p:blipFill>
          <a:blip r:embed="rId4"/>
          <a:stretch>
            <a:fillRect/>
          </a:stretch>
        </p:blipFill>
        <p:spPr>
          <a:xfrm>
            <a:off x="908914" y="5554066"/>
            <a:ext cx="285293" cy="285293"/>
          </a:xfrm>
          <a:prstGeom prst="rect">
            <a:avLst/>
          </a:prstGeom>
        </p:spPr>
      </p:pic>
      <p:sp>
        <p:nvSpPr>
          <p:cNvPr id="28" name="Text 22"/>
          <p:cNvSpPr txBox="1"/>
          <p:nvPr/>
        </p:nvSpPr>
        <p:spPr>
          <a:xfrm>
            <a:off x="1508760" y="5303520"/>
            <a:ext cx="9875520" cy="777240"/>
          </a:xfrm>
          <a:prstGeom prst="rect">
            <a:avLst/>
          </a:prstGeom>
          <a:noFill/>
          <a:ln/>
        </p:spPr>
        <p:txBody>
          <a:bodyPr wrap="square" lIns="0" tIns="0" rIns="0" bIns="0" rtlCol="0" anchor="ctr"/>
          <a:lstStyle/>
          <a:p>
            <a:pPr indent="0" marL="0">
              <a:buNone/>
            </a:pPr>
            <a:r>
              <a:rPr lang="en-US" sz="1500" b="1" dirty="0">
                <a:solidFill>
                  <a:schemeClr val="tx2"/>
                </a:solidFill>
              </a:rPr>
              <a:t>Et aussi : </a:t>
            </a:r>
            <a:pPr indent="0" marL="0">
              <a:buNone/>
            </a:pPr>
            <a:r>
              <a:rPr lang="en-US" sz="1500" dirty="0">
                <a:solidFill>
                  <a:schemeClr val="tx1"/>
                </a:solidFill>
              </a:rPr>
              <a:t>rejouer le pipeline sur une date passée (US-06) · être alerté si un traitement échoue (US-07)</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LA MISSION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Objectif : un MVP data en deux jours</a:t>
            </a:r>
            <a:endParaRPr lang="en-US" sz="3600" dirty="0"/>
          </a:p>
        </p:txBody>
      </p:sp>
      <p:sp>
        <p:nvSpPr>
          <p:cNvPr id="4" name="carte-objectif-0"/>
          <p:cNvSpPr/>
          <p:nvPr/>
        </p:nvSpPr>
        <p:spPr>
          <a:xfrm>
            <a:off x="548640" y="1691640"/>
            <a:ext cx="5440680" cy="1463040"/>
          </a:xfrm>
          <a:prstGeom prst="roundRect">
            <a:avLst>
              <a:gd name="adj" fmla="val 7500"/>
            </a:avLst>
          </a:prstGeom>
          <a:solidFill>
            <a:schemeClr val="bg2"/>
          </a:solidFill>
          <a:ln/>
        </p:spPr>
      </p:sp>
      <p:sp>
        <p:nvSpPr>
          <p:cNvPr id="5" name="pastille-1"/>
          <p:cNvSpPr/>
          <p:nvPr/>
        </p:nvSpPr>
        <p:spPr>
          <a:xfrm>
            <a:off x="822960" y="2057400"/>
            <a:ext cx="731520" cy="731520"/>
          </a:xfrm>
          <a:prstGeom prst="ellipse">
            <a:avLst/>
          </a:prstGeom>
          <a:solidFill>
            <a:schemeClr val="accent1"/>
          </a:solidFill>
          <a:ln/>
        </p:spPr>
      </p:sp>
      <p:sp>
        <p:nvSpPr>
          <p:cNvPr id="6" name="Text 4"/>
          <p:cNvSpPr txBox="1"/>
          <p:nvPr/>
        </p:nvSpPr>
        <p:spPr>
          <a:xfrm>
            <a:off x="822960" y="20574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1783080" y="1965960"/>
            <a:ext cx="4023360" cy="411480"/>
          </a:xfrm>
          <a:prstGeom prst="rect">
            <a:avLst/>
          </a:prstGeom>
          <a:noFill/>
          <a:ln/>
        </p:spPr>
        <p:txBody>
          <a:bodyPr wrap="square" lIns="0" tIns="0" rIns="0" bIns="0" rtlCol="0" anchor="t"/>
          <a:lstStyle/>
          <a:p>
            <a:pPr indent="0" marL="0">
              <a:buNone/>
            </a:pPr>
            <a:r>
              <a:rPr lang="en-US" sz="2200" b="1" dirty="0">
                <a:solidFill>
                  <a:schemeClr val="tx2"/>
                </a:solidFill>
              </a:rPr>
              <a:t>Ingérer</a:t>
            </a:r>
            <a:endParaRPr lang="en-US" sz="2200" dirty="0"/>
          </a:p>
        </p:txBody>
      </p:sp>
      <p:sp>
        <p:nvSpPr>
          <p:cNvPr id="8" name="Text 6"/>
          <p:cNvSpPr txBox="1"/>
          <p:nvPr/>
        </p:nvSpPr>
        <p:spPr>
          <a:xfrm>
            <a:off x="1783080" y="2404872"/>
            <a:ext cx="4023360" cy="640080"/>
          </a:xfrm>
          <a:prstGeom prst="rect">
            <a:avLst/>
          </a:prstGeom>
          <a:noFill/>
          <a:ln/>
        </p:spPr>
        <p:txBody>
          <a:bodyPr wrap="square" lIns="0" tIns="0" rIns="0" bIns="0" rtlCol="0" anchor="t"/>
          <a:lstStyle/>
          <a:p>
            <a:pPr indent="0" marL="0">
              <a:buNone/>
            </a:pPr>
            <a:r>
              <a:rPr lang="en-US" sz="1500" dirty="0">
                <a:solidFill>
                  <a:schemeClr val="tx1"/>
                </a:solidFill>
              </a:rPr>
              <a:t>les données de l'API backoffice, automatiquement et chaque jour</a:t>
            </a:r>
            <a:endParaRPr lang="en-US" sz="1500" dirty="0"/>
          </a:p>
        </p:txBody>
      </p:sp>
      <p:sp>
        <p:nvSpPr>
          <p:cNvPr id="9" name="carte-objectif-1"/>
          <p:cNvSpPr/>
          <p:nvPr/>
        </p:nvSpPr>
        <p:spPr>
          <a:xfrm>
            <a:off x="6172200" y="1691640"/>
            <a:ext cx="5440680" cy="1463040"/>
          </a:xfrm>
          <a:prstGeom prst="roundRect">
            <a:avLst>
              <a:gd name="adj" fmla="val 7500"/>
            </a:avLst>
          </a:prstGeom>
          <a:solidFill>
            <a:schemeClr val="bg2"/>
          </a:solidFill>
          <a:ln/>
        </p:spPr>
      </p:sp>
      <p:sp>
        <p:nvSpPr>
          <p:cNvPr id="10" name="pastille-2"/>
          <p:cNvSpPr/>
          <p:nvPr/>
        </p:nvSpPr>
        <p:spPr>
          <a:xfrm>
            <a:off x="6446520" y="2057400"/>
            <a:ext cx="731520" cy="731520"/>
          </a:xfrm>
          <a:prstGeom prst="ellipse">
            <a:avLst/>
          </a:prstGeom>
          <a:solidFill>
            <a:schemeClr val="accent1"/>
          </a:solidFill>
          <a:ln/>
        </p:spPr>
      </p:sp>
      <p:sp>
        <p:nvSpPr>
          <p:cNvPr id="11" name="Text 9"/>
          <p:cNvSpPr txBox="1"/>
          <p:nvPr/>
        </p:nvSpPr>
        <p:spPr>
          <a:xfrm>
            <a:off x="6446520" y="20574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7406640" y="1965960"/>
            <a:ext cx="4023360" cy="411480"/>
          </a:xfrm>
          <a:prstGeom prst="rect">
            <a:avLst/>
          </a:prstGeom>
          <a:noFill/>
          <a:ln/>
        </p:spPr>
        <p:txBody>
          <a:bodyPr wrap="square" lIns="0" tIns="0" rIns="0" bIns="0" rtlCol="0" anchor="t"/>
          <a:lstStyle/>
          <a:p>
            <a:pPr indent="0" marL="0">
              <a:buNone/>
            </a:pPr>
            <a:r>
              <a:rPr lang="en-US" sz="2200" b="1" dirty="0">
                <a:solidFill>
                  <a:schemeClr val="tx2"/>
                </a:solidFill>
              </a:rPr>
              <a:t>Stocker</a:t>
            </a:r>
            <a:endParaRPr lang="en-US" sz="2200" dirty="0"/>
          </a:p>
        </p:txBody>
      </p:sp>
      <p:sp>
        <p:nvSpPr>
          <p:cNvPr id="13" name="Text 11"/>
          <p:cNvSpPr txBox="1"/>
          <p:nvPr/>
        </p:nvSpPr>
        <p:spPr>
          <a:xfrm>
            <a:off x="7406640" y="2404872"/>
            <a:ext cx="4023360" cy="640080"/>
          </a:xfrm>
          <a:prstGeom prst="rect">
            <a:avLst/>
          </a:prstGeom>
          <a:noFill/>
          <a:ln/>
        </p:spPr>
        <p:txBody>
          <a:bodyPr wrap="square" lIns="0" tIns="0" rIns="0" bIns="0" rtlCol="0" anchor="t"/>
          <a:lstStyle/>
          <a:p>
            <a:pPr indent="0" marL="0">
              <a:buNone/>
            </a:pPr>
            <a:r>
              <a:rPr lang="en-US" sz="1500" dirty="0">
                <a:solidFill>
                  <a:schemeClr val="tx1"/>
                </a:solidFill>
              </a:rPr>
              <a:t>dans un data lake brut puis un Data Warehouse dimensionnel</a:t>
            </a:r>
            <a:endParaRPr lang="en-US" sz="1500" dirty="0"/>
          </a:p>
        </p:txBody>
      </p:sp>
      <p:sp>
        <p:nvSpPr>
          <p:cNvPr id="14" name="carte-objectif-2"/>
          <p:cNvSpPr/>
          <p:nvPr/>
        </p:nvSpPr>
        <p:spPr>
          <a:xfrm>
            <a:off x="548640" y="3383280"/>
            <a:ext cx="5440680" cy="1463040"/>
          </a:xfrm>
          <a:prstGeom prst="roundRect">
            <a:avLst>
              <a:gd name="adj" fmla="val 7500"/>
            </a:avLst>
          </a:prstGeom>
          <a:solidFill>
            <a:schemeClr val="bg2"/>
          </a:solidFill>
          <a:ln/>
        </p:spPr>
      </p:sp>
      <p:sp>
        <p:nvSpPr>
          <p:cNvPr id="15" name="pastille-3"/>
          <p:cNvSpPr/>
          <p:nvPr/>
        </p:nvSpPr>
        <p:spPr>
          <a:xfrm>
            <a:off x="822960" y="3749040"/>
            <a:ext cx="731520" cy="731520"/>
          </a:xfrm>
          <a:prstGeom prst="ellipse">
            <a:avLst/>
          </a:prstGeom>
          <a:solidFill>
            <a:schemeClr val="accent1"/>
          </a:solidFill>
          <a:ln/>
        </p:spPr>
      </p:sp>
      <p:sp>
        <p:nvSpPr>
          <p:cNvPr id="16" name="Text 14"/>
          <p:cNvSpPr txBox="1"/>
          <p:nvPr/>
        </p:nvSpPr>
        <p:spPr>
          <a:xfrm>
            <a:off x="822960" y="37490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3</a:t>
            </a:r>
            <a:endParaRPr lang="en-US" sz="2600" dirty="0"/>
          </a:p>
        </p:txBody>
      </p:sp>
      <p:sp>
        <p:nvSpPr>
          <p:cNvPr id="17" name="Text 15"/>
          <p:cNvSpPr txBox="1"/>
          <p:nvPr/>
        </p:nvSpPr>
        <p:spPr>
          <a:xfrm>
            <a:off x="1783080" y="3657600"/>
            <a:ext cx="4023360" cy="411480"/>
          </a:xfrm>
          <a:prstGeom prst="rect">
            <a:avLst/>
          </a:prstGeom>
          <a:noFill/>
          <a:ln/>
        </p:spPr>
        <p:txBody>
          <a:bodyPr wrap="square" lIns="0" tIns="0" rIns="0" bIns="0" rtlCol="0" anchor="t"/>
          <a:lstStyle/>
          <a:p>
            <a:pPr indent="0" marL="0">
              <a:buNone/>
            </a:pPr>
            <a:r>
              <a:rPr lang="en-US" sz="2200" b="1" dirty="0">
                <a:solidFill>
                  <a:schemeClr val="tx2"/>
                </a:solidFill>
              </a:rPr>
              <a:t>Exposer</a:t>
            </a:r>
            <a:endParaRPr lang="en-US" sz="2200" dirty="0"/>
          </a:p>
        </p:txBody>
      </p:sp>
      <p:sp>
        <p:nvSpPr>
          <p:cNvPr id="18" name="Text 16"/>
          <p:cNvSpPr txBox="1"/>
          <p:nvPr/>
        </p:nvSpPr>
        <p:spPr>
          <a:xfrm>
            <a:off x="1783080" y="4096512"/>
            <a:ext cx="4023360" cy="640080"/>
          </a:xfrm>
          <a:prstGeom prst="rect">
            <a:avLst/>
          </a:prstGeom>
          <a:noFill/>
          <a:ln/>
        </p:spPr>
        <p:txBody>
          <a:bodyPr wrap="square" lIns="0" tIns="0" rIns="0" bIns="0" rtlCol="0" anchor="t"/>
          <a:lstStyle/>
          <a:p>
            <a:pPr indent="0" marL="0">
              <a:buNone/>
            </a:pPr>
            <a:r>
              <a:rPr lang="en-US" sz="1500" dirty="0">
                <a:solidFill>
                  <a:schemeClr val="tx1"/>
                </a:solidFill>
              </a:rPr>
              <a:t>les KPIs métier dans des dashboards Metabase lisibles</a:t>
            </a:r>
            <a:endParaRPr lang="en-US" sz="1500" dirty="0"/>
          </a:p>
        </p:txBody>
      </p:sp>
      <p:sp>
        <p:nvSpPr>
          <p:cNvPr id="19" name="carte-objectif-3"/>
          <p:cNvSpPr/>
          <p:nvPr/>
        </p:nvSpPr>
        <p:spPr>
          <a:xfrm>
            <a:off x="6172200" y="3383280"/>
            <a:ext cx="5440680" cy="1463040"/>
          </a:xfrm>
          <a:prstGeom prst="roundRect">
            <a:avLst>
              <a:gd name="adj" fmla="val 7500"/>
            </a:avLst>
          </a:prstGeom>
          <a:solidFill>
            <a:schemeClr val="bg2"/>
          </a:solidFill>
          <a:ln/>
        </p:spPr>
      </p:sp>
      <p:sp>
        <p:nvSpPr>
          <p:cNvPr id="20" name="pastille-4"/>
          <p:cNvSpPr/>
          <p:nvPr/>
        </p:nvSpPr>
        <p:spPr>
          <a:xfrm>
            <a:off x="6446520" y="3749040"/>
            <a:ext cx="731520" cy="731520"/>
          </a:xfrm>
          <a:prstGeom prst="ellipse">
            <a:avLst/>
          </a:prstGeom>
          <a:solidFill>
            <a:schemeClr val="accent1"/>
          </a:solidFill>
          <a:ln/>
        </p:spPr>
      </p:sp>
      <p:sp>
        <p:nvSpPr>
          <p:cNvPr id="21" name="Text 19"/>
          <p:cNvSpPr txBox="1"/>
          <p:nvPr/>
        </p:nvSpPr>
        <p:spPr>
          <a:xfrm>
            <a:off x="6446520" y="37490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4</a:t>
            </a:r>
            <a:endParaRPr lang="en-US" sz="2600" dirty="0"/>
          </a:p>
        </p:txBody>
      </p:sp>
      <p:sp>
        <p:nvSpPr>
          <p:cNvPr id="22" name="Text 20"/>
          <p:cNvSpPr txBox="1"/>
          <p:nvPr/>
        </p:nvSpPr>
        <p:spPr>
          <a:xfrm>
            <a:off x="7406640" y="3657600"/>
            <a:ext cx="4023360" cy="411480"/>
          </a:xfrm>
          <a:prstGeom prst="rect">
            <a:avLst/>
          </a:prstGeom>
          <a:noFill/>
          <a:ln/>
        </p:spPr>
        <p:txBody>
          <a:bodyPr wrap="square" lIns="0" tIns="0" rIns="0" bIns="0" rtlCol="0" anchor="t"/>
          <a:lstStyle/>
          <a:p>
            <a:pPr indent="0" marL="0">
              <a:buNone/>
            </a:pPr>
            <a:r>
              <a:rPr lang="en-US" sz="2200" b="1" dirty="0">
                <a:solidFill>
                  <a:schemeClr val="tx2"/>
                </a:solidFill>
              </a:rPr>
              <a:t>Détecter</a:t>
            </a:r>
            <a:endParaRPr lang="en-US" sz="2200" dirty="0"/>
          </a:p>
        </p:txBody>
      </p:sp>
      <p:sp>
        <p:nvSpPr>
          <p:cNvPr id="23" name="Text 21"/>
          <p:cNvSpPr txBox="1"/>
          <p:nvPr/>
        </p:nvSpPr>
        <p:spPr>
          <a:xfrm>
            <a:off x="7406640" y="4096512"/>
            <a:ext cx="4023360" cy="640080"/>
          </a:xfrm>
          <a:prstGeom prst="rect">
            <a:avLst/>
          </a:prstGeom>
          <a:noFill/>
          <a:ln/>
        </p:spPr>
        <p:txBody>
          <a:bodyPr wrap="square" lIns="0" tIns="0" rIns="0" bIns="0" rtlCol="0" anchor="t"/>
          <a:lstStyle/>
          <a:p>
            <a:pPr indent="0" marL="0">
              <a:buNone/>
            </a:pPr>
            <a:r>
              <a:rPr lang="en-US" sz="1500" dirty="0">
                <a:solidFill>
                  <a:schemeClr val="tx1"/>
                </a:solidFill>
              </a:rPr>
              <a:t>les anomalies commerciales et alerter les équipes</a:t>
            </a:r>
            <a:endParaRPr lang="en-US" sz="1500" dirty="0"/>
          </a:p>
        </p:txBody>
      </p:sp>
      <p:sp>
        <p:nvSpPr>
          <p:cNvPr id="24" name="Text 22"/>
          <p:cNvSpPr txBox="1"/>
          <p:nvPr/>
        </p:nvSpPr>
        <p:spPr>
          <a:xfrm>
            <a:off x="548640" y="5303520"/>
            <a:ext cx="2743200" cy="457200"/>
          </a:xfrm>
          <a:prstGeom prst="rect">
            <a:avLst/>
          </a:prstGeom>
          <a:noFill/>
          <a:ln/>
        </p:spPr>
        <p:txBody>
          <a:bodyPr wrap="square" lIns="0" tIns="0" rIns="0" bIns="0" rtlCol="0" anchor="ctr"/>
          <a:lstStyle/>
          <a:p>
            <a:pPr indent="0" marL="0">
              <a:buNone/>
            </a:pPr>
            <a:r>
              <a:rPr lang="en-US" sz="1500" b="1" dirty="0">
                <a:solidFill>
                  <a:schemeClr val="accent5"/>
                </a:solidFill>
              </a:rPr>
              <a:t>Exigences transverses</a:t>
            </a:r>
            <a:endParaRPr lang="en-US" sz="1500" dirty="0"/>
          </a:p>
        </p:txBody>
      </p:sp>
      <p:sp>
        <p:nvSpPr>
          <p:cNvPr id="25" name="exigence-Idempotent"/>
          <p:cNvSpPr/>
          <p:nvPr/>
        </p:nvSpPr>
        <p:spPr>
          <a:xfrm>
            <a:off x="3063240" y="5303520"/>
            <a:ext cx="1508760" cy="457200"/>
          </a:xfrm>
          <a:prstGeom prst="roundRect">
            <a:avLst>
              <a:gd name="adj" fmla="val 50000"/>
            </a:avLst>
          </a:prstGeom>
          <a:solidFill>
            <a:schemeClr val="tx2"/>
          </a:solidFill>
          <a:ln/>
        </p:spPr>
      </p:sp>
      <p:sp>
        <p:nvSpPr>
          <p:cNvPr id="26" name="Text 24"/>
          <p:cNvSpPr txBox="1"/>
          <p:nvPr/>
        </p:nvSpPr>
        <p:spPr>
          <a:xfrm>
            <a:off x="3063240" y="5303520"/>
            <a:ext cx="1508760" cy="457200"/>
          </a:xfrm>
          <a:prstGeom prst="rect">
            <a:avLst/>
          </a:prstGeom>
          <a:noFill/>
          <a:ln/>
        </p:spPr>
        <p:txBody>
          <a:bodyPr wrap="square" lIns="0" tIns="0" rIns="0" bIns="0" rtlCol="0" anchor="ctr"/>
          <a:lstStyle/>
          <a:p>
            <a:pPr algn="ctr" indent="0" marL="0">
              <a:buNone/>
            </a:pPr>
            <a:r>
              <a:rPr lang="en-US" sz="1400" dirty="0">
                <a:solidFill>
                  <a:schemeClr val="bg1"/>
                </a:solidFill>
              </a:rPr>
              <a:t>Idempotent</a:t>
            </a:r>
            <a:endParaRPr lang="en-US" sz="1400" dirty="0"/>
          </a:p>
        </p:txBody>
      </p:sp>
      <p:sp>
        <p:nvSpPr>
          <p:cNvPr id="27" name="exigence-Testé"/>
          <p:cNvSpPr/>
          <p:nvPr/>
        </p:nvSpPr>
        <p:spPr>
          <a:xfrm>
            <a:off x="4754880" y="5303520"/>
            <a:ext cx="982980" cy="457200"/>
          </a:xfrm>
          <a:prstGeom prst="roundRect">
            <a:avLst>
              <a:gd name="adj" fmla="val 50000"/>
            </a:avLst>
          </a:prstGeom>
          <a:solidFill>
            <a:schemeClr val="tx2"/>
          </a:solidFill>
          <a:ln/>
        </p:spPr>
      </p:sp>
      <p:sp>
        <p:nvSpPr>
          <p:cNvPr id="28" name="Text 26"/>
          <p:cNvSpPr txBox="1"/>
          <p:nvPr/>
        </p:nvSpPr>
        <p:spPr>
          <a:xfrm>
            <a:off x="4754880" y="5303520"/>
            <a:ext cx="982980" cy="457200"/>
          </a:xfrm>
          <a:prstGeom prst="rect">
            <a:avLst/>
          </a:prstGeom>
          <a:noFill/>
          <a:ln/>
        </p:spPr>
        <p:txBody>
          <a:bodyPr wrap="square" lIns="0" tIns="0" rIns="0" bIns="0" rtlCol="0" anchor="ctr"/>
          <a:lstStyle/>
          <a:p>
            <a:pPr algn="ctr" indent="0" marL="0">
              <a:buNone/>
            </a:pPr>
            <a:r>
              <a:rPr lang="en-US" sz="1400" dirty="0">
                <a:solidFill>
                  <a:schemeClr val="bg1"/>
                </a:solidFill>
              </a:rPr>
              <a:t>Testé</a:t>
            </a:r>
            <a:endParaRPr lang="en-US" sz="1400" dirty="0"/>
          </a:p>
        </p:txBody>
      </p:sp>
      <p:sp>
        <p:nvSpPr>
          <p:cNvPr id="29" name="exigence-Reproductible"/>
          <p:cNvSpPr/>
          <p:nvPr/>
        </p:nvSpPr>
        <p:spPr>
          <a:xfrm>
            <a:off x="5920740" y="5303520"/>
            <a:ext cx="1824228" cy="457200"/>
          </a:xfrm>
          <a:prstGeom prst="roundRect">
            <a:avLst>
              <a:gd name="adj" fmla="val 50000"/>
            </a:avLst>
          </a:prstGeom>
          <a:solidFill>
            <a:schemeClr val="tx2"/>
          </a:solidFill>
          <a:ln/>
        </p:spPr>
      </p:sp>
      <p:sp>
        <p:nvSpPr>
          <p:cNvPr id="30" name="Text 28"/>
          <p:cNvSpPr txBox="1"/>
          <p:nvPr/>
        </p:nvSpPr>
        <p:spPr>
          <a:xfrm>
            <a:off x="5920740" y="5303520"/>
            <a:ext cx="1824228" cy="457200"/>
          </a:xfrm>
          <a:prstGeom prst="rect">
            <a:avLst/>
          </a:prstGeom>
          <a:noFill/>
          <a:ln/>
        </p:spPr>
        <p:txBody>
          <a:bodyPr wrap="square" lIns="0" tIns="0" rIns="0" bIns="0" rtlCol="0" anchor="ctr"/>
          <a:lstStyle/>
          <a:p>
            <a:pPr algn="ctr" indent="0" marL="0">
              <a:buNone/>
            </a:pPr>
            <a:r>
              <a:rPr lang="en-US" sz="1400" dirty="0">
                <a:solidFill>
                  <a:schemeClr val="bg1"/>
                </a:solidFill>
              </a:rPr>
              <a:t>Reproductible</a:t>
            </a:r>
            <a:endParaRPr lang="en-US" sz="1400" dirty="0"/>
          </a:p>
        </p:txBody>
      </p:sp>
      <p:sp>
        <p:nvSpPr>
          <p:cNvPr id="31" name="exigence-Sans secret dans le code"/>
          <p:cNvSpPr/>
          <p:nvPr/>
        </p:nvSpPr>
        <p:spPr>
          <a:xfrm>
            <a:off x="7927848" y="5303520"/>
            <a:ext cx="2980944" cy="457200"/>
          </a:xfrm>
          <a:prstGeom prst="roundRect">
            <a:avLst>
              <a:gd name="adj" fmla="val 50000"/>
            </a:avLst>
          </a:prstGeom>
          <a:solidFill>
            <a:schemeClr val="tx2"/>
          </a:solidFill>
          <a:ln/>
        </p:spPr>
      </p:sp>
      <p:sp>
        <p:nvSpPr>
          <p:cNvPr id="32" name="Text 30"/>
          <p:cNvSpPr txBox="1"/>
          <p:nvPr/>
        </p:nvSpPr>
        <p:spPr>
          <a:xfrm>
            <a:off x="7927848" y="5303520"/>
            <a:ext cx="2980944" cy="457200"/>
          </a:xfrm>
          <a:prstGeom prst="rect">
            <a:avLst/>
          </a:prstGeom>
          <a:noFill/>
          <a:ln/>
        </p:spPr>
        <p:txBody>
          <a:bodyPr wrap="square" lIns="0" tIns="0" rIns="0" bIns="0" rtlCol="0" anchor="ctr"/>
          <a:lstStyle/>
          <a:p>
            <a:pPr algn="ctr" indent="0" marL="0">
              <a:buNone/>
            </a:pPr>
            <a:r>
              <a:rPr lang="en-US" sz="1400" dirty="0">
                <a:solidFill>
                  <a:schemeClr val="bg1"/>
                </a:solidFill>
              </a:rPr>
              <a:t>Sans secret dans le code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3657600" cy="1371600"/>
          </a:xfrm>
          <a:prstGeom prst="rect">
            <a:avLst/>
          </a:prstGeom>
          <a:noFill/>
          <a:ln/>
        </p:spPr>
        <p:txBody>
          <a:bodyPr wrap="square" lIns="0" tIns="0" rIns="0" bIns="0" rtlCol="0" anchor="b"/>
          <a:lstStyle/>
          <a:p>
            <a:pPr indent="0" marL="0">
              <a:buNone/>
            </a:pPr>
            <a:r>
              <a:rPr lang="en-US" sz="8800" b="1" dirty="0">
                <a:solidFill>
                  <a:schemeClr val="accent1"/>
                </a:solidFill>
              </a:rPr>
              <a:t>02</a:t>
            </a:r>
            <a:endParaRPr lang="en-US" sz="8800" dirty="0"/>
          </a:p>
        </p:txBody>
      </p:sp>
      <p:sp>
        <p:nvSpPr>
          <p:cNvPr id="3" name="Text 0"/>
          <p:cNvSpPr/>
          <p:nvPr>
            <p:ph idx="101" type="title" hasCustomPrompt="1"/>
          </p:nvPr>
        </p:nvSpPr>
        <p:spPr>
          <a:xfrm>
            <a:off x="731520" y="2880360"/>
            <a:ext cx="7498080" cy="914400"/>
          </a:xfrm>
          <a:prstGeom prst="rect">
            <a:avLst/>
          </a:prstGeom>
          <a:noFill/>
          <a:ln/>
        </p:spPr>
        <p:txBody>
          <a:bodyPr wrap="square" lIns="0" tIns="0" rIns="0" bIns="0" rtlCol="0" anchor="t"/>
          <a:lstStyle/>
          <a:p>
            <a:pPr algn="l" indent="0" marL="0">
              <a:buNone/>
            </a:pPr>
            <a:r>
              <a:rPr lang="en-US" sz="4800" b="1" dirty="0">
                <a:solidFill>
                  <a:schemeClr val="bg1"/>
                </a:solidFill>
              </a:rPr>
              <a:t>Solution</a:t>
            </a:r>
            <a:endParaRPr lang="en-US" sz="4800" dirty="0"/>
          </a:p>
        </p:txBody>
      </p:sp>
      <p:sp>
        <p:nvSpPr>
          <p:cNvPr id="4" name="Text 0"/>
          <p:cNvSpPr/>
          <p:nvPr>
            <p:ph idx="102" type="body" hasCustomPrompt="1"/>
          </p:nvPr>
        </p:nvSpPr>
        <p:spPr>
          <a:xfrm>
            <a:off x="731520" y="3931920"/>
            <a:ext cx="7498080" cy="1097280"/>
          </a:xfrm>
          <a:prstGeom prst="rect">
            <a:avLst/>
          </a:prstGeom>
          <a:noFill/>
          <a:ln/>
        </p:spPr>
        <p:txBody>
          <a:bodyPr wrap="square" lIns="0" tIns="0" rIns="0" bIns="0" rtlCol="0" anchor="t"/>
          <a:lstStyle/>
          <a:p>
            <a:pPr indent="0" marL="0">
              <a:buNone/>
            </a:pPr>
            <a:r>
              <a:rPr lang="en-US" sz="2000" dirty="0">
                <a:solidFill>
                  <a:schemeClr val="accent6"/>
                </a:solidFill>
              </a:rPr>
              <a:t>Une chaîne ELT orchestrée par Airflow, de l'API jusqu'au dashboard</a:t>
            </a:r>
            <a:endParaRPr lang="en-US" sz="2000" dirty="0"/>
          </a:p>
        </p:txBody>
      </p:sp>
      <p:sp>
        <p:nvSpPr>
          <p:cNvPr id="5" name="icone-section-cercle"/>
          <p:cNvSpPr/>
          <p:nvPr/>
        </p:nvSpPr>
        <p:spPr>
          <a:xfrm>
            <a:off x="8778240" y="1828800"/>
            <a:ext cx="2651760" cy="2651760"/>
          </a:xfrm>
          <a:prstGeom prst="ellipse">
            <a:avLst/>
          </a:prstGeom>
          <a:solidFill>
            <a:schemeClr val="accent4"/>
          </a:solidFill>
          <a:ln/>
        </p:spPr>
      </p:sp>
      <p:pic>
        <p:nvPicPr>
          <p:cNvPr id="6" name="icone-section" descr="preencoded.png">    </p:cNvPr>
          <p:cNvPicPr>
            <a:picLocks noChangeAspect="1"/>
          </p:cNvPicPr>
          <p:nvPr/>
        </p:nvPicPr>
        <p:blipFill>
          <a:blip r:embed="rId1"/>
          <a:stretch>
            <a:fillRect/>
          </a:stretch>
        </p:blipFill>
        <p:spPr>
          <a:xfrm>
            <a:off x="9414662" y="2465222"/>
            <a:ext cx="1378915" cy="13789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ARCHITECTURE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Architecture : de l'API au dashboard</a:t>
            </a:r>
            <a:endParaRPr lang="en-US" sz="3600" dirty="0"/>
          </a:p>
        </p:txBody>
      </p:sp>
      <p:sp>
        <p:nvSpPr>
          <p:cNvPr id="4" name="bloc-API Marketplace"/>
          <p:cNvSpPr/>
          <p:nvPr/>
        </p:nvSpPr>
        <p:spPr>
          <a:xfrm>
            <a:off x="548640" y="1828800"/>
            <a:ext cx="1965960" cy="2377440"/>
          </a:xfrm>
          <a:prstGeom prst="roundRect">
            <a:avLst>
              <a:gd name="adj" fmla="val 5581"/>
            </a:avLst>
          </a:prstGeom>
          <a:solidFill>
            <a:schemeClr val="bg2"/>
          </a:solidFill>
          <a:ln/>
        </p:spPr>
      </p:sp>
      <p:sp>
        <p:nvSpPr>
          <p:cNvPr id="5" name="icone-API Marketplace-cercle"/>
          <p:cNvSpPr/>
          <p:nvPr/>
        </p:nvSpPr>
        <p:spPr>
          <a:xfrm>
            <a:off x="1165860" y="2103120"/>
            <a:ext cx="731520" cy="731520"/>
          </a:xfrm>
          <a:prstGeom prst="ellipse">
            <a:avLst/>
          </a:prstGeom>
          <a:solidFill>
            <a:schemeClr val="accent5"/>
          </a:solidFill>
          <a:ln/>
        </p:spPr>
      </p:sp>
      <p:pic>
        <p:nvPicPr>
          <p:cNvPr id="6" name="icone-API Marketplace" descr="preencoded.png">    </p:cNvPr>
          <p:cNvPicPr>
            <a:picLocks noChangeAspect="1"/>
          </p:cNvPicPr>
          <p:nvPr/>
        </p:nvPicPr>
        <p:blipFill>
          <a:blip r:embed="rId1"/>
          <a:stretch>
            <a:fillRect/>
          </a:stretch>
        </p:blipFill>
        <p:spPr>
          <a:xfrm>
            <a:off x="1341425" y="2278685"/>
            <a:ext cx="380390" cy="380390"/>
          </a:xfrm>
          <a:prstGeom prst="rect">
            <a:avLst/>
          </a:prstGeom>
        </p:spPr>
      </p:pic>
      <p:sp>
        <p:nvSpPr>
          <p:cNvPr id="7" name="Text 4"/>
          <p:cNvSpPr txBox="1"/>
          <p:nvPr/>
        </p:nvSpPr>
        <p:spPr>
          <a:xfrm>
            <a:off x="685800" y="297180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API Marketplace</a:t>
            </a:r>
            <a:endParaRPr lang="en-US" sz="1700" dirty="0"/>
          </a:p>
        </p:txBody>
      </p:sp>
      <p:sp>
        <p:nvSpPr>
          <p:cNvPr id="8" name="Text 5"/>
          <p:cNvSpPr txBox="1"/>
          <p:nvPr/>
        </p:nvSpPr>
        <p:spPr>
          <a:xfrm>
            <a:off x="685800" y="33832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Flask simulée, Bearer token, données déterministes</a:t>
            </a:r>
            <a:endParaRPr lang="en-US" sz="1300" dirty="0"/>
          </a:p>
        </p:txBody>
      </p:sp>
      <p:sp>
        <p:nvSpPr>
          <p:cNvPr id="9" name="fleche-0"/>
          <p:cNvSpPr/>
          <p:nvPr/>
        </p:nvSpPr>
        <p:spPr>
          <a:xfrm>
            <a:off x="2551176" y="3017520"/>
            <a:ext cx="235915" cy="914"/>
          </a:xfrm>
          <a:prstGeom prst="line">
            <a:avLst/>
          </a:prstGeom>
          <a:noFill/>
          <a:ln w="19050">
            <a:solidFill>
              <a:schemeClr val="accent5"/>
            </a:solidFill>
            <a:prstDash val="solid"/>
            <a:tailEnd type="triangle"/>
          </a:ln>
        </p:spPr>
      </p:sp>
      <p:sp>
        <p:nvSpPr>
          <p:cNvPr id="10" name="bloc-Airflow 3.1.8"/>
          <p:cNvSpPr/>
          <p:nvPr/>
        </p:nvSpPr>
        <p:spPr>
          <a:xfrm>
            <a:off x="2823667" y="1828800"/>
            <a:ext cx="1965960" cy="2377440"/>
          </a:xfrm>
          <a:prstGeom prst="roundRect">
            <a:avLst>
              <a:gd name="adj" fmla="val 5581"/>
            </a:avLst>
          </a:prstGeom>
          <a:solidFill>
            <a:schemeClr val="bg2"/>
          </a:solidFill>
          <a:ln/>
        </p:spPr>
      </p:sp>
      <p:sp>
        <p:nvSpPr>
          <p:cNvPr id="11" name="icone-Airflow 3.1.8-cercle"/>
          <p:cNvSpPr/>
          <p:nvPr/>
        </p:nvSpPr>
        <p:spPr>
          <a:xfrm>
            <a:off x="3440887" y="2103120"/>
            <a:ext cx="731520" cy="731520"/>
          </a:xfrm>
          <a:prstGeom prst="ellipse">
            <a:avLst/>
          </a:prstGeom>
          <a:solidFill>
            <a:schemeClr val="accent4"/>
          </a:solidFill>
          <a:ln/>
        </p:spPr>
      </p:sp>
      <p:pic>
        <p:nvPicPr>
          <p:cNvPr id="12" name="icone-Airflow 3.1.8" descr="preencoded.png">    </p:cNvPr>
          <p:cNvPicPr>
            <a:picLocks noChangeAspect="1"/>
          </p:cNvPicPr>
          <p:nvPr/>
        </p:nvPicPr>
        <p:blipFill>
          <a:blip r:embed="rId2"/>
          <a:stretch>
            <a:fillRect/>
          </a:stretch>
        </p:blipFill>
        <p:spPr>
          <a:xfrm>
            <a:off x="3616452" y="2278685"/>
            <a:ext cx="380390" cy="380390"/>
          </a:xfrm>
          <a:prstGeom prst="rect">
            <a:avLst/>
          </a:prstGeom>
        </p:spPr>
      </p:pic>
      <p:sp>
        <p:nvSpPr>
          <p:cNvPr id="13" name="Text 9"/>
          <p:cNvSpPr txBox="1"/>
          <p:nvPr/>
        </p:nvSpPr>
        <p:spPr>
          <a:xfrm>
            <a:off x="2960827" y="297180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Airflow 3.1.8</a:t>
            </a:r>
            <a:endParaRPr lang="en-US" sz="1700" dirty="0"/>
          </a:p>
        </p:txBody>
      </p:sp>
      <p:sp>
        <p:nvSpPr>
          <p:cNvPr id="14" name="Text 10"/>
          <p:cNvSpPr txBox="1"/>
          <p:nvPr/>
        </p:nvSpPr>
        <p:spPr>
          <a:xfrm>
            <a:off x="2960827" y="33832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Custom Hook et 3 DAGs, exécuteur Celery</a:t>
            </a:r>
            <a:endParaRPr lang="en-US" sz="1300" dirty="0"/>
          </a:p>
        </p:txBody>
      </p:sp>
      <p:sp>
        <p:nvSpPr>
          <p:cNvPr id="15" name="fleche-1"/>
          <p:cNvSpPr/>
          <p:nvPr/>
        </p:nvSpPr>
        <p:spPr>
          <a:xfrm>
            <a:off x="4826203" y="3017520"/>
            <a:ext cx="235915" cy="914"/>
          </a:xfrm>
          <a:prstGeom prst="line">
            <a:avLst/>
          </a:prstGeom>
          <a:noFill/>
          <a:ln w="19050">
            <a:solidFill>
              <a:schemeClr val="accent5"/>
            </a:solidFill>
            <a:prstDash val="solid"/>
            <a:tailEnd type="triangle"/>
          </a:ln>
        </p:spPr>
      </p:sp>
      <p:sp>
        <p:nvSpPr>
          <p:cNvPr id="16" name="bloc-MinIO"/>
          <p:cNvSpPr/>
          <p:nvPr/>
        </p:nvSpPr>
        <p:spPr>
          <a:xfrm>
            <a:off x="5098694" y="1828800"/>
            <a:ext cx="1965960" cy="2377440"/>
          </a:xfrm>
          <a:prstGeom prst="roundRect">
            <a:avLst>
              <a:gd name="adj" fmla="val 5581"/>
            </a:avLst>
          </a:prstGeom>
          <a:solidFill>
            <a:schemeClr val="bg2"/>
          </a:solidFill>
          <a:ln/>
        </p:spPr>
      </p:sp>
      <p:sp>
        <p:nvSpPr>
          <p:cNvPr id="17" name="icone-MinIO-cercle"/>
          <p:cNvSpPr/>
          <p:nvPr/>
        </p:nvSpPr>
        <p:spPr>
          <a:xfrm>
            <a:off x="5715914" y="2103120"/>
            <a:ext cx="731520" cy="731520"/>
          </a:xfrm>
          <a:prstGeom prst="ellipse">
            <a:avLst/>
          </a:prstGeom>
          <a:solidFill>
            <a:schemeClr val="accent3"/>
          </a:solidFill>
          <a:ln/>
        </p:spPr>
      </p:sp>
      <p:pic>
        <p:nvPicPr>
          <p:cNvPr id="18" name="icone-MinIO" descr="preencoded.png">    </p:cNvPr>
          <p:cNvPicPr>
            <a:picLocks noChangeAspect="1"/>
          </p:cNvPicPr>
          <p:nvPr/>
        </p:nvPicPr>
        <p:blipFill>
          <a:blip r:embed="rId3"/>
          <a:stretch>
            <a:fillRect/>
          </a:stretch>
        </p:blipFill>
        <p:spPr>
          <a:xfrm>
            <a:off x="5891479" y="2278685"/>
            <a:ext cx="380390" cy="380390"/>
          </a:xfrm>
          <a:prstGeom prst="rect">
            <a:avLst/>
          </a:prstGeom>
        </p:spPr>
      </p:pic>
      <p:sp>
        <p:nvSpPr>
          <p:cNvPr id="19" name="Text 14"/>
          <p:cNvSpPr txBox="1"/>
          <p:nvPr/>
        </p:nvSpPr>
        <p:spPr>
          <a:xfrm>
            <a:off x="5235854" y="297180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MinIO</a:t>
            </a:r>
            <a:endParaRPr lang="en-US" sz="1700" dirty="0"/>
          </a:p>
        </p:txBody>
      </p:sp>
      <p:sp>
        <p:nvSpPr>
          <p:cNvPr id="20" name="Text 15"/>
          <p:cNvSpPr txBox="1"/>
          <p:nvPr/>
        </p:nvSpPr>
        <p:spPr>
          <a:xfrm>
            <a:off x="5235854" y="33832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Data lake brut : JSON partitionné par dt=</a:t>
            </a:r>
            <a:endParaRPr lang="en-US" sz="1300" dirty="0"/>
          </a:p>
        </p:txBody>
      </p:sp>
      <p:sp>
        <p:nvSpPr>
          <p:cNvPr id="21" name="fleche-2"/>
          <p:cNvSpPr/>
          <p:nvPr/>
        </p:nvSpPr>
        <p:spPr>
          <a:xfrm>
            <a:off x="7101230" y="3017520"/>
            <a:ext cx="235915" cy="914"/>
          </a:xfrm>
          <a:prstGeom prst="line">
            <a:avLst/>
          </a:prstGeom>
          <a:noFill/>
          <a:ln w="19050">
            <a:solidFill>
              <a:schemeClr val="accent5"/>
            </a:solidFill>
            <a:prstDash val="solid"/>
            <a:tailEnd type="triangle"/>
          </a:ln>
        </p:spPr>
      </p:sp>
      <p:sp>
        <p:nvSpPr>
          <p:cNvPr id="22" name="bloc-PostgreSQL 18"/>
          <p:cNvSpPr/>
          <p:nvPr/>
        </p:nvSpPr>
        <p:spPr>
          <a:xfrm>
            <a:off x="7373722" y="1828800"/>
            <a:ext cx="1965960" cy="2377440"/>
          </a:xfrm>
          <a:prstGeom prst="roundRect">
            <a:avLst>
              <a:gd name="adj" fmla="val 5581"/>
            </a:avLst>
          </a:prstGeom>
          <a:solidFill>
            <a:schemeClr val="bg2"/>
          </a:solidFill>
          <a:ln/>
        </p:spPr>
      </p:sp>
      <p:sp>
        <p:nvSpPr>
          <p:cNvPr id="23" name="icone-PostgreSQL 18-cercle"/>
          <p:cNvSpPr/>
          <p:nvPr/>
        </p:nvSpPr>
        <p:spPr>
          <a:xfrm>
            <a:off x="7990942" y="2103120"/>
            <a:ext cx="731520" cy="731520"/>
          </a:xfrm>
          <a:prstGeom prst="ellipse">
            <a:avLst/>
          </a:prstGeom>
          <a:solidFill>
            <a:schemeClr val="accent2"/>
          </a:solidFill>
          <a:ln/>
        </p:spPr>
      </p:sp>
      <p:pic>
        <p:nvPicPr>
          <p:cNvPr id="24" name="icone-PostgreSQL 18" descr="preencoded.png">    </p:cNvPr>
          <p:cNvPicPr>
            <a:picLocks noChangeAspect="1"/>
          </p:cNvPicPr>
          <p:nvPr/>
        </p:nvPicPr>
        <p:blipFill>
          <a:blip r:embed="rId4"/>
          <a:stretch>
            <a:fillRect/>
          </a:stretch>
        </p:blipFill>
        <p:spPr>
          <a:xfrm>
            <a:off x="8166506" y="2278685"/>
            <a:ext cx="380390" cy="380390"/>
          </a:xfrm>
          <a:prstGeom prst="rect">
            <a:avLst/>
          </a:prstGeom>
        </p:spPr>
      </p:pic>
      <p:sp>
        <p:nvSpPr>
          <p:cNvPr id="25" name="Text 19"/>
          <p:cNvSpPr txBox="1"/>
          <p:nvPr/>
        </p:nvSpPr>
        <p:spPr>
          <a:xfrm>
            <a:off x="7510882" y="297180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PostgreSQL 18</a:t>
            </a:r>
            <a:endParaRPr lang="en-US" sz="1700" dirty="0"/>
          </a:p>
        </p:txBody>
      </p:sp>
      <p:sp>
        <p:nvSpPr>
          <p:cNvPr id="26" name="Text 20"/>
          <p:cNvSpPr txBox="1"/>
          <p:nvPr/>
        </p:nvSpPr>
        <p:spPr>
          <a:xfrm>
            <a:off x="7510882" y="33832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staging, dwh (étoile) et analytics</a:t>
            </a:r>
            <a:endParaRPr lang="en-US" sz="1300" dirty="0"/>
          </a:p>
        </p:txBody>
      </p:sp>
      <p:sp>
        <p:nvSpPr>
          <p:cNvPr id="27" name="fleche-3"/>
          <p:cNvSpPr/>
          <p:nvPr/>
        </p:nvSpPr>
        <p:spPr>
          <a:xfrm>
            <a:off x="9376258" y="3017520"/>
            <a:ext cx="235915" cy="914"/>
          </a:xfrm>
          <a:prstGeom prst="line">
            <a:avLst/>
          </a:prstGeom>
          <a:noFill/>
          <a:ln w="19050">
            <a:solidFill>
              <a:schemeClr val="accent5"/>
            </a:solidFill>
            <a:prstDash val="solid"/>
            <a:tailEnd type="triangle"/>
          </a:ln>
        </p:spPr>
      </p:sp>
      <p:sp>
        <p:nvSpPr>
          <p:cNvPr id="28" name="bloc-Metabase"/>
          <p:cNvSpPr/>
          <p:nvPr/>
        </p:nvSpPr>
        <p:spPr>
          <a:xfrm>
            <a:off x="9648749" y="1828800"/>
            <a:ext cx="1965960" cy="2377440"/>
          </a:xfrm>
          <a:prstGeom prst="roundRect">
            <a:avLst>
              <a:gd name="adj" fmla="val 5581"/>
            </a:avLst>
          </a:prstGeom>
          <a:solidFill>
            <a:schemeClr val="bg2"/>
          </a:solidFill>
          <a:ln/>
        </p:spPr>
      </p:sp>
      <p:sp>
        <p:nvSpPr>
          <p:cNvPr id="29" name="icone-Metabase-cercle"/>
          <p:cNvSpPr/>
          <p:nvPr/>
        </p:nvSpPr>
        <p:spPr>
          <a:xfrm>
            <a:off x="10265969" y="2103120"/>
            <a:ext cx="731520" cy="731520"/>
          </a:xfrm>
          <a:prstGeom prst="ellipse">
            <a:avLst/>
          </a:prstGeom>
          <a:solidFill>
            <a:schemeClr val="accent1"/>
          </a:solidFill>
          <a:ln/>
        </p:spPr>
      </p:sp>
      <p:pic>
        <p:nvPicPr>
          <p:cNvPr id="30" name="icone-Metabase" descr="preencoded.png">    </p:cNvPr>
          <p:cNvPicPr>
            <a:picLocks noChangeAspect="1"/>
          </p:cNvPicPr>
          <p:nvPr/>
        </p:nvPicPr>
        <p:blipFill>
          <a:blip r:embed="rId5"/>
          <a:stretch>
            <a:fillRect/>
          </a:stretch>
        </p:blipFill>
        <p:spPr>
          <a:xfrm>
            <a:off x="10441534" y="2278685"/>
            <a:ext cx="380390" cy="380390"/>
          </a:xfrm>
          <a:prstGeom prst="rect">
            <a:avLst/>
          </a:prstGeom>
        </p:spPr>
      </p:pic>
      <p:sp>
        <p:nvSpPr>
          <p:cNvPr id="31" name="Text 24"/>
          <p:cNvSpPr txBox="1"/>
          <p:nvPr/>
        </p:nvSpPr>
        <p:spPr>
          <a:xfrm>
            <a:off x="9785909" y="297180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Metabase</a:t>
            </a:r>
            <a:endParaRPr lang="en-US" sz="1700" dirty="0"/>
          </a:p>
        </p:txBody>
      </p:sp>
      <p:sp>
        <p:nvSpPr>
          <p:cNvPr id="32" name="Text 25"/>
          <p:cNvSpPr txBox="1"/>
          <p:nvPr/>
        </p:nvSpPr>
        <p:spPr>
          <a:xfrm>
            <a:off x="9785909" y="33832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5 dashboards métier</a:t>
            </a:r>
            <a:endParaRPr lang="en-US" sz="1300" dirty="0"/>
          </a:p>
        </p:txBody>
      </p:sp>
      <p:sp>
        <p:nvSpPr>
          <p:cNvPr id="33" name="bloc-supervision"/>
          <p:cNvSpPr/>
          <p:nvPr/>
        </p:nvSpPr>
        <p:spPr>
          <a:xfrm>
            <a:off x="2816352" y="4892040"/>
            <a:ext cx="6583680" cy="1143000"/>
          </a:xfrm>
          <a:prstGeom prst="roundRect">
            <a:avLst>
              <a:gd name="adj" fmla="val 9600"/>
            </a:avLst>
          </a:prstGeom>
          <a:solidFill>
            <a:schemeClr val="tx2"/>
          </a:solidFill>
          <a:ln/>
        </p:spPr>
      </p:sp>
      <p:sp>
        <p:nvSpPr>
          <p:cNvPr id="34" name="icone-supervision-cercle"/>
          <p:cNvSpPr/>
          <p:nvPr/>
        </p:nvSpPr>
        <p:spPr>
          <a:xfrm>
            <a:off x="3063240" y="5074920"/>
            <a:ext cx="777240" cy="777240"/>
          </a:xfrm>
          <a:prstGeom prst="ellipse">
            <a:avLst/>
          </a:prstGeom>
          <a:solidFill>
            <a:schemeClr val="accent1"/>
          </a:solidFill>
          <a:ln/>
        </p:spPr>
      </p:sp>
      <p:pic>
        <p:nvPicPr>
          <p:cNvPr id="35" name="icone-supervision" descr="preencoded.png">    </p:cNvPr>
          <p:cNvPicPr>
            <a:picLocks noChangeAspect="1"/>
          </p:cNvPicPr>
          <p:nvPr/>
        </p:nvPicPr>
        <p:blipFill>
          <a:blip r:embed="rId6"/>
          <a:stretch>
            <a:fillRect/>
          </a:stretch>
        </p:blipFill>
        <p:spPr>
          <a:xfrm>
            <a:off x="3249778" y="5261458"/>
            <a:ext cx="404165" cy="404165"/>
          </a:xfrm>
          <a:prstGeom prst="rect">
            <a:avLst/>
          </a:prstGeom>
        </p:spPr>
      </p:pic>
      <p:sp>
        <p:nvSpPr>
          <p:cNvPr id="36" name="Text 28"/>
          <p:cNvSpPr txBox="1"/>
          <p:nvPr/>
        </p:nvSpPr>
        <p:spPr>
          <a:xfrm>
            <a:off x="4069080" y="5029200"/>
            <a:ext cx="5212080" cy="365760"/>
          </a:xfrm>
          <a:prstGeom prst="rect">
            <a:avLst/>
          </a:prstGeom>
          <a:noFill/>
          <a:ln/>
        </p:spPr>
        <p:txBody>
          <a:bodyPr wrap="square" lIns="0" tIns="0" rIns="0" bIns="0" rtlCol="0" anchor="t"/>
          <a:lstStyle/>
          <a:p>
            <a:pPr indent="0" marL="0">
              <a:buNone/>
            </a:pPr>
            <a:r>
              <a:rPr lang="en-US" sz="1700" b="1" dirty="0">
                <a:solidFill>
                  <a:schemeClr val="bg1"/>
                </a:solidFill>
              </a:rPr>
              <a:t>Supervision : Prometheus et Grafana</a:t>
            </a:r>
            <a:endParaRPr lang="en-US" sz="1700" dirty="0"/>
          </a:p>
        </p:txBody>
      </p:sp>
      <p:sp>
        <p:nvSpPr>
          <p:cNvPr id="37" name="Text 29"/>
          <p:cNvSpPr txBox="1"/>
          <p:nvPr/>
        </p:nvSpPr>
        <p:spPr>
          <a:xfrm>
            <a:off x="4069080" y="5422392"/>
            <a:ext cx="5212080" cy="457200"/>
          </a:xfrm>
          <a:prstGeom prst="rect">
            <a:avLst/>
          </a:prstGeom>
          <a:noFill/>
          <a:ln/>
        </p:spPr>
        <p:txBody>
          <a:bodyPr wrap="square" lIns="0" tIns="0" rIns="0" bIns="0" rtlCol="0" anchor="t"/>
          <a:lstStyle/>
          <a:p>
            <a:pPr indent="0" marL="0">
              <a:buNone/>
            </a:pPr>
            <a:r>
              <a:rPr lang="en-US" sz="1400" dirty="0">
                <a:solidFill>
                  <a:schemeClr val="accent6"/>
                </a:solidFill>
              </a:rPr>
              <a:t>Métriques StatsD d'Airflow et métriques PostgreSQL du DWH</a:t>
            </a:r>
            <a:endParaRPr lang="en-US" sz="1400" dirty="0"/>
          </a:p>
        </p:txBody>
      </p:sp>
      <p:sp>
        <p:nvSpPr>
          <p:cNvPr id="38" name="fleche-metriques-airflow"/>
          <p:cNvSpPr/>
          <p:nvPr/>
        </p:nvSpPr>
        <p:spPr>
          <a:xfrm flipH="1">
            <a:off x="3657600" y="4251960"/>
            <a:ext cx="149047" cy="621792"/>
          </a:xfrm>
          <a:prstGeom prst="line">
            <a:avLst/>
          </a:prstGeom>
          <a:noFill/>
          <a:ln w="19050">
            <a:solidFill>
              <a:schemeClr val="accent5"/>
            </a:solidFill>
            <a:prstDash val="dash"/>
            <a:tailEnd type="triangle"/>
          </a:ln>
        </p:spPr>
      </p:sp>
      <p:sp>
        <p:nvSpPr>
          <p:cNvPr id="39" name="fleche-metriques-pg"/>
          <p:cNvSpPr/>
          <p:nvPr/>
        </p:nvSpPr>
        <p:spPr>
          <a:xfrm>
            <a:off x="8356702" y="4251960"/>
            <a:ext cx="147218" cy="621792"/>
          </a:xfrm>
          <a:prstGeom prst="line">
            <a:avLst/>
          </a:prstGeom>
          <a:noFill/>
          <a:ln w="19050">
            <a:solidFill>
              <a:schemeClr val="accent5"/>
            </a:solidFill>
            <a:prstDash val="dash"/>
            <a:tailEnd type="triangle"/>
          </a:ln>
        </p:spPr>
      </p:sp>
      <p:sp>
        <p:nvSpPr>
          <p:cNvPr id="40" name="Text 32"/>
          <p:cNvSpPr txBox="1"/>
          <p:nvPr/>
        </p:nvSpPr>
        <p:spPr>
          <a:xfrm>
            <a:off x="9692640" y="5120640"/>
            <a:ext cx="1920240" cy="731520"/>
          </a:xfrm>
          <a:prstGeom prst="rect">
            <a:avLst/>
          </a:prstGeom>
          <a:noFill/>
          <a:ln/>
        </p:spPr>
        <p:txBody>
          <a:bodyPr wrap="square" lIns="0" tIns="0" rIns="0" bIns="0" rtlCol="0" anchor="ctr"/>
          <a:lstStyle/>
          <a:p>
            <a:pPr algn="r" indent="0" marL="0">
              <a:buNone/>
            </a:pPr>
            <a:r>
              <a:rPr lang="en-US" sz="1500" b="1" dirty="0">
                <a:solidFill>
                  <a:schemeClr val="accent1"/>
                </a:solidFill>
              </a:rPr>
              <a:t>17 services Docker Compose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MODÉLISATION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Modèle dimensionnel en étoile</a:t>
            </a:r>
            <a:endParaRPr lang="en-US" sz="3600" dirty="0"/>
          </a:p>
        </p:txBody>
      </p:sp>
      <p:sp>
        <p:nvSpPr>
          <p:cNvPr id="4" name="table-faits"/>
          <p:cNvSpPr/>
          <p:nvPr/>
        </p:nvSpPr>
        <p:spPr>
          <a:xfrm>
            <a:off x="2194560" y="3017520"/>
            <a:ext cx="2468880" cy="1371600"/>
          </a:xfrm>
          <a:prstGeom prst="roundRect">
            <a:avLst>
              <a:gd name="adj" fmla="val 8000"/>
            </a:avLst>
          </a:prstGeom>
          <a:solidFill>
            <a:schemeClr val="accent1"/>
          </a:solidFill>
          <a:ln/>
          <a:effectLst>
            <a:outerShdw sx="100000" sy="100000" kx="0" ky="0" algn="bl" rotWithShape="0" blurRad="101600" dist="25400" dir="5400000">
              <a:srgbClr val="2B1B3D">
                <a:alpha val="12000"/>
              </a:srgbClr>
            </a:outerShdw>
          </a:effectLst>
        </p:spPr>
      </p:sp>
      <p:sp>
        <p:nvSpPr>
          <p:cNvPr id="5" name="Text 3"/>
          <p:cNvSpPr txBox="1"/>
          <p:nvPr/>
        </p:nvSpPr>
        <p:spPr>
          <a:xfrm>
            <a:off x="2194560" y="3200400"/>
            <a:ext cx="2468880" cy="411480"/>
          </a:xfrm>
          <a:prstGeom prst="rect">
            <a:avLst/>
          </a:prstGeom>
          <a:noFill/>
          <a:ln/>
        </p:spPr>
        <p:txBody>
          <a:bodyPr wrap="square" lIns="0" tIns="0" rIns="0" bIns="0" rtlCol="0" anchor="t"/>
          <a:lstStyle/>
          <a:p>
            <a:pPr algn="ctr" indent="0" marL="0">
              <a:buNone/>
            </a:pPr>
            <a:r>
              <a:rPr lang="en-US" sz="2000" b="1" dirty="0">
                <a:solidFill>
                  <a:schemeClr val="bg1"/>
                </a:solidFill>
              </a:rPr>
              <a:t>fact_orders</a:t>
            </a:r>
            <a:endParaRPr lang="en-US" sz="2000" dirty="0"/>
          </a:p>
        </p:txBody>
      </p:sp>
      <p:sp>
        <p:nvSpPr>
          <p:cNvPr id="6" name="Text 4"/>
          <p:cNvSpPr txBox="1"/>
          <p:nvPr/>
        </p:nvSpPr>
        <p:spPr>
          <a:xfrm>
            <a:off x="2194560" y="3657600"/>
            <a:ext cx="2468880" cy="320040"/>
          </a:xfrm>
          <a:prstGeom prst="rect">
            <a:avLst/>
          </a:prstGeom>
          <a:noFill/>
          <a:ln/>
        </p:spPr>
        <p:txBody>
          <a:bodyPr wrap="square" lIns="0" tIns="0" rIns="0" bIns="0" rtlCol="0" anchor="t"/>
          <a:lstStyle/>
          <a:p>
            <a:pPr algn="ctr" indent="0" marL="0">
              <a:buNone/>
            </a:pPr>
            <a:r>
              <a:rPr lang="en-US" sz="1300" dirty="0">
                <a:solidFill>
                  <a:schemeClr val="bg1"/>
                </a:solidFill>
              </a:rPr>
              <a:t>1 ligne = 1 commande</a:t>
            </a:r>
            <a:endParaRPr lang="en-US" sz="1300" dirty="0"/>
          </a:p>
        </p:txBody>
      </p:sp>
      <p:sp>
        <p:nvSpPr>
          <p:cNvPr id="7" name="Text 5"/>
          <p:cNvSpPr txBox="1"/>
          <p:nvPr/>
        </p:nvSpPr>
        <p:spPr>
          <a:xfrm>
            <a:off x="2194560" y="3950208"/>
            <a:ext cx="2468880" cy="320040"/>
          </a:xfrm>
          <a:prstGeom prst="rect">
            <a:avLst/>
          </a:prstGeom>
          <a:noFill/>
          <a:ln/>
        </p:spPr>
        <p:txBody>
          <a:bodyPr wrap="square" lIns="0" tIns="0" rIns="0" bIns="0" rtlCol="0" anchor="t"/>
          <a:lstStyle/>
          <a:p>
            <a:pPr algn="ctr" indent="0" marL="0">
              <a:buNone/>
            </a:pPr>
            <a:r>
              <a:rPr lang="en-US" sz="1200" dirty="0">
                <a:solidFill>
                  <a:schemeClr val="bg1"/>
                </a:solidFill>
              </a:rPr>
              <a:t>montant · commission · statut</a:t>
            </a:r>
            <a:endParaRPr lang="en-US" sz="1200" dirty="0"/>
          </a:p>
        </p:txBody>
      </p:sp>
      <p:sp>
        <p:nvSpPr>
          <p:cNvPr id="8" name="lien-dim_date"/>
          <p:cNvSpPr/>
          <p:nvPr/>
        </p:nvSpPr>
        <p:spPr>
          <a:xfrm>
            <a:off x="2194560" y="2468880"/>
            <a:ext cx="365760" cy="548640"/>
          </a:xfrm>
          <a:prstGeom prst="line">
            <a:avLst/>
          </a:prstGeom>
          <a:noFill/>
          <a:ln w="19050">
            <a:solidFill>
              <a:schemeClr val="accent2"/>
            </a:solidFill>
            <a:prstDash val="solid"/>
          </a:ln>
        </p:spPr>
      </p:sp>
      <p:sp>
        <p:nvSpPr>
          <p:cNvPr id="9" name="dimension-dim_date"/>
          <p:cNvSpPr/>
          <p:nvPr/>
        </p:nvSpPr>
        <p:spPr>
          <a:xfrm>
            <a:off x="548640" y="1691640"/>
            <a:ext cx="2011680" cy="777240"/>
          </a:xfrm>
          <a:prstGeom prst="roundRect">
            <a:avLst>
              <a:gd name="adj" fmla="val 14118"/>
            </a:avLst>
          </a:prstGeom>
          <a:solidFill>
            <a:schemeClr val="accent2"/>
          </a:solidFill>
          <a:ln/>
          <a:effectLst>
            <a:outerShdw sx="100000" sy="100000" kx="0" ky="0" algn="bl" rotWithShape="0" blurRad="101600" dist="25400" dir="5400000">
              <a:srgbClr val="2B1B3D">
                <a:alpha val="12000"/>
              </a:srgbClr>
            </a:outerShdw>
          </a:effectLst>
        </p:spPr>
      </p:sp>
      <p:sp>
        <p:nvSpPr>
          <p:cNvPr id="10" name="Text 8"/>
          <p:cNvSpPr txBox="1"/>
          <p:nvPr/>
        </p:nvSpPr>
        <p:spPr>
          <a:xfrm>
            <a:off x="548640" y="1691640"/>
            <a:ext cx="2011680" cy="777240"/>
          </a:xfrm>
          <a:prstGeom prst="rect">
            <a:avLst/>
          </a:prstGeom>
          <a:noFill/>
          <a:ln/>
        </p:spPr>
        <p:txBody>
          <a:bodyPr wrap="square" lIns="0" tIns="0" rIns="0" bIns="0" rtlCol="0" anchor="ctr"/>
          <a:lstStyle/>
          <a:p>
            <a:pPr algn="ctr" indent="0" marL="0">
              <a:buNone/>
            </a:pPr>
            <a:r>
              <a:rPr lang="en-US" sz="1700" b="1" dirty="0">
                <a:solidFill>
                  <a:schemeClr val="bg1"/>
                </a:solidFill>
              </a:rPr>
              <a:t>dim_date</a:t>
            </a:r>
            <a:endParaRPr lang="en-US" sz="1700" dirty="0"/>
          </a:p>
        </p:txBody>
      </p:sp>
      <p:sp>
        <p:nvSpPr>
          <p:cNvPr id="11" name="lien-dim_seller"/>
          <p:cNvSpPr/>
          <p:nvPr/>
        </p:nvSpPr>
        <p:spPr>
          <a:xfrm flipV="1">
            <a:off x="4297680" y="2468880"/>
            <a:ext cx="365760" cy="548640"/>
          </a:xfrm>
          <a:prstGeom prst="line">
            <a:avLst/>
          </a:prstGeom>
          <a:noFill/>
          <a:ln w="19050">
            <a:solidFill>
              <a:schemeClr val="accent2"/>
            </a:solidFill>
            <a:prstDash val="solid"/>
          </a:ln>
        </p:spPr>
      </p:sp>
      <p:sp>
        <p:nvSpPr>
          <p:cNvPr id="12" name="dimension-dim_seller"/>
          <p:cNvSpPr/>
          <p:nvPr/>
        </p:nvSpPr>
        <p:spPr>
          <a:xfrm>
            <a:off x="4297680" y="1691640"/>
            <a:ext cx="2011680" cy="777240"/>
          </a:xfrm>
          <a:prstGeom prst="roundRect">
            <a:avLst>
              <a:gd name="adj" fmla="val 14118"/>
            </a:avLst>
          </a:prstGeom>
          <a:solidFill>
            <a:schemeClr val="accent2"/>
          </a:solidFill>
          <a:ln/>
          <a:effectLst>
            <a:outerShdw sx="100000" sy="100000" kx="0" ky="0" algn="bl" rotWithShape="0" blurRad="101600" dist="25400" dir="5400000">
              <a:srgbClr val="2B1B3D">
                <a:alpha val="12000"/>
              </a:srgbClr>
            </a:outerShdw>
          </a:effectLst>
        </p:spPr>
      </p:sp>
      <p:sp>
        <p:nvSpPr>
          <p:cNvPr id="13" name="Text 11"/>
          <p:cNvSpPr txBox="1"/>
          <p:nvPr/>
        </p:nvSpPr>
        <p:spPr>
          <a:xfrm>
            <a:off x="4297680" y="1691640"/>
            <a:ext cx="2011680" cy="777240"/>
          </a:xfrm>
          <a:prstGeom prst="rect">
            <a:avLst/>
          </a:prstGeom>
          <a:noFill/>
          <a:ln/>
        </p:spPr>
        <p:txBody>
          <a:bodyPr wrap="square" lIns="0" tIns="0" rIns="0" bIns="0" rtlCol="0" anchor="ctr"/>
          <a:lstStyle/>
          <a:p>
            <a:pPr algn="ctr" indent="0" marL="0">
              <a:buNone/>
            </a:pPr>
            <a:r>
              <a:rPr lang="en-US" sz="1700" b="1" dirty="0">
                <a:solidFill>
                  <a:schemeClr val="bg1"/>
                </a:solidFill>
              </a:rPr>
              <a:t>dim_seller</a:t>
            </a:r>
            <a:endParaRPr lang="en-US" sz="1700" dirty="0"/>
          </a:p>
        </p:txBody>
      </p:sp>
      <p:sp>
        <p:nvSpPr>
          <p:cNvPr id="14" name="lien-dim_product"/>
          <p:cNvSpPr/>
          <p:nvPr/>
        </p:nvSpPr>
        <p:spPr>
          <a:xfrm flipV="1">
            <a:off x="2194560" y="4389120"/>
            <a:ext cx="365760" cy="548640"/>
          </a:xfrm>
          <a:prstGeom prst="line">
            <a:avLst/>
          </a:prstGeom>
          <a:noFill/>
          <a:ln w="19050">
            <a:solidFill>
              <a:schemeClr val="accent2"/>
            </a:solidFill>
            <a:prstDash val="solid"/>
          </a:ln>
        </p:spPr>
      </p:sp>
      <p:sp>
        <p:nvSpPr>
          <p:cNvPr id="15" name="dimension-dim_product"/>
          <p:cNvSpPr/>
          <p:nvPr/>
        </p:nvSpPr>
        <p:spPr>
          <a:xfrm>
            <a:off x="548640" y="4937760"/>
            <a:ext cx="2011680" cy="777240"/>
          </a:xfrm>
          <a:prstGeom prst="roundRect">
            <a:avLst>
              <a:gd name="adj" fmla="val 14118"/>
            </a:avLst>
          </a:prstGeom>
          <a:solidFill>
            <a:schemeClr val="accent2"/>
          </a:solidFill>
          <a:ln/>
          <a:effectLst>
            <a:outerShdw sx="100000" sy="100000" kx="0" ky="0" algn="bl" rotWithShape="0" blurRad="101600" dist="25400" dir="5400000">
              <a:srgbClr val="2B1B3D">
                <a:alpha val="12000"/>
              </a:srgbClr>
            </a:outerShdw>
          </a:effectLst>
        </p:spPr>
      </p:sp>
      <p:sp>
        <p:nvSpPr>
          <p:cNvPr id="16" name="Text 14"/>
          <p:cNvSpPr txBox="1"/>
          <p:nvPr/>
        </p:nvSpPr>
        <p:spPr>
          <a:xfrm>
            <a:off x="548640" y="4937760"/>
            <a:ext cx="2011680" cy="777240"/>
          </a:xfrm>
          <a:prstGeom prst="rect">
            <a:avLst/>
          </a:prstGeom>
          <a:noFill/>
          <a:ln/>
        </p:spPr>
        <p:txBody>
          <a:bodyPr wrap="square" lIns="0" tIns="0" rIns="0" bIns="0" rtlCol="0" anchor="ctr"/>
          <a:lstStyle/>
          <a:p>
            <a:pPr algn="ctr" indent="0" marL="0">
              <a:buNone/>
            </a:pPr>
            <a:r>
              <a:rPr lang="en-US" sz="1700" b="1" dirty="0">
                <a:solidFill>
                  <a:schemeClr val="bg1"/>
                </a:solidFill>
              </a:rPr>
              <a:t>dim_product</a:t>
            </a:r>
            <a:endParaRPr lang="en-US" sz="1700" dirty="0"/>
          </a:p>
        </p:txBody>
      </p:sp>
      <p:sp>
        <p:nvSpPr>
          <p:cNvPr id="17" name="lien-dim_customer"/>
          <p:cNvSpPr/>
          <p:nvPr/>
        </p:nvSpPr>
        <p:spPr>
          <a:xfrm>
            <a:off x="4297680" y="4389120"/>
            <a:ext cx="365760" cy="548640"/>
          </a:xfrm>
          <a:prstGeom prst="line">
            <a:avLst/>
          </a:prstGeom>
          <a:noFill/>
          <a:ln w="19050">
            <a:solidFill>
              <a:schemeClr val="accent2"/>
            </a:solidFill>
            <a:prstDash val="solid"/>
          </a:ln>
        </p:spPr>
      </p:sp>
      <p:sp>
        <p:nvSpPr>
          <p:cNvPr id="18" name="dimension-dim_customer"/>
          <p:cNvSpPr/>
          <p:nvPr/>
        </p:nvSpPr>
        <p:spPr>
          <a:xfrm>
            <a:off x="4297680" y="4937760"/>
            <a:ext cx="2011680" cy="777240"/>
          </a:xfrm>
          <a:prstGeom prst="roundRect">
            <a:avLst>
              <a:gd name="adj" fmla="val 14118"/>
            </a:avLst>
          </a:prstGeom>
          <a:solidFill>
            <a:schemeClr val="accent2"/>
          </a:solidFill>
          <a:ln/>
          <a:effectLst>
            <a:outerShdw sx="100000" sy="100000" kx="0" ky="0" algn="bl" rotWithShape="0" blurRad="101600" dist="25400" dir="5400000">
              <a:srgbClr val="2B1B3D">
                <a:alpha val="12000"/>
              </a:srgbClr>
            </a:outerShdw>
          </a:effectLst>
        </p:spPr>
      </p:sp>
      <p:sp>
        <p:nvSpPr>
          <p:cNvPr id="19" name="Text 17"/>
          <p:cNvSpPr txBox="1"/>
          <p:nvPr/>
        </p:nvSpPr>
        <p:spPr>
          <a:xfrm>
            <a:off x="4297680" y="4937760"/>
            <a:ext cx="2011680" cy="777240"/>
          </a:xfrm>
          <a:prstGeom prst="rect">
            <a:avLst/>
          </a:prstGeom>
          <a:noFill/>
          <a:ln/>
        </p:spPr>
        <p:txBody>
          <a:bodyPr wrap="square" lIns="0" tIns="0" rIns="0" bIns="0" rtlCol="0" anchor="ctr"/>
          <a:lstStyle/>
          <a:p>
            <a:pPr algn="ctr" indent="0" marL="0">
              <a:buNone/>
            </a:pPr>
            <a:r>
              <a:rPr lang="en-US" sz="1700" b="1" dirty="0">
                <a:solidFill>
                  <a:schemeClr val="bg1"/>
                </a:solidFill>
              </a:rPr>
              <a:t>dim_customer</a:t>
            </a:r>
            <a:endParaRPr lang="en-US" sz="1700" dirty="0"/>
          </a:p>
        </p:txBody>
      </p:sp>
      <p:sp>
        <p:nvSpPr>
          <p:cNvPr id="20" name="carte-analytics"/>
          <p:cNvSpPr/>
          <p:nvPr/>
        </p:nvSpPr>
        <p:spPr>
          <a:xfrm>
            <a:off x="6903720" y="1691640"/>
            <a:ext cx="4709160" cy="2103120"/>
          </a:xfrm>
          <a:prstGeom prst="roundRect">
            <a:avLst>
              <a:gd name="adj" fmla="val 5217"/>
            </a:avLst>
          </a:prstGeom>
          <a:solidFill>
            <a:schemeClr val="bg2"/>
          </a:solidFill>
          <a:ln/>
        </p:spPr>
      </p:sp>
      <p:sp>
        <p:nvSpPr>
          <p:cNvPr id="21" name="Text 19"/>
          <p:cNvSpPr txBox="1"/>
          <p:nvPr/>
        </p:nvSpPr>
        <p:spPr>
          <a:xfrm>
            <a:off x="7178040" y="1874520"/>
            <a:ext cx="4206240" cy="365760"/>
          </a:xfrm>
          <a:prstGeom prst="rect">
            <a:avLst/>
          </a:prstGeom>
          <a:noFill/>
          <a:ln/>
        </p:spPr>
        <p:txBody>
          <a:bodyPr wrap="square" lIns="0" tIns="0" rIns="0" bIns="0" rtlCol="0" anchor="t"/>
          <a:lstStyle/>
          <a:p>
            <a:pPr indent="0" marL="0">
              <a:buNone/>
            </a:pPr>
            <a:r>
              <a:rPr lang="en-US" sz="1700" b="1" dirty="0">
                <a:solidFill>
                  <a:schemeClr val="tx2"/>
                </a:solidFill>
              </a:rPr>
              <a:t>Schéma analytics, lu par Metabase</a:t>
            </a:r>
            <a:endParaRPr lang="en-US" sz="1700" dirty="0"/>
          </a:p>
        </p:txBody>
      </p:sp>
      <p:sp>
        <p:nvSpPr>
          <p:cNvPr id="22" name="Text 20"/>
          <p:cNvSpPr txBox="1"/>
          <p:nvPr/>
        </p:nvSpPr>
        <p:spPr>
          <a:xfrm>
            <a:off x="7178040" y="2331720"/>
            <a:ext cx="4206240" cy="128016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daily_summary · seller_daily · category_daily</a:t>
            </a:r>
            <a:endParaRPr lang="en-US" sz="1500" dirty="0"/>
          </a:p>
          <a:p>
            <a:pPr indent="0" marL="0">
              <a:spcAft>
                <a:spcPts val="600"/>
              </a:spcAft>
              <a:buNone/>
            </a:pPr>
            <a:r>
              <a:rPr lang="en-US" sz="1500" dirty="0">
                <a:solidFill>
                  <a:schemeClr val="tx1"/>
                </a:solidFill>
              </a:rPr>
              <a:t>anomalies</a:t>
            </a:r>
            <a:endParaRPr lang="en-US" sz="1500" dirty="0"/>
          </a:p>
          <a:p>
            <a:pPr indent="0" marL="0">
              <a:spcAft>
                <a:spcPts val="600"/>
              </a:spcAft>
              <a:buNone/>
            </a:pPr>
            <a:r>
              <a:rPr lang="en-US" sz="1500" dirty="0">
                <a:solidFill>
                  <a:schemeClr val="tx1"/>
                </a:solidFill>
              </a:rPr>
              <a:t>refresh_log : versions des faits déjà calculées</a:t>
            </a:r>
            <a:endParaRPr lang="en-US" sz="1500" dirty="0"/>
          </a:p>
        </p:txBody>
      </p:sp>
      <p:sp>
        <p:nvSpPr>
          <p:cNvPr id="23" name="carte-regles"/>
          <p:cNvSpPr/>
          <p:nvPr/>
        </p:nvSpPr>
        <p:spPr>
          <a:xfrm>
            <a:off x="6903720" y="3977640"/>
            <a:ext cx="4709160" cy="2103120"/>
          </a:xfrm>
          <a:prstGeom prst="roundRect">
            <a:avLst>
              <a:gd name="adj" fmla="val 5217"/>
            </a:avLst>
          </a:prstGeom>
          <a:solidFill>
            <a:schemeClr val="bg2"/>
          </a:solidFill>
          <a:ln/>
        </p:spPr>
      </p:sp>
      <p:sp>
        <p:nvSpPr>
          <p:cNvPr id="24" name="Text 22"/>
          <p:cNvSpPr txBox="1"/>
          <p:nvPr/>
        </p:nvSpPr>
        <p:spPr>
          <a:xfrm>
            <a:off x="7178040" y="4160520"/>
            <a:ext cx="4206240" cy="365760"/>
          </a:xfrm>
          <a:prstGeom prst="rect">
            <a:avLst/>
          </a:prstGeom>
          <a:noFill/>
          <a:ln/>
        </p:spPr>
        <p:txBody>
          <a:bodyPr wrap="square" lIns="0" tIns="0" rIns="0" bIns="0" rtlCol="0" anchor="t"/>
          <a:lstStyle/>
          <a:p>
            <a:pPr indent="0" marL="0">
              <a:buNone/>
            </a:pPr>
            <a:r>
              <a:rPr lang="en-US" sz="1700" b="1" dirty="0">
                <a:solidFill>
                  <a:schemeClr val="tx2"/>
                </a:solidFill>
              </a:rPr>
              <a:t>Choix de modélisation</a:t>
            </a:r>
            <a:endParaRPr lang="en-US" sz="1700" dirty="0"/>
          </a:p>
        </p:txBody>
      </p:sp>
      <p:sp>
        <p:nvSpPr>
          <p:cNvPr id="25" name="Text 23"/>
          <p:cNvSpPr txBox="1"/>
          <p:nvPr/>
        </p:nvSpPr>
        <p:spPr>
          <a:xfrm>
            <a:off x="7178040" y="4617720"/>
            <a:ext cx="4251960" cy="1325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Dimensions SCD1 avec un membre UNKNOWN</a:t>
            </a:r>
            <a:endParaRPr lang="en-US" sz="1500" dirty="0"/>
          </a:p>
          <a:p>
            <a:pPr marL="342900" indent="-342900">
              <a:spcAft>
                <a:spcPts val="600"/>
              </a:spcAft>
              <a:buSzPct val="100000"/>
              <a:buChar char="•"/>
            </a:pPr>
            <a:r>
              <a:rPr lang="en-US" sz="1500" dirty="0">
                <a:solidFill>
                  <a:schemeClr val="tx1"/>
                </a:solidFill>
              </a:rPr>
              <a:t>Commission = 12 % des commandes completed</a:t>
            </a:r>
            <a:endParaRPr lang="en-US" sz="1500" dirty="0"/>
          </a:p>
          <a:p>
            <a:pPr marL="342900" indent="-342900">
              <a:spcAft>
                <a:spcPts val="600"/>
              </a:spcAft>
              <a:buSzPct val="100000"/>
              <a:buChar char="•"/>
            </a:pPr>
            <a:r>
              <a:rPr lang="en-US" sz="1500" dirty="0">
                <a:solidFill>
                  <a:schemeClr val="tx1"/>
                </a:solidFill>
              </a:rPr>
              <a:t>Montants en NUMERIC, clés étrangères partout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INGESTION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Pipeline d'ingestion quotidien</a:t>
            </a:r>
            <a:endParaRPr lang="en-US" sz="3600" dirty="0"/>
          </a:p>
        </p:txBody>
      </p:sp>
      <p:sp>
        <p:nvSpPr>
          <p:cNvPr id="4" name="etape-haut-0"/>
          <p:cNvSpPr/>
          <p:nvPr/>
        </p:nvSpPr>
        <p:spPr>
          <a:xfrm>
            <a:off x="548640" y="1828800"/>
            <a:ext cx="1920240" cy="1005840"/>
          </a:xfrm>
          <a:prstGeom prst="roundRect">
            <a:avLst>
              <a:gd name="adj" fmla="val 10909"/>
            </a:avLst>
          </a:prstGeom>
          <a:solidFill>
            <a:schemeClr val="accent4"/>
          </a:solidFill>
          <a:ln/>
        </p:spPr>
      </p:sp>
      <p:sp>
        <p:nvSpPr>
          <p:cNvPr id="5" name="Text 3"/>
          <p:cNvSpPr txBox="1"/>
          <p:nvPr/>
        </p:nvSpPr>
        <p:spPr>
          <a:xfrm>
            <a:off x="685800" y="1965960"/>
            <a:ext cx="1645920" cy="365760"/>
          </a:xfrm>
          <a:prstGeom prst="rect">
            <a:avLst/>
          </a:prstGeom>
          <a:noFill/>
          <a:ln/>
        </p:spPr>
        <p:txBody>
          <a:bodyPr wrap="square" lIns="0" tIns="0" rIns="0" bIns="0" rtlCol="0" anchor="t"/>
          <a:lstStyle/>
          <a:p>
            <a:pPr algn="ctr" indent="0" marL="0">
              <a:buNone/>
            </a:pPr>
            <a:r>
              <a:rPr lang="en-US" sz="1500" b="1" dirty="0">
                <a:solidFill>
                  <a:schemeClr val="bg1"/>
                </a:solidFill>
              </a:rPr>
              <a:t>Extraire</a:t>
            </a:r>
            <a:endParaRPr lang="en-US" sz="1500" dirty="0"/>
          </a:p>
        </p:txBody>
      </p:sp>
      <p:sp>
        <p:nvSpPr>
          <p:cNvPr id="6" name="Text 4"/>
          <p:cNvSpPr txBox="1"/>
          <p:nvPr/>
        </p:nvSpPr>
        <p:spPr>
          <a:xfrm>
            <a:off x="685800" y="2331720"/>
            <a:ext cx="1645920" cy="411480"/>
          </a:xfrm>
          <a:prstGeom prst="rect">
            <a:avLst/>
          </a:prstGeom>
          <a:noFill/>
          <a:ln/>
        </p:spPr>
        <p:txBody>
          <a:bodyPr wrap="square" lIns="0" tIns="0" rIns="0" bIns="0" rtlCol="0" anchor="t"/>
          <a:lstStyle/>
          <a:p>
            <a:pPr algn="ctr" indent="0" marL="0">
              <a:buNone/>
            </a:pPr>
            <a:r>
              <a:rPr lang="en-US" sz="1200" dirty="0">
                <a:solidFill>
                  <a:schemeClr val="bg1"/>
                </a:solidFill>
              </a:rPr>
              <a:t>API → MinIO raw/orders</a:t>
            </a:r>
            <a:endParaRPr lang="en-US" sz="1200" dirty="0"/>
          </a:p>
        </p:txBody>
      </p:sp>
      <p:sp>
        <p:nvSpPr>
          <p:cNvPr id="7" name="etape-haut-1"/>
          <p:cNvSpPr/>
          <p:nvPr/>
        </p:nvSpPr>
        <p:spPr>
          <a:xfrm>
            <a:off x="2834640" y="1828800"/>
            <a:ext cx="1920240" cy="1005840"/>
          </a:xfrm>
          <a:prstGeom prst="roundRect">
            <a:avLst>
              <a:gd name="adj" fmla="val 10909"/>
            </a:avLst>
          </a:prstGeom>
          <a:solidFill>
            <a:schemeClr val="accent4"/>
          </a:solidFill>
          <a:ln/>
        </p:spPr>
      </p:sp>
      <p:sp>
        <p:nvSpPr>
          <p:cNvPr id="8" name="Text 6"/>
          <p:cNvSpPr txBox="1"/>
          <p:nvPr/>
        </p:nvSpPr>
        <p:spPr>
          <a:xfrm>
            <a:off x="2971800" y="1965960"/>
            <a:ext cx="1645920" cy="365760"/>
          </a:xfrm>
          <a:prstGeom prst="rect">
            <a:avLst/>
          </a:prstGeom>
          <a:noFill/>
          <a:ln/>
        </p:spPr>
        <p:txBody>
          <a:bodyPr wrap="square" lIns="0" tIns="0" rIns="0" bIns="0" rtlCol="0" anchor="t"/>
          <a:lstStyle/>
          <a:p>
            <a:pPr algn="ctr" indent="0" marL="0">
              <a:buNone/>
            </a:pPr>
            <a:r>
              <a:rPr lang="en-US" sz="1500" b="1" dirty="0">
                <a:solidFill>
                  <a:schemeClr val="bg1"/>
                </a:solidFill>
              </a:rPr>
              <a:t>Charger</a:t>
            </a:r>
            <a:endParaRPr lang="en-US" sz="1500" dirty="0"/>
          </a:p>
        </p:txBody>
      </p:sp>
      <p:sp>
        <p:nvSpPr>
          <p:cNvPr id="9" name="Text 7"/>
          <p:cNvSpPr txBox="1"/>
          <p:nvPr/>
        </p:nvSpPr>
        <p:spPr>
          <a:xfrm>
            <a:off x="2971800" y="2331720"/>
            <a:ext cx="1645920" cy="411480"/>
          </a:xfrm>
          <a:prstGeom prst="rect">
            <a:avLst/>
          </a:prstGeom>
          <a:noFill/>
          <a:ln/>
        </p:spPr>
        <p:txBody>
          <a:bodyPr wrap="square" lIns="0" tIns="0" rIns="0" bIns="0" rtlCol="0" anchor="t"/>
          <a:lstStyle/>
          <a:p>
            <a:pPr algn="ctr" indent="0" marL="0">
              <a:buNone/>
            </a:pPr>
            <a:r>
              <a:rPr lang="en-US" sz="1200" dirty="0">
                <a:solidFill>
                  <a:schemeClr val="bg1"/>
                </a:solidFill>
              </a:rPr>
              <a:t>MinIO → staging.orders</a:t>
            </a:r>
            <a:endParaRPr lang="en-US" sz="1200" dirty="0"/>
          </a:p>
        </p:txBody>
      </p:sp>
      <p:sp>
        <p:nvSpPr>
          <p:cNvPr id="10" name="fleche-haut-1"/>
          <p:cNvSpPr/>
          <p:nvPr/>
        </p:nvSpPr>
        <p:spPr>
          <a:xfrm>
            <a:off x="2514600" y="2331720"/>
            <a:ext cx="274320" cy="914"/>
          </a:xfrm>
          <a:prstGeom prst="line">
            <a:avLst/>
          </a:prstGeom>
          <a:noFill/>
          <a:ln w="19050">
            <a:solidFill>
              <a:schemeClr val="accent5"/>
            </a:solidFill>
            <a:prstDash val="solid"/>
            <a:tailEnd type="triangle"/>
          </a:ln>
        </p:spPr>
      </p:sp>
      <p:sp>
        <p:nvSpPr>
          <p:cNvPr id="11" name="etape-haut-2"/>
          <p:cNvSpPr/>
          <p:nvPr/>
        </p:nvSpPr>
        <p:spPr>
          <a:xfrm>
            <a:off x="5120640" y="1828800"/>
            <a:ext cx="1920240" cy="1005840"/>
          </a:xfrm>
          <a:prstGeom prst="roundRect">
            <a:avLst>
              <a:gd name="adj" fmla="val 10909"/>
            </a:avLst>
          </a:prstGeom>
          <a:solidFill>
            <a:schemeClr val="accent3"/>
          </a:solidFill>
          <a:ln/>
        </p:spPr>
      </p:sp>
      <p:sp>
        <p:nvSpPr>
          <p:cNvPr id="12" name="Text 10"/>
          <p:cNvSpPr txBox="1"/>
          <p:nvPr/>
        </p:nvSpPr>
        <p:spPr>
          <a:xfrm>
            <a:off x="5257800" y="1965960"/>
            <a:ext cx="1645920" cy="365760"/>
          </a:xfrm>
          <a:prstGeom prst="rect">
            <a:avLst/>
          </a:prstGeom>
          <a:noFill/>
          <a:ln/>
        </p:spPr>
        <p:txBody>
          <a:bodyPr wrap="square" lIns="0" tIns="0" rIns="0" bIns="0" rtlCol="0" anchor="t"/>
          <a:lstStyle/>
          <a:p>
            <a:pPr algn="ctr" indent="0" marL="0">
              <a:buNone/>
            </a:pPr>
            <a:r>
              <a:rPr lang="en-US" sz="1500" b="1" dirty="0">
                <a:solidFill>
                  <a:schemeClr val="tx2"/>
                </a:solidFill>
              </a:rPr>
              <a:t>Contrôler</a:t>
            </a:r>
            <a:endParaRPr lang="en-US" sz="1500" dirty="0"/>
          </a:p>
        </p:txBody>
      </p:sp>
      <p:sp>
        <p:nvSpPr>
          <p:cNvPr id="13" name="Text 11"/>
          <p:cNvSpPr txBox="1"/>
          <p:nvPr/>
        </p:nvSpPr>
        <p:spPr>
          <a:xfrm>
            <a:off x="5257800" y="2331720"/>
            <a:ext cx="1645920" cy="411480"/>
          </a:xfrm>
          <a:prstGeom prst="rect">
            <a:avLst/>
          </a:prstGeom>
          <a:noFill/>
          <a:ln/>
        </p:spPr>
        <p:txBody>
          <a:bodyPr wrap="square" lIns="0" tIns="0" rIns="0" bIns="0" rtlCol="0" anchor="t"/>
          <a:lstStyle/>
          <a:p>
            <a:pPr algn="ctr" indent="0" marL="0">
              <a:buNone/>
            </a:pPr>
            <a:r>
              <a:rPr lang="en-US" sz="1200" dirty="0">
                <a:solidFill>
                  <a:schemeClr val="tx2"/>
                </a:solidFill>
              </a:rPr>
              <a:t>DataQualityOperator</a:t>
            </a:r>
            <a:endParaRPr lang="en-US" sz="1200" dirty="0"/>
          </a:p>
        </p:txBody>
      </p:sp>
      <p:sp>
        <p:nvSpPr>
          <p:cNvPr id="14" name="fleche-haut-2"/>
          <p:cNvSpPr/>
          <p:nvPr/>
        </p:nvSpPr>
        <p:spPr>
          <a:xfrm>
            <a:off x="4800600" y="2331720"/>
            <a:ext cx="274320" cy="914"/>
          </a:xfrm>
          <a:prstGeom prst="line">
            <a:avLst/>
          </a:prstGeom>
          <a:noFill/>
          <a:ln w="19050">
            <a:solidFill>
              <a:schemeClr val="accent5"/>
            </a:solidFill>
            <a:prstDash val="solid"/>
            <a:tailEnd type="triangle"/>
          </a:ln>
        </p:spPr>
      </p:sp>
      <p:sp>
        <p:nvSpPr>
          <p:cNvPr id="15" name="etape-haut-3"/>
          <p:cNvSpPr/>
          <p:nvPr/>
        </p:nvSpPr>
        <p:spPr>
          <a:xfrm>
            <a:off x="7406640" y="1828800"/>
            <a:ext cx="1920240" cy="1005840"/>
          </a:xfrm>
          <a:prstGeom prst="roundRect">
            <a:avLst>
              <a:gd name="adj" fmla="val 10909"/>
            </a:avLst>
          </a:prstGeom>
          <a:solidFill>
            <a:schemeClr val="accent2"/>
          </a:solidFill>
          <a:ln/>
        </p:spPr>
      </p:sp>
      <p:sp>
        <p:nvSpPr>
          <p:cNvPr id="16" name="Text 14"/>
          <p:cNvSpPr txBox="1"/>
          <p:nvPr/>
        </p:nvSpPr>
        <p:spPr>
          <a:xfrm>
            <a:off x="7543800" y="1965960"/>
            <a:ext cx="1645920" cy="365760"/>
          </a:xfrm>
          <a:prstGeom prst="rect">
            <a:avLst/>
          </a:prstGeom>
          <a:noFill/>
          <a:ln/>
        </p:spPr>
        <p:txBody>
          <a:bodyPr wrap="square" lIns="0" tIns="0" rIns="0" bIns="0" rtlCol="0" anchor="t"/>
          <a:lstStyle/>
          <a:p>
            <a:pPr algn="ctr" indent="0" marL="0">
              <a:buNone/>
            </a:pPr>
            <a:r>
              <a:rPr lang="en-US" sz="1500" b="1" dirty="0">
                <a:solidFill>
                  <a:schemeClr val="bg1"/>
                </a:solidFill>
              </a:rPr>
              <a:t>Transformer</a:t>
            </a:r>
            <a:endParaRPr lang="en-US" sz="1500" dirty="0"/>
          </a:p>
        </p:txBody>
      </p:sp>
      <p:sp>
        <p:nvSpPr>
          <p:cNvPr id="17" name="Text 15"/>
          <p:cNvSpPr txBox="1"/>
          <p:nvPr/>
        </p:nvSpPr>
        <p:spPr>
          <a:xfrm>
            <a:off x="7543800" y="2331720"/>
            <a:ext cx="1645920" cy="411480"/>
          </a:xfrm>
          <a:prstGeom prst="rect">
            <a:avLst/>
          </a:prstGeom>
          <a:noFill/>
          <a:ln/>
        </p:spPr>
        <p:txBody>
          <a:bodyPr wrap="square" lIns="0" tIns="0" rIns="0" bIns="0" rtlCol="0" anchor="t"/>
          <a:lstStyle/>
          <a:p>
            <a:pPr algn="ctr" indent="0" marL="0">
              <a:buNone/>
            </a:pPr>
            <a:r>
              <a:rPr lang="en-US" sz="1200" dirty="0">
                <a:solidFill>
                  <a:schemeClr val="bg1"/>
                </a:solidFill>
              </a:rPr>
              <a:t>→ dwh.fact_orders</a:t>
            </a:r>
            <a:endParaRPr lang="en-US" sz="1200" dirty="0"/>
          </a:p>
        </p:txBody>
      </p:sp>
      <p:sp>
        <p:nvSpPr>
          <p:cNvPr id="18" name="fleche-haut-3"/>
          <p:cNvSpPr/>
          <p:nvPr/>
        </p:nvSpPr>
        <p:spPr>
          <a:xfrm>
            <a:off x="7086600" y="2331720"/>
            <a:ext cx="274320" cy="914"/>
          </a:xfrm>
          <a:prstGeom prst="line">
            <a:avLst/>
          </a:prstGeom>
          <a:noFill/>
          <a:ln w="19050">
            <a:solidFill>
              <a:schemeClr val="accent5"/>
            </a:solidFill>
            <a:prstDash val="solid"/>
            <a:tailEnd type="triangle"/>
          </a:ln>
        </p:spPr>
      </p:sp>
      <p:sp>
        <p:nvSpPr>
          <p:cNvPr id="19" name="etape-haut-4"/>
          <p:cNvSpPr/>
          <p:nvPr/>
        </p:nvSpPr>
        <p:spPr>
          <a:xfrm>
            <a:off x="9692640" y="1828800"/>
            <a:ext cx="1920240" cy="1005840"/>
          </a:xfrm>
          <a:prstGeom prst="roundRect">
            <a:avLst>
              <a:gd name="adj" fmla="val 10909"/>
            </a:avLst>
          </a:prstGeom>
          <a:solidFill>
            <a:schemeClr val="accent2"/>
          </a:solidFill>
          <a:ln/>
        </p:spPr>
      </p:sp>
      <p:sp>
        <p:nvSpPr>
          <p:cNvPr id="20" name="Text 18"/>
          <p:cNvSpPr txBox="1"/>
          <p:nvPr/>
        </p:nvSpPr>
        <p:spPr>
          <a:xfrm>
            <a:off x="9829800" y="1965960"/>
            <a:ext cx="1645920" cy="365760"/>
          </a:xfrm>
          <a:prstGeom prst="rect">
            <a:avLst/>
          </a:prstGeom>
          <a:noFill/>
          <a:ln/>
        </p:spPr>
        <p:txBody>
          <a:bodyPr wrap="square" lIns="0" tIns="0" rIns="0" bIns="0" rtlCol="0" anchor="t"/>
          <a:lstStyle/>
          <a:p>
            <a:pPr algn="ctr" indent="0" marL="0">
              <a:buNone/>
            </a:pPr>
            <a:r>
              <a:rPr lang="en-US" sz="1500" b="1" dirty="0">
                <a:solidFill>
                  <a:schemeClr val="bg1"/>
                </a:solidFill>
              </a:rPr>
              <a:t>Publier</a:t>
            </a:r>
            <a:endParaRPr lang="en-US" sz="1500" dirty="0"/>
          </a:p>
        </p:txBody>
      </p:sp>
      <p:sp>
        <p:nvSpPr>
          <p:cNvPr id="21" name="Text 19"/>
          <p:cNvSpPr txBox="1"/>
          <p:nvPr/>
        </p:nvSpPr>
        <p:spPr>
          <a:xfrm>
            <a:off x="9829800" y="2331720"/>
            <a:ext cx="1645920" cy="411480"/>
          </a:xfrm>
          <a:prstGeom prst="rect">
            <a:avLst/>
          </a:prstGeom>
          <a:noFill/>
          <a:ln/>
        </p:spPr>
        <p:txBody>
          <a:bodyPr wrap="square" lIns="0" tIns="0" rIns="0" bIns="0" rtlCol="0" anchor="t"/>
          <a:lstStyle/>
          <a:p>
            <a:pPr algn="ctr" indent="0" marL="0">
              <a:buNone/>
            </a:pPr>
            <a:r>
              <a:rPr lang="en-US" sz="1200" dirty="0">
                <a:solidFill>
                  <a:schemeClr val="bg1"/>
                </a:solidFill>
              </a:rPr>
              <a:t>Asset fact_orders</a:t>
            </a:r>
            <a:endParaRPr lang="en-US" sz="1200" dirty="0"/>
          </a:p>
        </p:txBody>
      </p:sp>
      <p:sp>
        <p:nvSpPr>
          <p:cNvPr id="22" name="fleche-haut-4"/>
          <p:cNvSpPr/>
          <p:nvPr/>
        </p:nvSpPr>
        <p:spPr>
          <a:xfrm>
            <a:off x="9372600" y="2331720"/>
            <a:ext cx="274320" cy="914"/>
          </a:xfrm>
          <a:prstGeom prst="line">
            <a:avLst/>
          </a:prstGeom>
          <a:noFill/>
          <a:ln w="19050">
            <a:solidFill>
              <a:schemeClr val="accent5"/>
            </a:solidFill>
            <a:prstDash val="solid"/>
            <a:tailEnd type="triangle"/>
          </a:ln>
        </p:spPr>
      </p:sp>
      <p:sp>
        <p:nvSpPr>
          <p:cNvPr id="23" name="etape-extract-ref"/>
          <p:cNvSpPr/>
          <p:nvPr/>
        </p:nvSpPr>
        <p:spPr>
          <a:xfrm>
            <a:off x="548640" y="3794760"/>
            <a:ext cx="1920240" cy="1005840"/>
          </a:xfrm>
          <a:prstGeom prst="roundRect">
            <a:avLst>
              <a:gd name="adj" fmla="val 10909"/>
            </a:avLst>
          </a:prstGeom>
          <a:solidFill>
            <a:schemeClr val="accent4"/>
          </a:solidFill>
          <a:ln/>
        </p:spPr>
      </p:sp>
      <p:sp>
        <p:nvSpPr>
          <p:cNvPr id="24" name="Text 22"/>
          <p:cNvSpPr txBox="1"/>
          <p:nvPr/>
        </p:nvSpPr>
        <p:spPr>
          <a:xfrm>
            <a:off x="685800" y="3931920"/>
            <a:ext cx="1645920" cy="365760"/>
          </a:xfrm>
          <a:prstGeom prst="rect">
            <a:avLst/>
          </a:prstGeom>
          <a:noFill/>
          <a:ln/>
        </p:spPr>
        <p:txBody>
          <a:bodyPr wrap="square" lIns="0" tIns="0" rIns="0" bIns="0" rtlCol="0" anchor="t"/>
          <a:lstStyle/>
          <a:p>
            <a:pPr algn="ctr" indent="0" marL="0">
              <a:buNone/>
            </a:pPr>
            <a:r>
              <a:rPr lang="en-US" sz="1500" b="1" dirty="0">
                <a:solidFill>
                  <a:schemeClr val="bg1"/>
                </a:solidFill>
              </a:rPr>
              <a:t>Extraire</a:t>
            </a:r>
            <a:endParaRPr lang="en-US" sz="1500" dirty="0"/>
          </a:p>
        </p:txBody>
      </p:sp>
      <p:sp>
        <p:nvSpPr>
          <p:cNvPr id="25" name="Text 23"/>
          <p:cNvSpPr txBox="1"/>
          <p:nvPr/>
        </p:nvSpPr>
        <p:spPr>
          <a:xfrm>
            <a:off x="685800" y="4297680"/>
            <a:ext cx="1645920" cy="411480"/>
          </a:xfrm>
          <a:prstGeom prst="rect">
            <a:avLst/>
          </a:prstGeom>
          <a:noFill/>
          <a:ln/>
        </p:spPr>
        <p:txBody>
          <a:bodyPr wrap="square" lIns="0" tIns="0" rIns="0" bIns="0" rtlCol="0" anchor="t"/>
          <a:lstStyle/>
          <a:p>
            <a:pPr algn="ctr" indent="0" marL="0">
              <a:buNone/>
            </a:pPr>
            <a:r>
              <a:rPr lang="en-US" sz="1200" dirty="0">
                <a:solidFill>
                  <a:schemeClr val="bg1"/>
                </a:solidFill>
              </a:rPr>
              <a:t>vendeurs · produits · clients</a:t>
            </a:r>
            <a:endParaRPr lang="en-US" sz="1200" dirty="0"/>
          </a:p>
        </p:txBody>
      </p:sp>
      <p:sp>
        <p:nvSpPr>
          <p:cNvPr id="26" name="etape-dims"/>
          <p:cNvSpPr/>
          <p:nvPr/>
        </p:nvSpPr>
        <p:spPr>
          <a:xfrm>
            <a:off x="2834640" y="3794760"/>
            <a:ext cx="1920240" cy="1005840"/>
          </a:xfrm>
          <a:prstGeom prst="roundRect">
            <a:avLst>
              <a:gd name="adj" fmla="val 10909"/>
            </a:avLst>
          </a:prstGeom>
          <a:solidFill>
            <a:schemeClr val="accent4"/>
          </a:solidFill>
          <a:ln/>
        </p:spPr>
      </p:sp>
      <p:sp>
        <p:nvSpPr>
          <p:cNvPr id="27" name="Text 25"/>
          <p:cNvSpPr txBox="1"/>
          <p:nvPr/>
        </p:nvSpPr>
        <p:spPr>
          <a:xfrm>
            <a:off x="2971800" y="3931920"/>
            <a:ext cx="1645920" cy="365760"/>
          </a:xfrm>
          <a:prstGeom prst="rect">
            <a:avLst/>
          </a:prstGeom>
          <a:noFill/>
          <a:ln/>
        </p:spPr>
        <p:txBody>
          <a:bodyPr wrap="square" lIns="0" tIns="0" rIns="0" bIns="0" rtlCol="0" anchor="t"/>
          <a:lstStyle/>
          <a:p>
            <a:pPr algn="ctr" indent="0" marL="0">
              <a:buNone/>
            </a:pPr>
            <a:r>
              <a:rPr lang="en-US" sz="1500" b="1" dirty="0">
                <a:solidFill>
                  <a:schemeClr val="bg1"/>
                </a:solidFill>
              </a:rPr>
              <a:t>Charger</a:t>
            </a:r>
            <a:endParaRPr lang="en-US" sz="1500" dirty="0"/>
          </a:p>
        </p:txBody>
      </p:sp>
      <p:sp>
        <p:nvSpPr>
          <p:cNvPr id="28" name="Text 26"/>
          <p:cNvSpPr txBox="1"/>
          <p:nvPr/>
        </p:nvSpPr>
        <p:spPr>
          <a:xfrm>
            <a:off x="2971800" y="4297680"/>
            <a:ext cx="1645920" cy="411480"/>
          </a:xfrm>
          <a:prstGeom prst="rect">
            <a:avLst/>
          </a:prstGeom>
          <a:noFill/>
          <a:ln/>
        </p:spPr>
        <p:txBody>
          <a:bodyPr wrap="square" lIns="0" tIns="0" rIns="0" bIns="0" rtlCol="0" anchor="t"/>
          <a:lstStyle/>
          <a:p>
            <a:pPr algn="ctr" indent="0" marL="0">
              <a:buNone/>
            </a:pPr>
            <a:r>
              <a:rPr lang="en-US" sz="1200" dirty="0">
                <a:solidFill>
                  <a:schemeClr val="bg1"/>
                </a:solidFill>
              </a:rPr>
              <a:t>UPSERT des dimensions</a:t>
            </a:r>
            <a:endParaRPr lang="en-US" sz="1200" dirty="0"/>
          </a:p>
        </p:txBody>
      </p:sp>
      <p:sp>
        <p:nvSpPr>
          <p:cNvPr id="29" name="fleche-bas"/>
          <p:cNvSpPr/>
          <p:nvPr/>
        </p:nvSpPr>
        <p:spPr>
          <a:xfrm>
            <a:off x="2514600" y="4297680"/>
            <a:ext cx="274320" cy="914"/>
          </a:xfrm>
          <a:prstGeom prst="line">
            <a:avLst/>
          </a:prstGeom>
          <a:noFill/>
          <a:ln w="19050">
            <a:solidFill>
              <a:schemeClr val="accent5"/>
            </a:solidFill>
            <a:prstDash val="solid"/>
            <a:tailEnd type="triangle"/>
          </a:ln>
        </p:spPr>
      </p:sp>
      <p:sp>
        <p:nvSpPr>
          <p:cNvPr id="30" name="fleche-dims-horizontale"/>
          <p:cNvSpPr/>
          <p:nvPr/>
        </p:nvSpPr>
        <p:spPr>
          <a:xfrm>
            <a:off x="4800600" y="4297680"/>
            <a:ext cx="2880360" cy="0"/>
          </a:xfrm>
          <a:prstGeom prst="line">
            <a:avLst/>
          </a:prstGeom>
          <a:noFill/>
          <a:ln w="19050">
            <a:solidFill>
              <a:schemeClr val="accent5"/>
            </a:solidFill>
            <a:prstDash val="solid"/>
          </a:ln>
        </p:spPr>
      </p:sp>
      <p:sp>
        <p:nvSpPr>
          <p:cNvPr id="31" name="fleche-dims"/>
          <p:cNvSpPr/>
          <p:nvPr/>
        </p:nvSpPr>
        <p:spPr>
          <a:xfrm flipV="1">
            <a:off x="7680960" y="2871216"/>
            <a:ext cx="914" cy="1426464"/>
          </a:xfrm>
          <a:prstGeom prst="line">
            <a:avLst/>
          </a:prstGeom>
          <a:noFill/>
          <a:ln w="19050">
            <a:solidFill>
              <a:schemeClr val="accent5"/>
            </a:solidFill>
            <a:prstDash val="solid"/>
            <a:tailEnd type="triangle"/>
          </a:ln>
        </p:spPr>
      </p:sp>
      <p:sp>
        <p:nvSpPr>
          <p:cNvPr id="32" name="etape-alerte"/>
          <p:cNvSpPr/>
          <p:nvPr/>
        </p:nvSpPr>
        <p:spPr>
          <a:xfrm>
            <a:off x="5120640" y="4937760"/>
            <a:ext cx="1920240" cy="1005840"/>
          </a:xfrm>
          <a:prstGeom prst="roundRect">
            <a:avLst>
              <a:gd name="adj" fmla="val 10909"/>
            </a:avLst>
          </a:prstGeom>
          <a:solidFill>
            <a:schemeClr val="accent1"/>
          </a:solidFill>
          <a:ln/>
        </p:spPr>
      </p:sp>
      <p:sp>
        <p:nvSpPr>
          <p:cNvPr id="33" name="Text 31"/>
          <p:cNvSpPr txBox="1"/>
          <p:nvPr/>
        </p:nvSpPr>
        <p:spPr>
          <a:xfrm>
            <a:off x="5257800" y="5074920"/>
            <a:ext cx="1645920" cy="365760"/>
          </a:xfrm>
          <a:prstGeom prst="rect">
            <a:avLst/>
          </a:prstGeom>
          <a:noFill/>
          <a:ln/>
        </p:spPr>
        <p:txBody>
          <a:bodyPr wrap="square" lIns="0" tIns="0" rIns="0" bIns="0" rtlCol="0" anchor="t"/>
          <a:lstStyle/>
          <a:p>
            <a:pPr algn="ctr" indent="0" marL="0">
              <a:buNone/>
            </a:pPr>
            <a:r>
              <a:rPr lang="en-US" sz="1500" b="1" dirty="0">
                <a:solidFill>
                  <a:schemeClr val="bg1"/>
                </a:solidFill>
              </a:rPr>
              <a:t>Alerter</a:t>
            </a:r>
            <a:endParaRPr lang="en-US" sz="1500" dirty="0"/>
          </a:p>
        </p:txBody>
      </p:sp>
      <p:sp>
        <p:nvSpPr>
          <p:cNvPr id="34" name="Text 32"/>
          <p:cNvSpPr txBox="1"/>
          <p:nvPr/>
        </p:nvSpPr>
        <p:spPr>
          <a:xfrm>
            <a:off x="5257800" y="5440680"/>
            <a:ext cx="1645920" cy="411480"/>
          </a:xfrm>
          <a:prstGeom prst="rect">
            <a:avLst/>
          </a:prstGeom>
          <a:noFill/>
          <a:ln/>
        </p:spPr>
        <p:txBody>
          <a:bodyPr wrap="square" lIns="0" tIns="0" rIns="0" bIns="0" rtlCol="0" anchor="t"/>
          <a:lstStyle/>
          <a:p>
            <a:pPr algn="ctr" indent="0" marL="0">
              <a:buNone/>
            </a:pPr>
            <a:r>
              <a:rPr lang="en-US" sz="1200" dirty="0">
                <a:solidFill>
                  <a:schemeClr val="bg1"/>
                </a:solidFill>
              </a:rPr>
              <a:t>si qualité KO : webhook</a:t>
            </a:r>
            <a:endParaRPr lang="en-US" sz="1200" dirty="0"/>
          </a:p>
        </p:txBody>
      </p:sp>
      <p:sp>
        <p:nvSpPr>
          <p:cNvPr id="35" name="fleche-ko"/>
          <p:cNvSpPr/>
          <p:nvPr/>
        </p:nvSpPr>
        <p:spPr>
          <a:xfrm>
            <a:off x="6080760" y="2871216"/>
            <a:ext cx="914" cy="2029968"/>
          </a:xfrm>
          <a:prstGeom prst="line">
            <a:avLst/>
          </a:prstGeom>
          <a:noFill/>
          <a:ln w="19050">
            <a:solidFill>
              <a:schemeClr val="accent1"/>
            </a:solidFill>
            <a:prstDash val="dash"/>
            <a:tailEnd type="triangle"/>
          </a:ln>
        </p:spPr>
      </p:sp>
      <p:sp>
        <p:nvSpPr>
          <p:cNvPr id="36" name="Text 34"/>
          <p:cNvSpPr txBox="1"/>
          <p:nvPr/>
        </p:nvSpPr>
        <p:spPr>
          <a:xfrm>
            <a:off x="6190488" y="4544568"/>
            <a:ext cx="457200" cy="274320"/>
          </a:xfrm>
          <a:prstGeom prst="rect">
            <a:avLst/>
          </a:prstGeom>
          <a:noFill/>
          <a:ln/>
        </p:spPr>
        <p:txBody>
          <a:bodyPr wrap="square" lIns="0" tIns="0" rIns="0" bIns="0" rtlCol="0" anchor="t"/>
          <a:lstStyle/>
          <a:p>
            <a:pPr indent="0" marL="0">
              <a:buNone/>
            </a:pPr>
            <a:r>
              <a:rPr lang="en-US" sz="1200" b="1" dirty="0">
                <a:solidFill>
                  <a:schemeClr val="accent1"/>
                </a:solidFill>
              </a:rPr>
              <a:t>KO</a:t>
            </a:r>
            <a:endParaRPr lang="en-US" sz="1200" dirty="0"/>
          </a:p>
        </p:txBody>
      </p:sp>
      <p:sp>
        <p:nvSpPr>
          <p:cNvPr id="37" name="Text 35"/>
          <p:cNvSpPr txBox="1"/>
          <p:nvPr/>
        </p:nvSpPr>
        <p:spPr>
          <a:xfrm>
            <a:off x="7114032" y="2011680"/>
            <a:ext cx="274320" cy="274320"/>
          </a:xfrm>
          <a:prstGeom prst="rect">
            <a:avLst/>
          </a:prstGeom>
          <a:noFill/>
          <a:ln/>
        </p:spPr>
        <p:txBody>
          <a:bodyPr wrap="square" lIns="0" tIns="0" rIns="0" bIns="0" rtlCol="0" anchor="t"/>
          <a:lstStyle/>
          <a:p>
            <a:pPr indent="0" marL="0">
              <a:buNone/>
            </a:pPr>
            <a:r>
              <a:rPr lang="en-US" sz="1200" b="1" dirty="0">
                <a:solidFill>
                  <a:schemeClr val="accent2"/>
                </a:solidFill>
              </a:rPr>
              <a:t>OK</a:t>
            </a:r>
            <a:endParaRPr lang="en-US" sz="1200" dirty="0"/>
          </a:p>
        </p:txBody>
      </p:sp>
      <p:sp>
        <p:nvSpPr>
          <p:cNvPr id="38" name="carte-planif"/>
          <p:cNvSpPr/>
          <p:nvPr/>
        </p:nvSpPr>
        <p:spPr>
          <a:xfrm>
            <a:off x="7406640" y="4709160"/>
            <a:ext cx="4206240" cy="1371600"/>
          </a:xfrm>
          <a:prstGeom prst="roundRect">
            <a:avLst>
              <a:gd name="adj" fmla="val 8000"/>
            </a:avLst>
          </a:prstGeom>
          <a:solidFill>
            <a:schemeClr val="bg2"/>
          </a:solidFill>
          <a:ln/>
        </p:spPr>
      </p:sp>
      <p:sp>
        <p:nvSpPr>
          <p:cNvPr id="39" name="Text 37"/>
          <p:cNvSpPr txBox="1"/>
          <p:nvPr/>
        </p:nvSpPr>
        <p:spPr>
          <a:xfrm>
            <a:off x="7680960" y="4828032"/>
            <a:ext cx="3657600" cy="365760"/>
          </a:xfrm>
          <a:prstGeom prst="rect">
            <a:avLst/>
          </a:prstGeom>
          <a:noFill/>
          <a:ln/>
        </p:spPr>
        <p:txBody>
          <a:bodyPr wrap="square" lIns="0" tIns="0" rIns="0" bIns="0" rtlCol="0" anchor="t"/>
          <a:lstStyle/>
          <a:p>
            <a:pPr indent="0" marL="0">
              <a:buNone/>
            </a:pPr>
            <a:r>
              <a:rPr lang="en-US" sz="1700" b="1" dirty="0">
                <a:solidFill>
                  <a:schemeClr val="tx2"/>
                </a:solidFill>
              </a:rPr>
              <a:t>Planification</a:t>
            </a:r>
            <a:endParaRPr lang="en-US" sz="1700" dirty="0"/>
          </a:p>
        </p:txBody>
      </p:sp>
      <p:sp>
        <p:nvSpPr>
          <p:cNvPr id="40" name="Text 38"/>
          <p:cNvSpPr txBox="1"/>
          <p:nvPr/>
        </p:nvSpPr>
        <p:spPr>
          <a:xfrm>
            <a:off x="7680960" y="5193792"/>
            <a:ext cx="3703320" cy="777240"/>
          </a:xfrm>
          <a:prstGeom prst="rect">
            <a:avLst/>
          </a:prstGeom>
          <a:noFill/>
          <a:ln/>
        </p:spPr>
        <p:txBody>
          <a:bodyPr wrap="square" lIns="0" tIns="0" rIns="0" bIns="0" rtlCol="0" anchor="t"/>
          <a:lstStyle/>
          <a:p>
            <a:pPr indent="0" marL="0">
              <a:buNone/>
            </a:pPr>
            <a:r>
              <a:rPr lang="en-US" sz="1400" dirty="0">
                <a:solidFill>
                  <a:schemeClr val="tx1"/>
                </a:solidFill>
              </a:rPr>
              <a:t>Le run du jour J traite la journée complète J-1. En Airflow 3, « @daily » seul traiterait le jour en cours.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FIABILITÉ</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Idempotence prouvée : 3 runs, 1 résultat</a:t>
            </a:r>
            <a:endParaRPr lang="en-US" sz="3600" dirty="0"/>
          </a:p>
        </p:txBody>
      </p:sp>
      <p:sp>
        <p:nvSpPr>
          <p:cNvPr id="4" name="carte-pattern"/>
          <p:cNvSpPr/>
          <p:nvPr/>
        </p:nvSpPr>
        <p:spPr>
          <a:xfrm>
            <a:off x="548640" y="1691640"/>
            <a:ext cx="4846320" cy="4343400"/>
          </a:xfrm>
          <a:prstGeom prst="roundRect">
            <a:avLst>
              <a:gd name="adj" fmla="val 2526"/>
            </a:avLst>
          </a:prstGeom>
          <a:solidFill>
            <a:schemeClr val="tx2"/>
          </a:solidFill>
          <a:ln/>
        </p:spPr>
      </p:sp>
      <p:sp>
        <p:nvSpPr>
          <p:cNvPr id="5" name="Text 3"/>
          <p:cNvSpPr txBox="1"/>
          <p:nvPr/>
        </p:nvSpPr>
        <p:spPr>
          <a:xfrm>
            <a:off x="868680" y="1920240"/>
            <a:ext cx="4297680" cy="365760"/>
          </a:xfrm>
          <a:prstGeom prst="rect">
            <a:avLst/>
          </a:prstGeom>
          <a:noFill/>
          <a:ln/>
        </p:spPr>
        <p:txBody>
          <a:bodyPr wrap="square" lIns="0" tIns="0" rIns="0" bIns="0" rtlCol="0" anchor="t"/>
          <a:lstStyle/>
          <a:p>
            <a:pPr indent="0" marL="0">
              <a:buNone/>
            </a:pPr>
            <a:r>
              <a:rPr lang="en-US" sz="1800" b="1" dirty="0">
                <a:solidFill>
                  <a:schemeClr val="bg1"/>
                </a:solidFill>
              </a:rPr>
              <a:t>Le pattern appliqué partout</a:t>
            </a:r>
            <a:endParaRPr lang="en-US" sz="1800" dirty="0"/>
          </a:p>
        </p:txBody>
      </p:sp>
      <p:sp>
        <p:nvSpPr>
          <p:cNvPr id="6" name="bloc-sql"/>
          <p:cNvSpPr/>
          <p:nvPr/>
        </p:nvSpPr>
        <p:spPr>
          <a:xfrm>
            <a:off x="868680" y="2468880"/>
            <a:ext cx="4206240" cy="1463040"/>
          </a:xfrm>
          <a:prstGeom prst="roundRect">
            <a:avLst>
              <a:gd name="adj" fmla="val 5000"/>
            </a:avLst>
          </a:prstGeom>
          <a:solidFill>
            <a:schemeClr val="tx1"/>
          </a:solidFill>
          <a:ln/>
        </p:spPr>
      </p:sp>
      <p:sp>
        <p:nvSpPr>
          <p:cNvPr id="7" name="Text 5"/>
          <p:cNvSpPr txBox="1"/>
          <p:nvPr/>
        </p:nvSpPr>
        <p:spPr>
          <a:xfrm>
            <a:off x="1051560" y="2560320"/>
            <a:ext cx="3931920" cy="1325880"/>
          </a:xfrm>
          <a:prstGeom prst="rect">
            <a:avLst/>
          </a:prstGeom>
          <a:noFill/>
          <a:ln/>
        </p:spPr>
        <p:txBody>
          <a:bodyPr wrap="square" lIns="0" tIns="0" rIns="0" bIns="0" rtlCol="0" anchor="t"/>
          <a:lstStyle/>
          <a:p>
            <a:pPr indent="0" marL="0">
              <a:buNone/>
            </a:pPr>
            <a:r>
              <a:rPr lang="en-US" sz="1300" dirty="0">
                <a:solidFill>
                  <a:schemeClr val="accent3"/>
                </a:solidFill>
                <a:latin typeface="Courier New" pitchFamily="34" charset="0"/>
                <a:ea typeface="Courier New" pitchFamily="34" charset="-122"/>
                <a:cs typeface="Courier New" pitchFamily="34" charset="-120"/>
              </a:rPr>
              <a:t>BEGIN;</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DELETE FROM dwh.fact_orders</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  WHERE dt = '{{ ds }}';</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INSERT INTO dwh.fact_orders …;</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COMMIT;</a:t>
            </a:r>
            <a:endParaRPr lang="en-US" sz="1300" dirty="0"/>
          </a:p>
        </p:txBody>
      </p:sp>
      <p:sp>
        <p:nvSpPr>
          <p:cNvPr id="8" name="Text 6"/>
          <p:cNvSpPr txBox="1"/>
          <p:nvPr/>
        </p:nvSpPr>
        <p:spPr>
          <a:xfrm>
            <a:off x="868680" y="4160520"/>
            <a:ext cx="429768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accent6"/>
                </a:solidFill>
              </a:rPr>
              <a:t>Raw MinIO : partition dt= écrasée</a:t>
            </a:r>
            <a:endParaRPr lang="en-US" sz="1500" dirty="0"/>
          </a:p>
          <a:p>
            <a:pPr marL="342900" indent="-342900">
              <a:spcAft>
                <a:spcPts val="600"/>
              </a:spcAft>
              <a:buSzPct val="100000"/>
              <a:buChar char="•"/>
            </a:pPr>
            <a:r>
              <a:rPr lang="en-US" sz="1500" dirty="0">
                <a:solidFill>
                  <a:schemeClr val="accent6"/>
                </a:solidFill>
              </a:rPr>
              <a:t>Staging et faits : DELETE + INSERT</a:t>
            </a:r>
            <a:endParaRPr lang="en-US" sz="1500" dirty="0"/>
          </a:p>
          <a:p>
            <a:pPr marL="342900" indent="-342900">
              <a:spcAft>
                <a:spcPts val="600"/>
              </a:spcAft>
              <a:buSzPct val="100000"/>
              <a:buChar char="•"/>
            </a:pPr>
            <a:r>
              <a:rPr lang="en-US" sz="1500" dirty="0">
                <a:solidFill>
                  <a:schemeClr val="accent6"/>
                </a:solidFill>
              </a:rPr>
              <a:t>Dimensions : UPSERT</a:t>
            </a:r>
            <a:endParaRPr lang="en-US" sz="1500" dirty="0"/>
          </a:p>
        </p:txBody>
      </p:sp>
      <p:sp>
        <p:nvSpPr>
          <p:cNvPr id="9" name="Text 7"/>
          <p:cNvSpPr txBox="1"/>
          <p:nvPr/>
        </p:nvSpPr>
        <p:spPr>
          <a:xfrm>
            <a:off x="5760720" y="1737360"/>
            <a:ext cx="5852160" cy="365760"/>
          </a:xfrm>
          <a:prstGeom prst="rect">
            <a:avLst/>
          </a:prstGeom>
          <a:noFill/>
          <a:ln/>
        </p:spPr>
        <p:txBody>
          <a:bodyPr wrap="square" lIns="0" tIns="0" rIns="0" bIns="0" rtlCol="0" anchor="t"/>
          <a:lstStyle/>
          <a:p>
            <a:pPr indent="0" marL="0">
              <a:buNone/>
            </a:pPr>
            <a:r>
              <a:rPr lang="en-US" sz="1500" b="1" dirty="0">
                <a:solidFill>
                  <a:schemeClr val="tx2"/>
                </a:solidFill>
              </a:rPr>
              <a:t>Test du formateur : airflow dags test … 2026-04-07, rejoué 3 fois</a:t>
            </a:r>
            <a:endParaRPr lang="en-US" sz="1500" dirty="0"/>
          </a:p>
        </p:txBody>
      </p:sp>
      <p:graphicFrame>
        <p:nvGraphicFramePr>
          <p:cNvPr id="12" name="tableau-idempotence"/>
          <p:cNvGraphicFramePr>
            <a:graphicFrameLocks noGrp="1"/>
          </p:cNvGraphicFramePr>
          <p:nvPr>
            <p:extLst>
              <p:ext uri="{D42A27DB-BD31-4B8C-83A1-F6EECF244321}">
                <p14:modId xmlns:p14="http://schemas.microsoft.com/office/powerpoint/2010/main" val="1579011935"/>
              </p:ext>
            </p:extLst>
          </p:nvPr>
        </p:nvGraphicFramePr>
        <p:xfrm>
          <a:off x="5760720" y="2240280"/>
          <a:ext cx="5852160" cy="914400"/>
        </p:xfrm>
        <a:graphic>
          <a:graphicData uri="http://schemas.openxmlformats.org/drawingml/2006/table">
            <a:tbl>
              <a:tblPr/>
              <a:tblGrid>
                <a:gridCol w="822960"/>
                <a:gridCol w="1463040"/>
                <a:gridCol w="1554480"/>
                <a:gridCol w="2011680"/>
              </a:tblGrid>
              <a:tr h="438912">
                <a:tc>
                  <a:txBody>
                    <a:bodyPr/>
                    <a:lstStyle/>
                    <a:p>
                      <a:pPr indent="0" marL="0">
                        <a:buNone/>
                      </a:pPr>
                      <a:r>
                        <a:rPr lang="en-US" sz="1500" b="1" dirty="0">
                          <a:solidFill>
                            <a:schemeClr val="bg1"/>
                          </a:solidFill>
                        </a:rPr>
                        <a:t>Run</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fact_orders</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Somme (€)</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MD5 du contenu</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438912">
                <a:tc>
                  <a:txBody>
                    <a:bodyPr/>
                    <a:lstStyle/>
                    <a:p>
                      <a:pPr indent="0" marL="0">
                        <a:buNone/>
                      </a:pPr>
                      <a:r>
                        <a:rPr lang="en-US" sz="1500" dirty="0">
                          <a:solidFill>
                            <a:schemeClr val="tx1"/>
                          </a:solidFill>
                        </a:rPr>
                        <a:t>1</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1 011</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143 426,40</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04b5d5f2…a97c</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38912">
                <a:tc>
                  <a:txBody>
                    <a:bodyPr/>
                    <a:lstStyle/>
                    <a:p>
                      <a:pPr indent="0" marL="0">
                        <a:buNone/>
                      </a:pPr>
                      <a:r>
                        <a:rPr lang="en-US" sz="1500" dirty="0">
                          <a:solidFill>
                            <a:schemeClr val="tx1"/>
                          </a:solidFill>
                        </a:rPr>
                        <a:t>2</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1 011</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143 426,40</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04b5d5f2…a97c</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38912">
                <a:tc>
                  <a:txBody>
                    <a:bodyPr/>
                    <a:lstStyle/>
                    <a:p>
                      <a:pPr indent="0" marL="0">
                        <a:buNone/>
                      </a:pPr>
                      <a:r>
                        <a:rPr lang="en-US" sz="1500" dirty="0">
                          <a:solidFill>
                            <a:schemeClr val="tx1"/>
                          </a:solidFill>
                        </a:rPr>
                        <a:t>3</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1 011</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143 426,40</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04b5d5f2…a97c</a:t>
                      </a:r>
                      <a:endParaRPr lang="en-US" sz="1500" dirty="0"/>
                    </a:p>
                  </a:txBody>
                  <a:tcPr marL="91440" marR="91440"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11" name="carte-verdict"/>
          <p:cNvSpPr/>
          <p:nvPr/>
        </p:nvSpPr>
        <p:spPr>
          <a:xfrm>
            <a:off x="5760720" y="4297680"/>
            <a:ext cx="5852160" cy="1737360"/>
          </a:xfrm>
          <a:prstGeom prst="roundRect">
            <a:avLst>
              <a:gd name="adj" fmla="val 6316"/>
            </a:avLst>
          </a:prstGeom>
          <a:solidFill>
            <a:schemeClr val="bg2"/>
          </a:solidFill>
          <a:ln/>
        </p:spPr>
      </p:sp>
      <p:sp>
        <p:nvSpPr>
          <p:cNvPr id="12" name="icone-verdict-cercle"/>
          <p:cNvSpPr/>
          <p:nvPr/>
        </p:nvSpPr>
        <p:spPr>
          <a:xfrm>
            <a:off x="6035040" y="4709160"/>
            <a:ext cx="868680" cy="868680"/>
          </a:xfrm>
          <a:prstGeom prst="ellipse">
            <a:avLst/>
          </a:prstGeom>
          <a:solidFill>
            <a:schemeClr val="accent2"/>
          </a:solidFill>
          <a:ln/>
        </p:spPr>
      </p:sp>
      <p:pic>
        <p:nvPicPr>
          <p:cNvPr id="13" name="icone-verdict" descr="preencoded.png">    </p:cNvPr>
          <p:cNvPicPr>
            <a:picLocks noChangeAspect="1"/>
          </p:cNvPicPr>
          <p:nvPr/>
        </p:nvPicPr>
        <p:blipFill>
          <a:blip r:embed="rId1"/>
          <a:stretch>
            <a:fillRect/>
          </a:stretch>
        </p:blipFill>
        <p:spPr>
          <a:xfrm>
            <a:off x="6243523" y="4917643"/>
            <a:ext cx="451714" cy="451714"/>
          </a:xfrm>
          <a:prstGeom prst="rect">
            <a:avLst/>
          </a:prstGeom>
        </p:spPr>
      </p:pic>
      <p:sp>
        <p:nvSpPr>
          <p:cNvPr id="14" name="Text 10"/>
          <p:cNvSpPr txBox="1"/>
          <p:nvPr/>
        </p:nvSpPr>
        <p:spPr>
          <a:xfrm>
            <a:off x="7132320" y="4572000"/>
            <a:ext cx="4297680" cy="411480"/>
          </a:xfrm>
          <a:prstGeom prst="rect">
            <a:avLst/>
          </a:prstGeom>
          <a:noFill/>
          <a:ln/>
        </p:spPr>
        <p:txBody>
          <a:bodyPr wrap="square" lIns="0" tIns="0" rIns="0" bIns="0" rtlCol="0" anchor="t"/>
          <a:lstStyle/>
          <a:p>
            <a:pPr indent="0" marL="0">
              <a:buNone/>
            </a:pPr>
            <a:r>
              <a:rPr lang="en-US" sz="1800" b="1" dirty="0">
                <a:solidFill>
                  <a:schemeClr val="tx2"/>
                </a:solidFill>
              </a:rPr>
              <a:t>Même nombre de lignes, même empreinte</a:t>
            </a:r>
            <a:endParaRPr lang="en-US" sz="1800" dirty="0"/>
          </a:p>
        </p:txBody>
      </p:sp>
      <p:sp>
        <p:nvSpPr>
          <p:cNvPr id="15" name="Text 11"/>
          <p:cNvSpPr txBox="1"/>
          <p:nvPr/>
        </p:nvSpPr>
        <p:spPr>
          <a:xfrm>
            <a:off x="7132320" y="4983480"/>
            <a:ext cx="4297680" cy="868680"/>
          </a:xfrm>
          <a:prstGeom prst="rect">
            <a:avLst/>
          </a:prstGeom>
          <a:noFill/>
          <a:ln/>
        </p:spPr>
        <p:txBody>
          <a:bodyPr wrap="square" lIns="0" tIns="0" rIns="0" bIns="0" rtlCol="0" anchor="t"/>
          <a:lstStyle/>
          <a:p>
            <a:pPr indent="0" marL="0">
              <a:buNone/>
            </a:pPr>
            <a:r>
              <a:rPr lang="en-US" sz="1400" dirty="0">
                <a:solidFill>
                  <a:schemeClr val="tx1"/>
                </a:solidFill>
              </a:rPr>
              <a:t>Rejouer une date ne crée jamais de doublon. Un test pytest le vérifie aussi directement sur le DWH.</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ORCHESTRATION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Des DAGs aval pilotés par les données</a:t>
            </a:r>
            <a:endParaRPr lang="en-US" sz="3600" dirty="0"/>
          </a:p>
        </p:txBody>
      </p:sp>
      <p:sp>
        <p:nvSpPr>
          <p:cNvPr id="4" name="noeud-ingest"/>
          <p:cNvSpPr/>
          <p:nvPr/>
        </p:nvSpPr>
        <p:spPr>
          <a:xfrm>
            <a:off x="548640" y="1737360"/>
            <a:ext cx="2834640" cy="1097280"/>
          </a:xfrm>
          <a:prstGeom prst="roundRect">
            <a:avLst>
              <a:gd name="adj" fmla="val 10000"/>
            </a:avLst>
          </a:prstGeom>
          <a:solidFill>
            <a:schemeClr val="accent4"/>
          </a:solidFill>
          <a:ln/>
        </p:spPr>
      </p:sp>
      <p:sp>
        <p:nvSpPr>
          <p:cNvPr id="5" name="Text 3"/>
          <p:cNvSpPr txBox="1"/>
          <p:nvPr/>
        </p:nvSpPr>
        <p:spPr>
          <a:xfrm>
            <a:off x="548640" y="1874520"/>
            <a:ext cx="2834640" cy="365760"/>
          </a:xfrm>
          <a:prstGeom prst="rect">
            <a:avLst/>
          </a:prstGeom>
          <a:noFill/>
          <a:ln/>
        </p:spPr>
        <p:txBody>
          <a:bodyPr wrap="square" lIns="0" tIns="0" rIns="0" bIns="0" rtlCol="0" anchor="t"/>
          <a:lstStyle/>
          <a:p>
            <a:pPr algn="ctr" indent="0" marL="0">
              <a:buNone/>
            </a:pPr>
            <a:r>
              <a:rPr lang="en-US" sz="1700" b="1" dirty="0">
                <a:solidFill>
                  <a:schemeClr val="bg1"/>
                </a:solidFill>
              </a:rPr>
              <a:t>Ingestion</a:t>
            </a:r>
            <a:endParaRPr lang="en-US" sz="1700" dirty="0"/>
          </a:p>
        </p:txBody>
      </p:sp>
      <p:sp>
        <p:nvSpPr>
          <p:cNvPr id="6" name="Text 4"/>
          <p:cNvSpPr txBox="1"/>
          <p:nvPr/>
        </p:nvSpPr>
        <p:spPr>
          <a:xfrm>
            <a:off x="548640" y="2286000"/>
            <a:ext cx="2834640" cy="365760"/>
          </a:xfrm>
          <a:prstGeom prst="rect">
            <a:avLst/>
          </a:prstGeom>
          <a:noFill/>
          <a:ln/>
        </p:spPr>
        <p:txBody>
          <a:bodyPr wrap="square" lIns="0" tIns="0" rIns="0" bIns="0" rtlCol="0" anchor="t"/>
          <a:lstStyle/>
          <a:p>
            <a:pPr algn="ctr" indent="0" marL="0">
              <a:buNone/>
            </a:pPr>
            <a:r>
              <a:rPr lang="en-US" sz="1300" dirty="0">
                <a:solidFill>
                  <a:schemeClr val="bg1"/>
                </a:solidFill>
              </a:rPr>
              <a:t>publie l'Asset fact_orders</a:t>
            </a:r>
            <a:endParaRPr lang="en-US" sz="1300" dirty="0"/>
          </a:p>
        </p:txBody>
      </p:sp>
      <p:sp>
        <p:nvSpPr>
          <p:cNvPr id="7" name="noeud-analytics"/>
          <p:cNvSpPr/>
          <p:nvPr/>
        </p:nvSpPr>
        <p:spPr>
          <a:xfrm>
            <a:off x="4206240" y="1417320"/>
            <a:ext cx="2834640" cy="822960"/>
          </a:xfrm>
          <a:prstGeom prst="roundRect">
            <a:avLst>
              <a:gd name="adj" fmla="val 13333"/>
            </a:avLst>
          </a:prstGeom>
          <a:solidFill>
            <a:schemeClr val="accent2"/>
          </a:solidFill>
          <a:ln/>
        </p:spPr>
      </p:sp>
      <p:sp>
        <p:nvSpPr>
          <p:cNvPr id="8" name="Text 6"/>
          <p:cNvSpPr txBox="1"/>
          <p:nvPr/>
        </p:nvSpPr>
        <p:spPr>
          <a:xfrm>
            <a:off x="4206240" y="1417320"/>
            <a:ext cx="2834640" cy="822960"/>
          </a:xfrm>
          <a:prstGeom prst="rect">
            <a:avLst/>
          </a:prstGeom>
          <a:noFill/>
          <a:ln/>
        </p:spPr>
        <p:txBody>
          <a:bodyPr wrap="square" lIns="0" tIns="0" rIns="0" bIns="0" rtlCol="0" anchor="ctr"/>
          <a:lstStyle/>
          <a:p>
            <a:pPr algn="ctr" indent="0" marL="0">
              <a:buNone/>
            </a:pPr>
            <a:r>
              <a:rPr lang="en-US" sz="1600" b="1" dirty="0">
                <a:solidFill>
                  <a:schemeClr val="bg1"/>
                </a:solidFill>
              </a:rPr>
              <a:t>Agrégats analytics</a:t>
            </a:r>
            <a:endParaRPr lang="en-US" sz="1600" dirty="0"/>
          </a:p>
        </p:txBody>
      </p:sp>
      <p:sp>
        <p:nvSpPr>
          <p:cNvPr id="9" name="noeud-anomalies"/>
          <p:cNvSpPr/>
          <p:nvPr/>
        </p:nvSpPr>
        <p:spPr>
          <a:xfrm>
            <a:off x="4206240" y="2377440"/>
            <a:ext cx="2834640" cy="822960"/>
          </a:xfrm>
          <a:prstGeom prst="roundRect">
            <a:avLst>
              <a:gd name="adj" fmla="val 13333"/>
            </a:avLst>
          </a:prstGeom>
          <a:solidFill>
            <a:schemeClr val="accent1"/>
          </a:solidFill>
          <a:ln/>
        </p:spPr>
      </p:sp>
      <p:sp>
        <p:nvSpPr>
          <p:cNvPr id="10" name="Text 8"/>
          <p:cNvSpPr txBox="1"/>
          <p:nvPr/>
        </p:nvSpPr>
        <p:spPr>
          <a:xfrm>
            <a:off x="4206240" y="2377440"/>
            <a:ext cx="2834640" cy="822960"/>
          </a:xfrm>
          <a:prstGeom prst="rect">
            <a:avLst/>
          </a:prstGeom>
          <a:noFill/>
          <a:ln/>
        </p:spPr>
        <p:txBody>
          <a:bodyPr wrap="square" lIns="0" tIns="0" rIns="0" bIns="0" rtlCol="0" anchor="ctr"/>
          <a:lstStyle/>
          <a:p>
            <a:pPr algn="ctr" indent="0" marL="0">
              <a:buNone/>
            </a:pPr>
            <a:r>
              <a:rPr lang="en-US" sz="1600" b="1" dirty="0">
                <a:solidFill>
                  <a:schemeClr val="bg1"/>
                </a:solidFill>
              </a:rPr>
              <a:t>Détection d'anomalies</a:t>
            </a:r>
            <a:endParaRPr lang="en-US" sz="1600" dirty="0"/>
          </a:p>
        </p:txBody>
      </p:sp>
      <p:sp>
        <p:nvSpPr>
          <p:cNvPr id="11" name="fa1"/>
          <p:cNvSpPr/>
          <p:nvPr/>
        </p:nvSpPr>
        <p:spPr>
          <a:xfrm flipV="1">
            <a:off x="3401568" y="1828800"/>
            <a:ext cx="768096" cy="274320"/>
          </a:xfrm>
          <a:prstGeom prst="line">
            <a:avLst/>
          </a:prstGeom>
          <a:noFill/>
          <a:ln w="19050">
            <a:solidFill>
              <a:schemeClr val="accent5"/>
            </a:solidFill>
            <a:prstDash val="solid"/>
            <a:tailEnd type="triangle"/>
          </a:ln>
        </p:spPr>
      </p:sp>
      <p:sp>
        <p:nvSpPr>
          <p:cNvPr id="12" name="fa2"/>
          <p:cNvSpPr/>
          <p:nvPr/>
        </p:nvSpPr>
        <p:spPr>
          <a:xfrm>
            <a:off x="3401568" y="2468880"/>
            <a:ext cx="768096" cy="320040"/>
          </a:xfrm>
          <a:prstGeom prst="line">
            <a:avLst/>
          </a:prstGeom>
          <a:noFill/>
          <a:ln w="19050">
            <a:solidFill>
              <a:schemeClr val="accent5"/>
            </a:solidFill>
            <a:prstDash val="solid"/>
            <a:tailEnd type="triangle"/>
          </a:ln>
        </p:spPr>
      </p:sp>
      <p:sp>
        <p:nvSpPr>
          <p:cNvPr id="13" name="carte-incident"/>
          <p:cNvSpPr/>
          <p:nvPr/>
        </p:nvSpPr>
        <p:spPr>
          <a:xfrm>
            <a:off x="7589520" y="1417320"/>
            <a:ext cx="4023360" cy="1783080"/>
          </a:xfrm>
          <a:prstGeom prst="roundRect">
            <a:avLst>
              <a:gd name="adj" fmla="val 6154"/>
            </a:avLst>
          </a:prstGeom>
          <a:solidFill>
            <a:schemeClr val="bg2"/>
          </a:solidFill>
          <a:ln/>
        </p:spPr>
      </p:sp>
      <p:sp>
        <p:nvSpPr>
          <p:cNvPr id="14" name="Text 12"/>
          <p:cNvSpPr txBox="1"/>
          <p:nvPr/>
        </p:nvSpPr>
        <p:spPr>
          <a:xfrm>
            <a:off x="7818120" y="1554480"/>
            <a:ext cx="3657600" cy="365760"/>
          </a:xfrm>
          <a:prstGeom prst="rect">
            <a:avLst/>
          </a:prstGeom>
          <a:noFill/>
          <a:ln/>
        </p:spPr>
        <p:txBody>
          <a:bodyPr wrap="square" lIns="0" tIns="0" rIns="0" bIns="0" rtlCol="0" anchor="t"/>
          <a:lstStyle/>
          <a:p>
            <a:pPr indent="0" marL="0">
              <a:buNone/>
            </a:pPr>
            <a:r>
              <a:rPr lang="en-US" sz="1400" b="1" dirty="0">
                <a:solidFill>
                  <a:schemeClr val="accent1"/>
                </a:solidFill>
              </a:rPr>
              <a:t>Incident réel du test de reproductibilité</a:t>
            </a:r>
            <a:endParaRPr lang="en-US" sz="1400" dirty="0"/>
          </a:p>
        </p:txBody>
      </p:sp>
      <p:sp>
        <p:nvSpPr>
          <p:cNvPr id="15" name="Text 13"/>
          <p:cNvSpPr txBox="1"/>
          <p:nvPr/>
        </p:nvSpPr>
        <p:spPr>
          <a:xfrm>
            <a:off x="7818120" y="1920240"/>
            <a:ext cx="3657600" cy="1188720"/>
          </a:xfrm>
          <a:prstGeom prst="rect">
            <a:avLst/>
          </a:prstGeom>
          <a:noFill/>
          <a:ln/>
        </p:spPr>
        <p:txBody>
          <a:bodyPr wrap="square" lIns="0" tIns="0" rIns="0" bIns="0" rtlCol="0" anchor="t"/>
          <a:lstStyle/>
          <a:p>
            <a:pPr indent="0" marL="0">
              <a:buNone/>
            </a:pPr>
            <a:r>
              <a:rPr lang="en-US" sz="1400" dirty="0">
                <a:solidFill>
                  <a:schemeClr val="tx1"/>
                </a:solidFill>
              </a:rPr>
              <a:t>Airflow a perdu 2 événements émis à quelques millisecondes : 278 515 € absents des agrégats.</a:t>
            </a:r>
            <a:endParaRPr lang="en-US" sz="1400" dirty="0"/>
          </a:p>
        </p:txBody>
      </p:sp>
      <p:sp>
        <p:nvSpPr>
          <p:cNvPr id="16" name="carte-avant"/>
          <p:cNvSpPr/>
          <p:nvPr/>
        </p:nvSpPr>
        <p:spPr>
          <a:xfrm>
            <a:off x="548640" y="3611880"/>
            <a:ext cx="5394960" cy="2468880"/>
          </a:xfrm>
          <a:prstGeom prst="roundRect">
            <a:avLst>
              <a:gd name="adj" fmla="val 4444"/>
            </a:avLst>
          </a:prstGeom>
          <a:solidFill>
            <a:schemeClr val="bg2"/>
          </a:solidFill>
          <a:ln/>
        </p:spPr>
      </p:sp>
      <p:sp>
        <p:nvSpPr>
          <p:cNvPr id="17" name="Text 15"/>
          <p:cNvSpPr txBox="1"/>
          <p:nvPr/>
        </p:nvSpPr>
        <p:spPr>
          <a:xfrm>
            <a:off x="822960" y="3794760"/>
            <a:ext cx="2743200" cy="320040"/>
          </a:xfrm>
          <a:prstGeom prst="rect">
            <a:avLst/>
          </a:prstGeom>
          <a:noFill/>
          <a:ln/>
        </p:spPr>
        <p:txBody>
          <a:bodyPr wrap="square" lIns="0" tIns="0" rIns="0" bIns="0" rtlCol="0" anchor="t"/>
          <a:lstStyle/>
          <a:p>
            <a:pPr indent="0" marL="0">
              <a:buNone/>
            </a:pPr>
            <a:r>
              <a:rPr lang="en-US" sz="1300" b="1" dirty="0">
                <a:solidFill>
                  <a:schemeClr val="accent5"/>
                </a:solidFill>
              </a:rPr>
              <a:t>AVANT</a:t>
            </a:r>
            <a:endParaRPr lang="en-US" sz="1300" dirty="0"/>
          </a:p>
        </p:txBody>
      </p:sp>
      <p:sp>
        <p:nvSpPr>
          <p:cNvPr id="18" name="Text 16"/>
          <p:cNvSpPr txBox="1"/>
          <p:nvPr/>
        </p:nvSpPr>
        <p:spPr>
          <a:xfrm>
            <a:off x="822960" y="4114800"/>
            <a:ext cx="4937760" cy="411480"/>
          </a:xfrm>
          <a:prstGeom prst="rect">
            <a:avLst/>
          </a:prstGeom>
          <a:noFill/>
          <a:ln/>
        </p:spPr>
        <p:txBody>
          <a:bodyPr wrap="square" lIns="0" tIns="0" rIns="0" bIns="0" rtlCol="0" anchor="t"/>
          <a:lstStyle/>
          <a:p>
            <a:pPr indent="0" marL="0">
              <a:buNone/>
            </a:pPr>
            <a:r>
              <a:rPr lang="en-US" sz="1900" b="1" dirty="0">
                <a:solidFill>
                  <a:schemeClr val="tx2"/>
                </a:solidFill>
              </a:rPr>
              <a:t>La date vient de l'événement</a:t>
            </a:r>
            <a:endParaRPr lang="en-US" sz="1900" dirty="0"/>
          </a:p>
        </p:txBody>
      </p:sp>
      <p:sp>
        <p:nvSpPr>
          <p:cNvPr id="19" name="Text 17"/>
          <p:cNvSpPr txBox="1"/>
          <p:nvPr/>
        </p:nvSpPr>
        <p:spPr>
          <a:xfrm>
            <a:off x="822960" y="4617720"/>
            <a:ext cx="4846320" cy="1188720"/>
          </a:xfrm>
          <a:prstGeom prst="rect">
            <a:avLst/>
          </a:prstGeom>
          <a:noFill/>
          <a:ln/>
        </p:spPr>
        <p:txBody>
          <a:bodyPr wrap="square" lIns="0" tIns="0" rIns="0" bIns="0" rtlCol="0" anchor="t"/>
          <a:lstStyle/>
          <a:p>
            <a:pPr indent="0" marL="0">
              <a:buNone/>
            </a:pPr>
            <a:r>
              <a:rPr lang="en-US" sz="1500" dirty="0">
                <a:solidFill>
                  <a:schemeClr val="tx1"/>
                </a:solidFill>
              </a:rPr>
              <a:t>Un événement perdu ou regroupé, et une date n'est jamais recalculée. Rien ne le signale.</a:t>
            </a:r>
            <a:endParaRPr lang="en-US" sz="1500" dirty="0"/>
          </a:p>
        </p:txBody>
      </p:sp>
      <p:sp>
        <p:nvSpPr>
          <p:cNvPr id="20" name="carte-apres"/>
          <p:cNvSpPr/>
          <p:nvPr/>
        </p:nvSpPr>
        <p:spPr>
          <a:xfrm>
            <a:off x="6217920" y="3611880"/>
            <a:ext cx="5394960" cy="2468880"/>
          </a:xfrm>
          <a:prstGeom prst="roundRect">
            <a:avLst>
              <a:gd name="adj" fmla="val 4444"/>
            </a:avLst>
          </a:prstGeom>
          <a:solidFill>
            <a:schemeClr val="tx2"/>
          </a:solidFill>
          <a:ln/>
        </p:spPr>
      </p:sp>
      <p:sp>
        <p:nvSpPr>
          <p:cNvPr id="21" name="Text 19"/>
          <p:cNvSpPr txBox="1"/>
          <p:nvPr/>
        </p:nvSpPr>
        <p:spPr>
          <a:xfrm>
            <a:off x="6492240" y="3794760"/>
            <a:ext cx="2743200" cy="320040"/>
          </a:xfrm>
          <a:prstGeom prst="rect">
            <a:avLst/>
          </a:prstGeom>
          <a:noFill/>
          <a:ln/>
        </p:spPr>
        <p:txBody>
          <a:bodyPr wrap="square" lIns="0" tIns="0" rIns="0" bIns="0" rtlCol="0" anchor="t"/>
          <a:lstStyle/>
          <a:p>
            <a:pPr indent="0" marL="0">
              <a:buNone/>
            </a:pPr>
            <a:r>
              <a:rPr lang="en-US" sz="1300" b="1" dirty="0">
                <a:solidFill>
                  <a:schemeClr val="accent3"/>
                </a:solidFill>
              </a:rPr>
              <a:t>APRÈS</a:t>
            </a:r>
            <a:endParaRPr lang="en-US" sz="1300" dirty="0"/>
          </a:p>
        </p:txBody>
      </p:sp>
      <p:sp>
        <p:nvSpPr>
          <p:cNvPr id="22" name="Text 20"/>
          <p:cNvSpPr txBox="1"/>
          <p:nvPr/>
        </p:nvSpPr>
        <p:spPr>
          <a:xfrm>
            <a:off x="6492240" y="4114800"/>
            <a:ext cx="4937760" cy="411480"/>
          </a:xfrm>
          <a:prstGeom prst="rect">
            <a:avLst/>
          </a:prstGeom>
          <a:noFill/>
          <a:ln/>
        </p:spPr>
        <p:txBody>
          <a:bodyPr wrap="square" lIns="0" tIns="0" rIns="0" bIns="0" rtlCol="0" anchor="t"/>
          <a:lstStyle/>
          <a:p>
            <a:pPr indent="0" marL="0">
              <a:buNone/>
            </a:pPr>
            <a:r>
              <a:rPr lang="en-US" sz="1900" b="1" dirty="0">
                <a:solidFill>
                  <a:schemeClr val="bg1"/>
                </a:solidFill>
              </a:rPr>
              <a:t>La date vient de l'état des données</a:t>
            </a:r>
            <a:endParaRPr lang="en-US" sz="1900" dirty="0"/>
          </a:p>
        </p:txBody>
      </p:sp>
      <p:sp>
        <p:nvSpPr>
          <p:cNvPr id="23" name="Text 21"/>
          <p:cNvSpPr txBox="1"/>
          <p:nvPr/>
        </p:nvSpPr>
        <p:spPr>
          <a:xfrm>
            <a:off x="6492240" y="4617720"/>
            <a:ext cx="4892040" cy="822960"/>
          </a:xfrm>
          <a:prstGeom prst="rect">
            <a:avLst/>
          </a:prstGeom>
          <a:noFill/>
          <a:ln/>
        </p:spPr>
        <p:txBody>
          <a:bodyPr wrap="square" lIns="0" tIns="0" rIns="0" bIns="0" rtlCol="0" anchor="t"/>
          <a:lstStyle/>
          <a:p>
            <a:pPr indent="0" marL="0">
              <a:buNone/>
            </a:pPr>
            <a:r>
              <a:rPr lang="en-US" sz="1500" dirty="0">
                <a:solidFill>
                  <a:schemeClr val="accent6"/>
                </a:solidFill>
              </a:rPr>
              <a:t>refresh_log garde la version des faits utilisée : toute date rechargée depuis est rattrapée au run suivant.</a:t>
            </a:r>
            <a:endParaRPr lang="en-US" sz="1500" dirty="0"/>
          </a:p>
        </p:txBody>
      </p:sp>
      <p:sp>
        <p:nvSpPr>
          <p:cNvPr id="24" name="Text 22"/>
          <p:cNvSpPr txBox="1"/>
          <p:nvPr/>
        </p:nvSpPr>
        <p:spPr>
          <a:xfrm>
            <a:off x="6492240" y="5486400"/>
            <a:ext cx="4892040" cy="411480"/>
          </a:xfrm>
          <a:prstGeom prst="rect">
            <a:avLst/>
          </a:prstGeom>
          <a:noFill/>
          <a:ln/>
        </p:spPr>
        <p:txBody>
          <a:bodyPr wrap="square" lIns="0" tIns="0" rIns="0" bIns="0" rtlCol="0" anchor="t"/>
          <a:lstStyle/>
          <a:p>
            <a:pPr indent="0" marL="0">
              <a:buNone/>
            </a:pPr>
            <a:r>
              <a:rPr lang="en-US" sz="1400" b="1" dirty="0">
                <a:solidFill>
                  <a:schemeClr val="accent3"/>
                </a:solidFill>
              </a:rPr>
              <a:t>Vérifié : 51 dates, puis 0, puis 1 seule après rechargement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QUALITÉ ET ALERTES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Qualité, anomalies et alertes</a:t>
            </a:r>
            <a:endParaRPr lang="en-US" sz="3600" dirty="0"/>
          </a:p>
        </p:txBody>
      </p:sp>
      <p:sp>
        <p:nvSpPr>
          <p:cNvPr id="4" name="carte-qualite-0"/>
          <p:cNvSpPr/>
          <p:nvPr/>
        </p:nvSpPr>
        <p:spPr>
          <a:xfrm>
            <a:off x="548640" y="1691640"/>
            <a:ext cx="3520440" cy="3703320"/>
          </a:xfrm>
          <a:prstGeom prst="roundRect">
            <a:avLst>
              <a:gd name="adj" fmla="val 3117"/>
            </a:avLst>
          </a:prstGeom>
          <a:solidFill>
            <a:schemeClr val="bg2"/>
          </a:solidFill>
          <a:ln/>
        </p:spPr>
      </p:sp>
      <p:sp>
        <p:nvSpPr>
          <p:cNvPr id="5" name="icone-qualite-0-cercle"/>
          <p:cNvSpPr/>
          <p:nvPr/>
        </p:nvSpPr>
        <p:spPr>
          <a:xfrm>
            <a:off x="868680" y="1965960"/>
            <a:ext cx="731520" cy="731520"/>
          </a:xfrm>
          <a:prstGeom prst="ellipse">
            <a:avLst/>
          </a:prstGeom>
          <a:solidFill>
            <a:schemeClr val="accent3"/>
          </a:solidFill>
          <a:ln/>
        </p:spPr>
      </p:sp>
      <p:pic>
        <p:nvPicPr>
          <p:cNvPr id="6" name="icone-qualite-0" descr="preencoded.png">    </p:cNvPr>
          <p:cNvPicPr>
            <a:picLocks noChangeAspect="1"/>
          </p:cNvPicPr>
          <p:nvPr/>
        </p:nvPicPr>
        <p:blipFill>
          <a:blip r:embed="rId1"/>
          <a:stretch>
            <a:fillRect/>
          </a:stretch>
        </p:blipFill>
        <p:spPr>
          <a:xfrm>
            <a:off x="1044245" y="2141525"/>
            <a:ext cx="380390" cy="380390"/>
          </a:xfrm>
          <a:prstGeom prst="rect">
            <a:avLst/>
          </a:prstGeom>
        </p:spPr>
      </p:pic>
      <p:sp>
        <p:nvSpPr>
          <p:cNvPr id="7" name="Text 4"/>
          <p:cNvSpPr txBox="1"/>
          <p:nvPr/>
        </p:nvSpPr>
        <p:spPr>
          <a:xfrm>
            <a:off x="1783080" y="2011680"/>
            <a:ext cx="2148840" cy="365760"/>
          </a:xfrm>
          <a:prstGeom prst="rect">
            <a:avLst/>
          </a:prstGeom>
          <a:noFill/>
          <a:ln/>
        </p:spPr>
        <p:txBody>
          <a:bodyPr wrap="square" lIns="0" tIns="0" rIns="0" bIns="0" rtlCol="0" anchor="t"/>
          <a:lstStyle/>
          <a:p>
            <a:pPr indent="0" marL="0">
              <a:buNone/>
            </a:pPr>
            <a:r>
              <a:rPr lang="en-US" sz="1900" b="1" dirty="0">
                <a:solidFill>
                  <a:schemeClr val="tx2"/>
                </a:solidFill>
              </a:rPr>
              <a:t>Contrôle qualité</a:t>
            </a:r>
            <a:endParaRPr lang="en-US" sz="1900" dirty="0"/>
          </a:p>
        </p:txBody>
      </p:sp>
      <p:sp>
        <p:nvSpPr>
          <p:cNvPr id="8" name="Text 5"/>
          <p:cNvSpPr txBox="1"/>
          <p:nvPr/>
        </p:nvSpPr>
        <p:spPr>
          <a:xfrm>
            <a:off x="1783080" y="2377440"/>
            <a:ext cx="2148840" cy="320040"/>
          </a:xfrm>
          <a:prstGeom prst="rect">
            <a:avLst/>
          </a:prstGeom>
          <a:noFill/>
          <a:ln/>
        </p:spPr>
        <p:txBody>
          <a:bodyPr wrap="square" lIns="0" tIns="0" rIns="0" bIns="0" rtlCol="0" anchor="t"/>
          <a:lstStyle/>
          <a:p>
            <a:pPr indent="0" marL="0">
              <a:buNone/>
            </a:pPr>
            <a:r>
              <a:rPr lang="en-US" sz="1300" dirty="0">
                <a:solidFill>
                  <a:schemeClr val="accent5"/>
                </a:solidFill>
              </a:rPr>
              <a:t>DataQualityOperator</a:t>
            </a:r>
            <a:endParaRPr lang="en-US" sz="1300" dirty="0"/>
          </a:p>
        </p:txBody>
      </p:sp>
      <p:sp>
        <p:nvSpPr>
          <p:cNvPr id="9" name="Text 6"/>
          <p:cNvSpPr txBox="1"/>
          <p:nvPr/>
        </p:nvSpPr>
        <p:spPr>
          <a:xfrm>
            <a:off x="868680" y="3017520"/>
            <a:ext cx="297180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not_empty</a:t>
            </a:r>
            <a:endParaRPr lang="en-US" sz="1600" dirty="0"/>
          </a:p>
          <a:p>
            <a:pPr marL="342900" indent="-342900">
              <a:spcAft>
                <a:spcPts val="800"/>
              </a:spcAft>
              <a:buSzPct val="100000"/>
              <a:buChar char="•"/>
            </a:pPr>
            <a:r>
              <a:rPr lang="en-US" sz="1600" dirty="0">
                <a:solidFill>
                  <a:schemeClr val="tx1"/>
                </a:solidFill>
              </a:rPr>
              <a:t>not_null</a:t>
            </a:r>
            <a:endParaRPr lang="en-US" sz="1600" dirty="0"/>
          </a:p>
          <a:p>
            <a:pPr marL="342900" indent="-342900">
              <a:spcAft>
                <a:spcPts val="800"/>
              </a:spcAft>
              <a:buSzPct val="100000"/>
              <a:buChar char="•"/>
            </a:pPr>
            <a:r>
              <a:rPr lang="en-US" sz="1600" dirty="0">
                <a:solidFill>
                  <a:schemeClr val="tx1"/>
                </a:solidFill>
              </a:rPr>
              <a:t>no_future_date</a:t>
            </a:r>
            <a:endParaRPr lang="en-US" sz="1600" dirty="0"/>
          </a:p>
        </p:txBody>
      </p:sp>
      <p:sp>
        <p:nvSpPr>
          <p:cNvPr id="10" name="Text 7"/>
          <p:cNvSpPr txBox="1"/>
          <p:nvPr/>
        </p:nvSpPr>
        <p:spPr>
          <a:xfrm>
            <a:off x="868680" y="4434840"/>
            <a:ext cx="2971800" cy="777240"/>
          </a:xfrm>
          <a:prstGeom prst="rect">
            <a:avLst/>
          </a:prstGeom>
          <a:noFill/>
          <a:ln/>
        </p:spPr>
        <p:txBody>
          <a:bodyPr wrap="square" lIns="0" tIns="0" rIns="0" bIns="0" rtlCol="0" anchor="t"/>
          <a:lstStyle/>
          <a:p>
            <a:pPr indent="0" marL="0">
              <a:buNone/>
            </a:pPr>
            <a:r>
              <a:rPr lang="en-US" sz="1300" i="1" dirty="0">
                <a:solidFill>
                  <a:schemeClr val="accent5"/>
                </a:solidFill>
              </a:rPr>
              <a:t>Règles configurables, validées dès le parsing du DAG. KO : pas de chargement du DWH.</a:t>
            </a:r>
            <a:endParaRPr lang="en-US" sz="1300" dirty="0"/>
          </a:p>
        </p:txBody>
      </p:sp>
      <p:sp>
        <p:nvSpPr>
          <p:cNvPr id="11" name="carte-qualite-1"/>
          <p:cNvSpPr/>
          <p:nvPr/>
        </p:nvSpPr>
        <p:spPr>
          <a:xfrm>
            <a:off x="4320540" y="1691640"/>
            <a:ext cx="3520440" cy="3703320"/>
          </a:xfrm>
          <a:prstGeom prst="roundRect">
            <a:avLst>
              <a:gd name="adj" fmla="val 3117"/>
            </a:avLst>
          </a:prstGeom>
          <a:solidFill>
            <a:schemeClr val="bg2"/>
          </a:solidFill>
          <a:ln/>
        </p:spPr>
      </p:sp>
      <p:sp>
        <p:nvSpPr>
          <p:cNvPr id="12" name="icone-qualite-1-cercle"/>
          <p:cNvSpPr/>
          <p:nvPr/>
        </p:nvSpPr>
        <p:spPr>
          <a:xfrm>
            <a:off x="4640580" y="1965960"/>
            <a:ext cx="731520" cy="731520"/>
          </a:xfrm>
          <a:prstGeom prst="ellipse">
            <a:avLst/>
          </a:prstGeom>
          <a:solidFill>
            <a:schemeClr val="accent1"/>
          </a:solidFill>
          <a:ln/>
        </p:spPr>
      </p:sp>
      <p:pic>
        <p:nvPicPr>
          <p:cNvPr id="13" name="icone-qualite-1" descr="preencoded.png">    </p:cNvPr>
          <p:cNvPicPr>
            <a:picLocks noChangeAspect="1"/>
          </p:cNvPicPr>
          <p:nvPr/>
        </p:nvPicPr>
        <p:blipFill>
          <a:blip r:embed="rId2"/>
          <a:stretch>
            <a:fillRect/>
          </a:stretch>
        </p:blipFill>
        <p:spPr>
          <a:xfrm>
            <a:off x="4816145" y="2141525"/>
            <a:ext cx="380390" cy="380390"/>
          </a:xfrm>
          <a:prstGeom prst="rect">
            <a:avLst/>
          </a:prstGeom>
        </p:spPr>
      </p:pic>
      <p:sp>
        <p:nvSpPr>
          <p:cNvPr id="14" name="Text 10"/>
          <p:cNvSpPr txBox="1"/>
          <p:nvPr/>
        </p:nvSpPr>
        <p:spPr>
          <a:xfrm>
            <a:off x="5554980" y="2011680"/>
            <a:ext cx="2148840" cy="365760"/>
          </a:xfrm>
          <a:prstGeom prst="rect">
            <a:avLst/>
          </a:prstGeom>
          <a:noFill/>
          <a:ln/>
        </p:spPr>
        <p:txBody>
          <a:bodyPr wrap="square" lIns="0" tIns="0" rIns="0" bIns="0" rtlCol="0" anchor="t"/>
          <a:lstStyle/>
          <a:p>
            <a:pPr indent="0" marL="0">
              <a:buNone/>
            </a:pPr>
            <a:r>
              <a:rPr lang="en-US" sz="1900" b="1" dirty="0">
                <a:solidFill>
                  <a:schemeClr val="tx2"/>
                </a:solidFill>
              </a:rPr>
              <a:t>Anomalies</a:t>
            </a:r>
            <a:endParaRPr lang="en-US" sz="1900" dirty="0"/>
          </a:p>
        </p:txBody>
      </p:sp>
      <p:sp>
        <p:nvSpPr>
          <p:cNvPr id="15" name="Text 11"/>
          <p:cNvSpPr txBox="1"/>
          <p:nvPr/>
        </p:nvSpPr>
        <p:spPr>
          <a:xfrm>
            <a:off x="5554980" y="2377440"/>
            <a:ext cx="2148840" cy="320040"/>
          </a:xfrm>
          <a:prstGeom prst="rect">
            <a:avLst/>
          </a:prstGeom>
          <a:noFill/>
          <a:ln/>
        </p:spPr>
        <p:txBody>
          <a:bodyPr wrap="square" lIns="0" tIns="0" rIns="0" bIns="0" rtlCol="0" anchor="t"/>
          <a:lstStyle/>
          <a:p>
            <a:pPr indent="0" marL="0">
              <a:buNone/>
            </a:pPr>
            <a:r>
              <a:rPr lang="en-US" sz="1300" dirty="0">
                <a:solidFill>
                  <a:schemeClr val="accent5"/>
                </a:solidFill>
              </a:rPr>
              <a:t>DAG dédié</a:t>
            </a:r>
            <a:endParaRPr lang="en-US" sz="1300" dirty="0"/>
          </a:p>
        </p:txBody>
      </p:sp>
      <p:sp>
        <p:nvSpPr>
          <p:cNvPr id="16" name="Text 12"/>
          <p:cNvSpPr txBox="1"/>
          <p:nvPr/>
        </p:nvSpPr>
        <p:spPr>
          <a:xfrm>
            <a:off x="4640580" y="3017520"/>
            <a:ext cx="297180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CA &lt; 70 % de la moyenne 7 j</a:t>
            </a:r>
            <a:endParaRPr lang="en-US" sz="1600" dirty="0"/>
          </a:p>
          <a:p>
            <a:pPr marL="342900" indent="-342900">
              <a:spcAft>
                <a:spcPts val="800"/>
              </a:spcAft>
              <a:buSzPct val="100000"/>
              <a:buChar char="•"/>
            </a:pPr>
            <a:r>
              <a:rPr lang="en-US" sz="1600" dirty="0">
                <a:solidFill>
                  <a:schemeClr val="tx1"/>
                </a:solidFill>
              </a:rPr>
              <a:t>Même règle par vendeur</a:t>
            </a:r>
            <a:endParaRPr lang="en-US" sz="1600" dirty="0"/>
          </a:p>
          <a:p>
            <a:pPr marL="342900" indent="-342900">
              <a:spcAft>
                <a:spcPts val="800"/>
              </a:spcAft>
              <a:buSzPct val="100000"/>
              <a:buChar char="•"/>
            </a:pPr>
            <a:r>
              <a:rPr lang="en-US" sz="1600" dirty="0">
                <a:solidFill>
                  <a:schemeClr val="tx1"/>
                </a:solidFill>
              </a:rPr>
              <a:t>Prix &gt; 3× ou &lt; 0,2× catalogue</a:t>
            </a:r>
            <a:endParaRPr lang="en-US" sz="1600" dirty="0"/>
          </a:p>
        </p:txBody>
      </p:sp>
      <p:sp>
        <p:nvSpPr>
          <p:cNvPr id="17" name="Text 13"/>
          <p:cNvSpPr txBox="1"/>
          <p:nvPr/>
        </p:nvSpPr>
        <p:spPr>
          <a:xfrm>
            <a:off x="4640580" y="4434840"/>
            <a:ext cx="2971800" cy="777240"/>
          </a:xfrm>
          <a:prstGeom prst="rect">
            <a:avLst/>
          </a:prstGeom>
          <a:noFill/>
          <a:ln/>
        </p:spPr>
        <p:txBody>
          <a:bodyPr wrap="square" lIns="0" tIns="0" rIns="0" bIns="0" rtlCol="0" anchor="t"/>
          <a:lstStyle/>
          <a:p>
            <a:pPr indent="0" marL="0">
              <a:buNone/>
            </a:pPr>
            <a:r>
              <a:rPr lang="en-US" sz="1300" i="1" dirty="0">
                <a:solidFill>
                  <a:schemeClr val="accent5"/>
                </a:solidFill>
              </a:rPr>
              <a:t>Résultats dans analytics.anomalies, dashboard dédié.</a:t>
            </a:r>
            <a:endParaRPr lang="en-US" sz="1300" dirty="0"/>
          </a:p>
        </p:txBody>
      </p:sp>
      <p:sp>
        <p:nvSpPr>
          <p:cNvPr id="18" name="carte-qualite-2"/>
          <p:cNvSpPr/>
          <p:nvPr/>
        </p:nvSpPr>
        <p:spPr>
          <a:xfrm>
            <a:off x="8092440" y="1691640"/>
            <a:ext cx="3520440" cy="3703320"/>
          </a:xfrm>
          <a:prstGeom prst="roundRect">
            <a:avLst>
              <a:gd name="adj" fmla="val 3117"/>
            </a:avLst>
          </a:prstGeom>
          <a:solidFill>
            <a:schemeClr val="bg2"/>
          </a:solidFill>
          <a:ln/>
        </p:spPr>
      </p:sp>
      <p:sp>
        <p:nvSpPr>
          <p:cNvPr id="19" name="icone-qualite-2-cercle"/>
          <p:cNvSpPr/>
          <p:nvPr/>
        </p:nvSpPr>
        <p:spPr>
          <a:xfrm>
            <a:off x="8412480" y="1965960"/>
            <a:ext cx="731520" cy="731520"/>
          </a:xfrm>
          <a:prstGeom prst="ellipse">
            <a:avLst/>
          </a:prstGeom>
          <a:solidFill>
            <a:schemeClr val="accent2"/>
          </a:solidFill>
          <a:ln/>
        </p:spPr>
      </p:sp>
      <p:pic>
        <p:nvPicPr>
          <p:cNvPr id="20" name="icone-qualite-2" descr="preencoded.png">    </p:cNvPr>
          <p:cNvPicPr>
            <a:picLocks noChangeAspect="1"/>
          </p:cNvPicPr>
          <p:nvPr/>
        </p:nvPicPr>
        <p:blipFill>
          <a:blip r:embed="rId3"/>
          <a:stretch>
            <a:fillRect/>
          </a:stretch>
        </p:blipFill>
        <p:spPr>
          <a:xfrm>
            <a:off x="8588045" y="2141525"/>
            <a:ext cx="380390" cy="380390"/>
          </a:xfrm>
          <a:prstGeom prst="rect">
            <a:avLst/>
          </a:prstGeom>
        </p:spPr>
      </p:pic>
      <p:sp>
        <p:nvSpPr>
          <p:cNvPr id="21" name="Text 16"/>
          <p:cNvSpPr txBox="1"/>
          <p:nvPr/>
        </p:nvSpPr>
        <p:spPr>
          <a:xfrm>
            <a:off x="9326880" y="2011680"/>
            <a:ext cx="2148840" cy="365760"/>
          </a:xfrm>
          <a:prstGeom prst="rect">
            <a:avLst/>
          </a:prstGeom>
          <a:noFill/>
          <a:ln/>
        </p:spPr>
        <p:txBody>
          <a:bodyPr wrap="square" lIns="0" tIns="0" rIns="0" bIns="0" rtlCol="0" anchor="t"/>
          <a:lstStyle/>
          <a:p>
            <a:pPr indent="0" marL="0">
              <a:buNone/>
            </a:pPr>
            <a:r>
              <a:rPr lang="en-US" sz="1900" b="1" dirty="0">
                <a:solidFill>
                  <a:schemeClr val="tx2"/>
                </a:solidFill>
              </a:rPr>
              <a:t>Alertes</a:t>
            </a:r>
            <a:endParaRPr lang="en-US" sz="1900" dirty="0"/>
          </a:p>
        </p:txBody>
      </p:sp>
      <p:sp>
        <p:nvSpPr>
          <p:cNvPr id="22" name="Text 17"/>
          <p:cNvSpPr txBox="1"/>
          <p:nvPr/>
        </p:nvSpPr>
        <p:spPr>
          <a:xfrm>
            <a:off x="9326880" y="2377440"/>
            <a:ext cx="2148840" cy="320040"/>
          </a:xfrm>
          <a:prstGeom prst="rect">
            <a:avLst/>
          </a:prstGeom>
          <a:noFill/>
          <a:ln/>
        </p:spPr>
        <p:txBody>
          <a:bodyPr wrap="square" lIns="0" tIns="0" rIns="0" bIns="0" rtlCol="0" anchor="t"/>
          <a:lstStyle/>
          <a:p>
            <a:pPr indent="0" marL="0">
              <a:buNone/>
            </a:pPr>
            <a:r>
              <a:rPr lang="en-US" sz="1300" dirty="0">
                <a:solidFill>
                  <a:schemeClr val="accent5"/>
                </a:solidFill>
              </a:rPr>
              <a:t>Webhook</a:t>
            </a:r>
            <a:endParaRPr lang="en-US" sz="1300" dirty="0"/>
          </a:p>
        </p:txBody>
      </p:sp>
      <p:sp>
        <p:nvSpPr>
          <p:cNvPr id="23" name="Text 18"/>
          <p:cNvSpPr txBox="1"/>
          <p:nvPr/>
        </p:nvSpPr>
        <p:spPr>
          <a:xfrm>
            <a:off x="8412480" y="3017520"/>
            <a:ext cx="297180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Qualité KO</a:t>
            </a:r>
            <a:endParaRPr lang="en-US" sz="1600" dirty="0"/>
          </a:p>
          <a:p>
            <a:pPr marL="342900" indent="-342900">
              <a:spcAft>
                <a:spcPts val="800"/>
              </a:spcAft>
              <a:buSzPct val="100000"/>
              <a:buChar char="•"/>
            </a:pPr>
            <a:r>
              <a:rPr lang="en-US" sz="1600" dirty="0">
                <a:solidFill>
                  <a:schemeClr val="tx1"/>
                </a:solidFill>
              </a:rPr>
              <a:t>Anomalies du jour</a:t>
            </a:r>
            <a:endParaRPr lang="en-US" sz="1600" dirty="0"/>
          </a:p>
          <a:p>
            <a:pPr marL="342900" indent="-342900">
              <a:spcAft>
                <a:spcPts val="800"/>
              </a:spcAft>
              <a:buSzPct val="100000"/>
              <a:buChar char="•"/>
            </a:pPr>
            <a:r>
              <a:rPr lang="en-US" sz="1600" dirty="0">
                <a:solidFill>
                  <a:schemeClr val="tx1"/>
                </a:solidFill>
              </a:rPr>
              <a:t>Échec d'un DAG (US-07)</a:t>
            </a:r>
            <a:endParaRPr lang="en-US" sz="1600" dirty="0"/>
          </a:p>
        </p:txBody>
      </p:sp>
      <p:sp>
        <p:nvSpPr>
          <p:cNvPr id="24" name="Text 19"/>
          <p:cNvSpPr txBox="1"/>
          <p:nvPr/>
        </p:nvSpPr>
        <p:spPr>
          <a:xfrm>
            <a:off x="8412480" y="4434840"/>
            <a:ext cx="2971800" cy="777240"/>
          </a:xfrm>
          <a:prstGeom prst="rect">
            <a:avLst/>
          </a:prstGeom>
          <a:noFill/>
          <a:ln/>
        </p:spPr>
        <p:txBody>
          <a:bodyPr wrap="square" lIns="0" tIns="0" rIns="0" bIns="0" rtlCol="0" anchor="t"/>
          <a:lstStyle/>
          <a:p>
            <a:pPr indent="0" marL="0">
              <a:buNone/>
            </a:pPr>
            <a:r>
              <a:rPr lang="en-US" sz="1300" i="1" dirty="0">
                <a:solidFill>
                  <a:schemeClr val="accent5"/>
                </a:solidFill>
              </a:rPr>
              <a:t>Passer à Slack ou Teams : il suffit de changer la Connection.</a:t>
            </a:r>
            <a:endParaRPr lang="en-US" sz="1300" dirty="0"/>
          </a:p>
        </p:txBody>
      </p:sp>
      <p:sp>
        <p:nvSpPr>
          <p:cNvPr id="25" name="bandeau-tests"/>
          <p:cNvSpPr/>
          <p:nvPr/>
        </p:nvSpPr>
        <p:spPr>
          <a:xfrm>
            <a:off x="548640" y="5577840"/>
            <a:ext cx="11064240" cy="548640"/>
          </a:xfrm>
          <a:prstGeom prst="roundRect">
            <a:avLst>
              <a:gd name="adj" fmla="val 20000"/>
            </a:avLst>
          </a:prstGeom>
          <a:solidFill>
            <a:schemeClr val="tx2"/>
          </a:solidFill>
          <a:ln/>
        </p:spPr>
      </p:sp>
      <p:sp>
        <p:nvSpPr>
          <p:cNvPr id="26" name="Text 21"/>
          <p:cNvSpPr txBox="1"/>
          <p:nvPr/>
        </p:nvSpPr>
        <p:spPr>
          <a:xfrm>
            <a:off x="822960" y="5577840"/>
            <a:ext cx="10515600" cy="548640"/>
          </a:xfrm>
          <a:prstGeom prst="rect">
            <a:avLst/>
          </a:prstGeom>
          <a:noFill/>
          <a:ln/>
        </p:spPr>
        <p:txBody>
          <a:bodyPr wrap="square" lIns="0" tIns="0" rIns="0" bIns="0" rtlCol="0" anchor="ctr"/>
          <a:lstStyle/>
          <a:p>
            <a:pPr indent="0" marL="0">
              <a:buNone/>
            </a:pPr>
            <a:r>
              <a:rPr lang="en-US" sz="1400" dirty="0">
                <a:solidFill>
                  <a:schemeClr val="bg1"/>
                </a:solidFill>
              </a:rPr>
              <a:t>Chaque garde-fou est couvert par pytest : opérateur testé sur base mockée, branchements et alertes vérifiés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OBSERVABILITÉ</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Supervision : Prometheus et Grafana</a:t>
            </a:r>
            <a:endParaRPr lang="en-US" sz="3600" dirty="0"/>
          </a:p>
        </p:txBody>
      </p:sp>
      <p:sp>
        <p:nvSpPr>
          <p:cNvPr id="4" name="capture-grafana-airflow-cadre"/>
          <p:cNvSpPr/>
          <p:nvPr/>
        </p:nvSpPr>
        <p:spPr>
          <a:xfrm>
            <a:off x="612648" y="1709928"/>
            <a:ext cx="5175504" cy="3918204"/>
          </a:xfrm>
          <a:prstGeom prst="roundRect">
            <a:avLst>
              <a:gd name="adj" fmla="val 1867"/>
            </a:avLst>
          </a:prstGeom>
          <a:solidFill>
            <a:schemeClr val="bg1"/>
          </a:solidFill>
          <a:ln w="9525">
            <a:solidFill>
              <a:schemeClr val="accent6"/>
            </a:solidFill>
            <a:prstDash val="solid"/>
          </a:ln>
          <a:effectLst>
            <a:outerShdw sx="100000" sy="100000" kx="0" ky="0" algn="bl" rotWithShape="0" blurRad="101600" dist="25400" dir="5400000">
              <a:srgbClr val="2B1B3D">
                <a:alpha val="12000"/>
              </a:srgbClr>
            </a:outerShdw>
          </a:effectLst>
        </p:spPr>
      </p:sp>
      <p:pic>
        <p:nvPicPr>
          <p:cNvPr id="5" name="capture-grafana-airflow" descr="/Users/william/Documents/Workspace/perso/Cours-Data/data-lake-warehouse/projet-final-marketplace/docs/grafana/airflow-3.jpg">    </p:cNvPr>
          <p:cNvPicPr>
            <a:picLocks noChangeAspect="1"/>
          </p:cNvPicPr>
          <p:nvPr/>
        </p:nvPicPr>
        <p:blipFill>
          <a:blip r:embed="rId1"/>
          <a:stretch>
            <a:fillRect/>
          </a:stretch>
        </p:blipFill>
        <p:spPr>
          <a:xfrm>
            <a:off x="685800" y="1783080"/>
            <a:ext cx="5029200" cy="3771900"/>
          </a:xfrm>
          <a:prstGeom prst="rect">
            <a:avLst/>
          </a:prstGeom>
        </p:spPr>
      </p:pic>
      <p:sp>
        <p:nvSpPr>
          <p:cNvPr id="6" name="capture-grafana-postgres-cadre"/>
          <p:cNvSpPr/>
          <p:nvPr/>
        </p:nvSpPr>
        <p:spPr>
          <a:xfrm>
            <a:off x="6281928" y="1709928"/>
            <a:ext cx="5175504" cy="3918204"/>
          </a:xfrm>
          <a:prstGeom prst="roundRect">
            <a:avLst>
              <a:gd name="adj" fmla="val 1867"/>
            </a:avLst>
          </a:prstGeom>
          <a:solidFill>
            <a:schemeClr val="bg1"/>
          </a:solidFill>
          <a:ln w="9525">
            <a:solidFill>
              <a:schemeClr val="accent6"/>
            </a:solidFill>
            <a:prstDash val="solid"/>
          </a:ln>
          <a:effectLst>
            <a:outerShdw sx="100000" sy="100000" kx="0" ky="0" algn="bl" rotWithShape="0" blurRad="101600" dist="25400" dir="5400000">
              <a:srgbClr val="2B1B3D">
                <a:alpha val="12000"/>
              </a:srgbClr>
            </a:outerShdw>
          </a:effectLst>
        </p:spPr>
      </p:sp>
      <p:pic>
        <p:nvPicPr>
          <p:cNvPr id="7" name="capture-grafana-postgres" descr="/Users/william/Documents/Workspace/perso/Cours-Data/data-lake-warehouse/projet-final-marketplace/docs/grafana/postgresql-database.jpg">    </p:cNvPr>
          <p:cNvPicPr>
            <a:picLocks noChangeAspect="1"/>
          </p:cNvPicPr>
          <p:nvPr/>
        </p:nvPicPr>
        <p:blipFill>
          <a:blip r:embed="rId2"/>
          <a:stretch>
            <a:fillRect/>
          </a:stretch>
        </p:blipFill>
        <p:spPr>
          <a:xfrm>
            <a:off x="6355080" y="1783080"/>
            <a:ext cx="5029200" cy="3771900"/>
          </a:xfrm>
          <a:prstGeom prst="rect">
            <a:avLst/>
          </a:prstGeom>
        </p:spPr>
      </p:pic>
      <p:sp>
        <p:nvSpPr>
          <p:cNvPr id="8" name="Text 4"/>
          <p:cNvSpPr txBox="1"/>
          <p:nvPr/>
        </p:nvSpPr>
        <p:spPr>
          <a:xfrm>
            <a:off x="685800" y="5669280"/>
            <a:ext cx="5029200" cy="320040"/>
          </a:xfrm>
          <a:prstGeom prst="rect">
            <a:avLst/>
          </a:prstGeom>
          <a:noFill/>
          <a:ln/>
        </p:spPr>
        <p:txBody>
          <a:bodyPr wrap="square" lIns="0" tIns="0" rIns="0" bIns="0" rtlCol="0" anchor="t"/>
          <a:lstStyle/>
          <a:p>
            <a:pPr indent="0" marL="0">
              <a:buNone/>
            </a:pPr>
            <a:r>
              <a:rPr lang="en-US" sz="1300" dirty="0">
                <a:solidFill>
                  <a:schemeClr val="accent5"/>
                </a:solidFill>
              </a:rPr>
              <a:t>Airflow 3 (ID 24832) : scheduler, executor, pools, triggerer</a:t>
            </a:r>
            <a:endParaRPr lang="en-US" sz="1300" dirty="0"/>
          </a:p>
        </p:txBody>
      </p:sp>
      <p:sp>
        <p:nvSpPr>
          <p:cNvPr id="9" name="Text 5"/>
          <p:cNvSpPr txBox="1"/>
          <p:nvPr/>
        </p:nvSpPr>
        <p:spPr>
          <a:xfrm>
            <a:off x="6355080" y="5669280"/>
            <a:ext cx="5029200" cy="320040"/>
          </a:xfrm>
          <a:prstGeom prst="rect">
            <a:avLst/>
          </a:prstGeom>
          <a:noFill/>
          <a:ln/>
        </p:spPr>
        <p:txBody>
          <a:bodyPr wrap="square" lIns="0" tIns="0" rIns="0" bIns="0" rtlCol="0" anchor="t"/>
          <a:lstStyle/>
          <a:p>
            <a:pPr indent="0" marL="0">
              <a:buNone/>
            </a:pPr>
            <a:r>
              <a:rPr lang="en-US" sz="1300" dirty="0">
                <a:solidFill>
                  <a:schemeClr val="accent5"/>
                </a:solidFill>
              </a:rPr>
              <a:t>PostgreSQL Database (ID 9628) : DWH supervisé sans modifier le JSON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3657600" cy="1371600"/>
          </a:xfrm>
          <a:prstGeom prst="rect">
            <a:avLst/>
          </a:prstGeom>
          <a:noFill/>
          <a:ln/>
        </p:spPr>
        <p:txBody>
          <a:bodyPr wrap="square" lIns="0" tIns="0" rIns="0" bIns="0" rtlCol="0" anchor="b"/>
          <a:lstStyle/>
          <a:p>
            <a:pPr indent="0" marL="0">
              <a:buNone/>
            </a:pPr>
            <a:r>
              <a:rPr lang="en-US" sz="8800" b="1" dirty="0">
                <a:solidFill>
                  <a:schemeClr val="accent1"/>
                </a:solidFill>
              </a:rPr>
              <a:t>03</a:t>
            </a:r>
            <a:endParaRPr lang="en-US" sz="8800" dirty="0"/>
          </a:p>
        </p:txBody>
      </p:sp>
      <p:sp>
        <p:nvSpPr>
          <p:cNvPr id="3" name="Text 0"/>
          <p:cNvSpPr/>
          <p:nvPr>
            <p:ph idx="101" type="title" hasCustomPrompt="1"/>
          </p:nvPr>
        </p:nvSpPr>
        <p:spPr>
          <a:xfrm>
            <a:off x="731520" y="2880360"/>
            <a:ext cx="7498080" cy="914400"/>
          </a:xfrm>
          <a:prstGeom prst="rect">
            <a:avLst/>
          </a:prstGeom>
          <a:noFill/>
          <a:ln/>
        </p:spPr>
        <p:txBody>
          <a:bodyPr wrap="square" lIns="0" tIns="0" rIns="0" bIns="0" rtlCol="0" anchor="t"/>
          <a:lstStyle/>
          <a:p>
            <a:pPr algn="l" indent="0" marL="0">
              <a:buNone/>
            </a:pPr>
            <a:r>
              <a:rPr lang="en-US" sz="4800" b="1" dirty="0">
                <a:solidFill>
                  <a:schemeClr val="bg1"/>
                </a:solidFill>
              </a:rPr>
              <a:t>Démonstration</a:t>
            </a:r>
            <a:endParaRPr lang="en-US" sz="4800" dirty="0"/>
          </a:p>
        </p:txBody>
      </p:sp>
      <p:sp>
        <p:nvSpPr>
          <p:cNvPr id="4" name="Text 0"/>
          <p:cNvSpPr/>
          <p:nvPr>
            <p:ph idx="102" type="body" hasCustomPrompt="1"/>
          </p:nvPr>
        </p:nvSpPr>
        <p:spPr>
          <a:xfrm>
            <a:off x="731520" y="3931920"/>
            <a:ext cx="7498080" cy="1097280"/>
          </a:xfrm>
          <a:prstGeom prst="rect">
            <a:avLst/>
          </a:prstGeom>
          <a:noFill/>
          <a:ln/>
        </p:spPr>
        <p:txBody>
          <a:bodyPr wrap="square" lIns="0" tIns="0" rIns="0" bIns="0" rtlCol="0" anchor="t"/>
          <a:lstStyle/>
          <a:p>
            <a:pPr indent="0" marL="0">
              <a:buNone/>
            </a:pPr>
            <a:r>
              <a:rPr lang="en-US" sz="2000" dirty="0">
                <a:solidFill>
                  <a:schemeClr val="accent6"/>
                </a:solidFill>
              </a:rPr>
              <a:t>Reproductible en quatre commandes, depuis un clone neuf</a:t>
            </a:r>
            <a:endParaRPr lang="en-US" sz="2000" dirty="0"/>
          </a:p>
        </p:txBody>
      </p:sp>
      <p:sp>
        <p:nvSpPr>
          <p:cNvPr id="5" name="icone-section-cercle"/>
          <p:cNvSpPr/>
          <p:nvPr/>
        </p:nvSpPr>
        <p:spPr>
          <a:xfrm>
            <a:off x="8778240" y="1828800"/>
            <a:ext cx="2651760" cy="2651760"/>
          </a:xfrm>
          <a:prstGeom prst="ellipse">
            <a:avLst/>
          </a:prstGeom>
          <a:solidFill>
            <a:schemeClr val="accent4"/>
          </a:solidFill>
          <a:ln/>
        </p:spPr>
      </p:sp>
      <p:pic>
        <p:nvPicPr>
          <p:cNvPr id="6" name="icone-section" descr="preencoded.png">    </p:cNvPr>
          <p:cNvPicPr>
            <a:picLocks noChangeAspect="1"/>
          </p:cNvPicPr>
          <p:nvPr/>
        </p:nvPicPr>
        <p:blipFill>
          <a:blip r:embed="rId1"/>
          <a:stretch>
            <a:fillRect/>
          </a:stretch>
        </p:blipFill>
        <p:spPr>
          <a:xfrm>
            <a:off x="9414662" y="2465222"/>
            <a:ext cx="1378915" cy="13789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LANCEMENT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La plateforme en 4 commandes</a:t>
            </a:r>
            <a:endParaRPr lang="en-US" sz="3600" dirty="0"/>
          </a:p>
        </p:txBody>
      </p:sp>
      <p:sp>
        <p:nvSpPr>
          <p:cNvPr id="4" name="terminal"/>
          <p:cNvSpPr/>
          <p:nvPr/>
        </p:nvSpPr>
        <p:spPr>
          <a:xfrm>
            <a:off x="548640" y="1691640"/>
            <a:ext cx="6766560" cy="3017520"/>
          </a:xfrm>
          <a:prstGeom prst="roundRect">
            <a:avLst>
              <a:gd name="adj" fmla="val 3636"/>
            </a:avLst>
          </a:prstGeom>
          <a:solidFill>
            <a:schemeClr val="tx2"/>
          </a:solidFill>
          <a:ln/>
        </p:spPr>
      </p:sp>
      <p:sp>
        <p:nvSpPr>
          <p:cNvPr id="5" name="Text 3"/>
          <p:cNvSpPr txBox="1"/>
          <p:nvPr/>
        </p:nvSpPr>
        <p:spPr>
          <a:xfrm>
            <a:off x="914400" y="1691640"/>
            <a:ext cx="6217920" cy="3017520"/>
          </a:xfrm>
          <a:prstGeom prst="rect">
            <a:avLst/>
          </a:prstGeom>
          <a:noFill/>
          <a:ln/>
        </p:spPr>
        <p:txBody>
          <a:bodyPr wrap="square" lIns="0" tIns="0" rIns="0" bIns="0" rtlCol="0" anchor="ctr"/>
          <a:lstStyle/>
          <a:p>
            <a:pPr indent="0" marL="0">
              <a:spcAft>
                <a:spcPts val="1400"/>
              </a:spcAft>
              <a:buNone/>
            </a:pPr>
            <a:r>
              <a:rPr lang="en-US" sz="1900" dirty="0">
                <a:solidFill>
                  <a:schemeClr val="accent3"/>
                </a:solidFill>
                <a:latin typeface="Courier New" pitchFamily="34" charset="0"/>
                <a:ea typeface="Courier New" pitchFamily="34" charset="-122"/>
                <a:cs typeface="Courier New" pitchFamily="34" charset="-120"/>
              </a:rPr>
              <a:t>$ ./scripts/init_env.sh</a:t>
            </a:r>
            <a:endParaRPr lang="en-US" sz="1900" dirty="0"/>
          </a:p>
          <a:p>
            <a:pPr indent="0" marL="0">
              <a:spcAft>
                <a:spcPts val="1400"/>
              </a:spcAft>
              <a:buNone/>
            </a:pPr>
            <a:r>
              <a:rPr lang="en-US" sz="1900" dirty="0">
                <a:solidFill>
                  <a:schemeClr val="accent3"/>
                </a:solidFill>
                <a:latin typeface="Courier New" pitchFamily="34" charset="0"/>
                <a:ea typeface="Courier New" pitchFamily="34" charset="-122"/>
                <a:cs typeface="Courier New" pitchFamily="34" charset="-120"/>
              </a:rPr>
              <a:t>$ docker compose up -d --build</a:t>
            </a:r>
            <a:endParaRPr lang="en-US" sz="1900" dirty="0"/>
          </a:p>
          <a:p>
            <a:pPr indent="0" marL="0">
              <a:spcAft>
                <a:spcPts val="1400"/>
              </a:spcAft>
              <a:buNone/>
            </a:pPr>
            <a:r>
              <a:rPr lang="en-US" sz="1900" dirty="0">
                <a:solidFill>
                  <a:schemeClr val="accent3"/>
                </a:solidFill>
                <a:latin typeface="Courier New" pitchFamily="34" charset="0"/>
                <a:ea typeface="Courier New" pitchFamily="34" charset="-122"/>
                <a:cs typeface="Courier New" pitchFamily="34" charset="-120"/>
              </a:rPr>
              <a:t>$ docker compose ps</a:t>
            </a:r>
            <a:endParaRPr lang="en-US" sz="1900" dirty="0"/>
          </a:p>
          <a:p>
            <a:pPr indent="0" marL="0">
              <a:spcAft>
                <a:spcPts val="1400"/>
              </a:spcAft>
              <a:buNone/>
            </a:pPr>
            <a:r>
              <a:rPr lang="en-US" sz="1900" dirty="0">
                <a:solidFill>
                  <a:schemeClr val="accent3"/>
                </a:solidFill>
                <a:latin typeface="Courier New" pitchFamily="34" charset="0"/>
                <a:ea typeface="Courier New" pitchFamily="34" charset="-122"/>
                <a:cs typeface="Courier New" pitchFamily="34" charset="-120"/>
              </a:rPr>
              <a:t>$ ./scripts/load_demo_data.sh</a:t>
            </a:r>
            <a:endParaRPr lang="en-US" sz="1900" dirty="0"/>
          </a:p>
        </p:txBody>
      </p:sp>
      <p:sp>
        <p:nvSpPr>
          <p:cNvPr id="6" name="Text 4"/>
          <p:cNvSpPr txBox="1"/>
          <p:nvPr/>
        </p:nvSpPr>
        <p:spPr>
          <a:xfrm>
            <a:off x="548640" y="4983480"/>
            <a:ext cx="6766560" cy="731520"/>
          </a:xfrm>
          <a:prstGeom prst="rect">
            <a:avLst/>
          </a:prstGeom>
          <a:noFill/>
          <a:ln/>
        </p:spPr>
        <p:txBody>
          <a:bodyPr wrap="square" lIns="0" tIns="0" rIns="0" bIns="0" rtlCol="0" anchor="t"/>
          <a:lstStyle/>
          <a:p>
            <a:pPr indent="0" marL="0">
              <a:buNone/>
            </a:pPr>
            <a:r>
              <a:rPr lang="en-US" sz="1500" i="1" dirty="0">
                <a:solidFill>
                  <a:schemeClr val="accent5"/>
                </a:solidFill>
              </a:rPr>
              <a:t>Testé après docker compose down -v et git clean -xfd : résultats identiques au centime</a:t>
            </a:r>
            <a:endParaRPr lang="en-US" sz="1500" dirty="0"/>
          </a:p>
        </p:txBody>
      </p:sp>
      <p:sp>
        <p:nvSpPr>
          <p:cNvPr id="7" name="carte-lancement-0"/>
          <p:cNvSpPr/>
          <p:nvPr/>
        </p:nvSpPr>
        <p:spPr>
          <a:xfrm>
            <a:off x="7680960" y="1691640"/>
            <a:ext cx="3931920" cy="1280160"/>
          </a:xfrm>
          <a:prstGeom prst="roundRect">
            <a:avLst>
              <a:gd name="adj" fmla="val 8571"/>
            </a:avLst>
          </a:prstGeom>
          <a:solidFill>
            <a:schemeClr val="bg2"/>
          </a:solidFill>
          <a:ln/>
        </p:spPr>
      </p:sp>
      <p:sp>
        <p:nvSpPr>
          <p:cNvPr id="8" name="Text 6"/>
          <p:cNvSpPr txBox="1"/>
          <p:nvPr/>
        </p:nvSpPr>
        <p:spPr>
          <a:xfrm>
            <a:off x="7955280" y="1828800"/>
            <a:ext cx="347472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 1 min</a:t>
            </a:r>
            <a:endParaRPr lang="en-US" sz="3400" dirty="0"/>
          </a:p>
        </p:txBody>
      </p:sp>
      <p:sp>
        <p:nvSpPr>
          <p:cNvPr id="9" name="Text 7"/>
          <p:cNvSpPr txBox="1"/>
          <p:nvPr/>
        </p:nvSpPr>
        <p:spPr>
          <a:xfrm>
            <a:off x="7955280" y="2468880"/>
            <a:ext cx="3474720" cy="365760"/>
          </a:xfrm>
          <a:prstGeom prst="rect">
            <a:avLst/>
          </a:prstGeom>
          <a:noFill/>
          <a:ln/>
        </p:spPr>
        <p:txBody>
          <a:bodyPr wrap="square" lIns="0" tIns="0" rIns="0" bIns="0" rtlCol="0" anchor="t"/>
          <a:lstStyle/>
          <a:p>
            <a:pPr indent="0" marL="0">
              <a:buNone/>
            </a:pPr>
            <a:r>
              <a:rPr lang="en-US" sz="1500" dirty="0">
                <a:solidFill>
                  <a:schemeClr val="tx1"/>
                </a:solidFill>
              </a:rPr>
              <a:t>démarrage des 17 services</a:t>
            </a:r>
            <a:endParaRPr lang="en-US" sz="1500" dirty="0"/>
          </a:p>
        </p:txBody>
      </p:sp>
      <p:sp>
        <p:nvSpPr>
          <p:cNvPr id="10" name="carte-lancement-1"/>
          <p:cNvSpPr/>
          <p:nvPr/>
        </p:nvSpPr>
        <p:spPr>
          <a:xfrm>
            <a:off x="7680960" y="3154680"/>
            <a:ext cx="3931920" cy="1280160"/>
          </a:xfrm>
          <a:prstGeom prst="roundRect">
            <a:avLst>
              <a:gd name="adj" fmla="val 8571"/>
            </a:avLst>
          </a:prstGeom>
          <a:solidFill>
            <a:schemeClr val="bg2"/>
          </a:solidFill>
          <a:ln/>
        </p:spPr>
      </p:sp>
      <p:sp>
        <p:nvSpPr>
          <p:cNvPr id="11" name="Text 9"/>
          <p:cNvSpPr txBox="1"/>
          <p:nvPr/>
        </p:nvSpPr>
        <p:spPr>
          <a:xfrm>
            <a:off x="7955280" y="3291840"/>
            <a:ext cx="347472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 10 min</a:t>
            </a:r>
            <a:endParaRPr lang="en-US" sz="3400" dirty="0"/>
          </a:p>
        </p:txBody>
      </p:sp>
      <p:sp>
        <p:nvSpPr>
          <p:cNvPr id="12" name="Text 10"/>
          <p:cNvSpPr txBox="1"/>
          <p:nvPr/>
        </p:nvSpPr>
        <p:spPr>
          <a:xfrm>
            <a:off x="7955280" y="3931920"/>
            <a:ext cx="3474720" cy="365760"/>
          </a:xfrm>
          <a:prstGeom prst="rect">
            <a:avLst/>
          </a:prstGeom>
          <a:noFill/>
          <a:ln/>
        </p:spPr>
        <p:txBody>
          <a:bodyPr wrap="square" lIns="0" tIns="0" rIns="0" bIns="0" rtlCol="0" anchor="t"/>
          <a:lstStyle/>
          <a:p>
            <a:pPr indent="0" marL="0">
              <a:buNone/>
            </a:pPr>
            <a:r>
              <a:rPr lang="en-US" sz="1500" dirty="0">
                <a:solidFill>
                  <a:schemeClr val="tx1"/>
                </a:solidFill>
              </a:rPr>
              <a:t>pour charger 50 jours de données</a:t>
            </a:r>
            <a:endParaRPr lang="en-US" sz="1500" dirty="0"/>
          </a:p>
        </p:txBody>
      </p:sp>
      <p:sp>
        <p:nvSpPr>
          <p:cNvPr id="13" name="carte-lancement-2"/>
          <p:cNvSpPr/>
          <p:nvPr/>
        </p:nvSpPr>
        <p:spPr>
          <a:xfrm>
            <a:off x="7680960" y="4617720"/>
            <a:ext cx="3931920" cy="1280160"/>
          </a:xfrm>
          <a:prstGeom prst="roundRect">
            <a:avLst>
              <a:gd name="adj" fmla="val 8571"/>
            </a:avLst>
          </a:prstGeom>
          <a:solidFill>
            <a:schemeClr val="bg2"/>
          </a:solidFill>
          <a:ln/>
        </p:spPr>
      </p:sp>
      <p:sp>
        <p:nvSpPr>
          <p:cNvPr id="14" name="Text 12"/>
          <p:cNvSpPr txBox="1"/>
          <p:nvPr/>
        </p:nvSpPr>
        <p:spPr>
          <a:xfrm>
            <a:off x="7955280" y="4754880"/>
            <a:ext cx="347472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44</a:t>
            </a:r>
            <a:endParaRPr lang="en-US" sz="3400" dirty="0"/>
          </a:p>
        </p:txBody>
      </p:sp>
      <p:sp>
        <p:nvSpPr>
          <p:cNvPr id="15" name="Text 13"/>
          <p:cNvSpPr txBox="1"/>
          <p:nvPr/>
        </p:nvSpPr>
        <p:spPr>
          <a:xfrm>
            <a:off x="7955280" y="5394960"/>
            <a:ext cx="3474720" cy="365760"/>
          </a:xfrm>
          <a:prstGeom prst="rect">
            <a:avLst/>
          </a:prstGeom>
          <a:noFill/>
          <a:ln/>
        </p:spPr>
        <p:txBody>
          <a:bodyPr wrap="square" lIns="0" tIns="0" rIns="0" bIns="0" rtlCol="0" anchor="t"/>
          <a:lstStyle/>
          <a:p>
            <a:pPr indent="0" marL="0">
              <a:buNone/>
            </a:pPr>
            <a:r>
              <a:rPr lang="en-US" sz="1500" dirty="0">
                <a:solidFill>
                  <a:schemeClr val="tx1"/>
                </a:solidFill>
              </a:rPr>
              <a:t>tests pytest au vert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DÉROULÉ</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Scénario de démonstration</a:t>
            </a:r>
            <a:endParaRPr lang="en-US" sz="3600" dirty="0"/>
          </a:p>
        </p:txBody>
      </p:sp>
      <p:sp>
        <p:nvSpPr>
          <p:cNvPr id="4" name="frise"/>
          <p:cNvSpPr/>
          <p:nvPr/>
        </p:nvSpPr>
        <p:spPr>
          <a:xfrm>
            <a:off x="1563624" y="2331720"/>
            <a:ext cx="9034272" cy="0"/>
          </a:xfrm>
          <a:prstGeom prst="line">
            <a:avLst/>
          </a:prstGeom>
          <a:noFill/>
          <a:ln w="25400">
            <a:solidFill>
              <a:schemeClr val="accent6"/>
            </a:solidFill>
            <a:prstDash val="solid"/>
          </a:ln>
        </p:spPr>
      </p:sp>
      <p:sp>
        <p:nvSpPr>
          <p:cNvPr id="5" name="icone-etape-0-cercle"/>
          <p:cNvSpPr/>
          <p:nvPr/>
        </p:nvSpPr>
        <p:spPr>
          <a:xfrm>
            <a:off x="1106424" y="1874520"/>
            <a:ext cx="914400" cy="914400"/>
          </a:xfrm>
          <a:prstGeom prst="ellipse">
            <a:avLst/>
          </a:prstGeom>
          <a:solidFill>
            <a:schemeClr val="accent4"/>
          </a:solidFill>
          <a:ln/>
        </p:spPr>
      </p:sp>
      <p:pic>
        <p:nvPicPr>
          <p:cNvPr id="6" name="icone-etape-0" descr="preencoded.png">    </p:cNvPr>
          <p:cNvPicPr>
            <a:picLocks noChangeAspect="1"/>
          </p:cNvPicPr>
          <p:nvPr/>
        </p:nvPicPr>
        <p:blipFill>
          <a:blip r:embed="rId1"/>
          <a:stretch>
            <a:fillRect/>
          </a:stretch>
        </p:blipFill>
        <p:spPr>
          <a:xfrm>
            <a:off x="1325880" y="2093976"/>
            <a:ext cx="475488" cy="475488"/>
          </a:xfrm>
          <a:prstGeom prst="rect">
            <a:avLst/>
          </a:prstGeom>
        </p:spPr>
      </p:pic>
      <p:sp>
        <p:nvSpPr>
          <p:cNvPr id="7" name="Text 4"/>
          <p:cNvSpPr txBox="1"/>
          <p:nvPr/>
        </p:nvSpPr>
        <p:spPr>
          <a:xfrm>
            <a:off x="548640" y="2971800"/>
            <a:ext cx="2029968" cy="457200"/>
          </a:xfrm>
          <a:prstGeom prst="rect">
            <a:avLst/>
          </a:prstGeom>
          <a:noFill/>
          <a:ln/>
        </p:spPr>
        <p:txBody>
          <a:bodyPr wrap="square" lIns="0" tIns="0" rIns="0" bIns="0" rtlCol="0" anchor="t"/>
          <a:lstStyle/>
          <a:p>
            <a:pPr algn="ct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8" name="carte-etape-0"/>
          <p:cNvSpPr/>
          <p:nvPr/>
        </p:nvSpPr>
        <p:spPr>
          <a:xfrm>
            <a:off x="548640" y="3520440"/>
            <a:ext cx="2029968" cy="2377440"/>
          </a:xfrm>
          <a:prstGeom prst="roundRect">
            <a:avLst>
              <a:gd name="adj" fmla="val 5405"/>
            </a:avLst>
          </a:prstGeom>
          <a:solidFill>
            <a:schemeClr val="bg2"/>
          </a:solidFill>
          <a:ln/>
        </p:spPr>
      </p:sp>
      <p:sp>
        <p:nvSpPr>
          <p:cNvPr id="9" name="Text 6"/>
          <p:cNvSpPr txBox="1"/>
          <p:nvPr/>
        </p:nvSpPr>
        <p:spPr>
          <a:xfrm>
            <a:off x="731520" y="3703320"/>
            <a:ext cx="1664208" cy="685800"/>
          </a:xfrm>
          <a:prstGeom prst="rect">
            <a:avLst/>
          </a:prstGeom>
          <a:noFill/>
          <a:ln/>
        </p:spPr>
        <p:txBody>
          <a:bodyPr wrap="square" lIns="0" tIns="0" rIns="0" bIns="0" rtlCol="0" anchor="t"/>
          <a:lstStyle/>
          <a:p>
            <a:pPr algn="ctr" indent="0" marL="0">
              <a:buNone/>
            </a:pPr>
            <a:r>
              <a:rPr lang="en-US" sz="1700" b="1" dirty="0">
                <a:solidFill>
                  <a:schemeClr val="tx2"/>
                </a:solidFill>
              </a:rPr>
              <a:t>Idempotence</a:t>
            </a:r>
            <a:endParaRPr lang="en-US" sz="1700" dirty="0"/>
          </a:p>
        </p:txBody>
      </p:sp>
      <p:sp>
        <p:nvSpPr>
          <p:cNvPr id="10" name="Text 7"/>
          <p:cNvSpPr txBox="1"/>
          <p:nvPr/>
        </p:nvSpPr>
        <p:spPr>
          <a:xfrm>
            <a:off x="731520" y="4434840"/>
            <a:ext cx="1664208" cy="1325880"/>
          </a:xfrm>
          <a:prstGeom prst="rect">
            <a:avLst/>
          </a:prstGeom>
          <a:noFill/>
          <a:ln/>
        </p:spPr>
        <p:txBody>
          <a:bodyPr wrap="square" lIns="0" tIns="0" rIns="0" bIns="0" rtlCol="0" anchor="t"/>
          <a:lstStyle/>
          <a:p>
            <a:pPr algn="ctr" indent="0" marL="0">
              <a:buNone/>
            </a:pPr>
            <a:r>
              <a:rPr lang="en-US" sz="1400" dirty="0">
                <a:solidFill>
                  <a:schemeClr val="tx1"/>
                </a:solidFill>
              </a:rPr>
              <a:t>dags test sur le 07/04, deux fois : 1 011 lignes</a:t>
            </a:r>
            <a:endParaRPr lang="en-US" sz="1400" dirty="0"/>
          </a:p>
        </p:txBody>
      </p:sp>
      <p:sp>
        <p:nvSpPr>
          <p:cNvPr id="11" name="icone-etape-1-cercle"/>
          <p:cNvSpPr/>
          <p:nvPr/>
        </p:nvSpPr>
        <p:spPr>
          <a:xfrm>
            <a:off x="3364992" y="1874520"/>
            <a:ext cx="914400" cy="914400"/>
          </a:xfrm>
          <a:prstGeom prst="ellipse">
            <a:avLst/>
          </a:prstGeom>
          <a:solidFill>
            <a:schemeClr val="accent4"/>
          </a:solidFill>
          <a:ln/>
        </p:spPr>
      </p:sp>
      <p:pic>
        <p:nvPicPr>
          <p:cNvPr id="12" name="icone-etape-1" descr="preencoded.png">    </p:cNvPr>
          <p:cNvPicPr>
            <a:picLocks noChangeAspect="1"/>
          </p:cNvPicPr>
          <p:nvPr/>
        </p:nvPicPr>
        <p:blipFill>
          <a:blip r:embed="rId2"/>
          <a:stretch>
            <a:fillRect/>
          </a:stretch>
        </p:blipFill>
        <p:spPr>
          <a:xfrm>
            <a:off x="3584448" y="2093976"/>
            <a:ext cx="475488" cy="475488"/>
          </a:xfrm>
          <a:prstGeom prst="rect">
            <a:avLst/>
          </a:prstGeom>
        </p:spPr>
      </p:pic>
      <p:sp>
        <p:nvSpPr>
          <p:cNvPr id="13" name="Text 9"/>
          <p:cNvSpPr txBox="1"/>
          <p:nvPr/>
        </p:nvSpPr>
        <p:spPr>
          <a:xfrm>
            <a:off x="2807208" y="2971800"/>
            <a:ext cx="2029968" cy="457200"/>
          </a:xfrm>
          <a:prstGeom prst="rect">
            <a:avLst/>
          </a:prstGeom>
          <a:noFill/>
          <a:ln/>
        </p:spPr>
        <p:txBody>
          <a:bodyPr wrap="square" lIns="0" tIns="0" rIns="0" bIns="0" rtlCol="0" anchor="t"/>
          <a:lstStyle/>
          <a:p>
            <a:pPr algn="ct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14" name="carte-etape-1"/>
          <p:cNvSpPr/>
          <p:nvPr/>
        </p:nvSpPr>
        <p:spPr>
          <a:xfrm>
            <a:off x="2807208" y="3520440"/>
            <a:ext cx="2029968" cy="2377440"/>
          </a:xfrm>
          <a:prstGeom prst="roundRect">
            <a:avLst>
              <a:gd name="adj" fmla="val 5405"/>
            </a:avLst>
          </a:prstGeom>
          <a:solidFill>
            <a:schemeClr val="bg2"/>
          </a:solidFill>
          <a:ln/>
        </p:spPr>
      </p:sp>
      <p:sp>
        <p:nvSpPr>
          <p:cNvPr id="15" name="Text 11"/>
          <p:cNvSpPr txBox="1"/>
          <p:nvPr/>
        </p:nvSpPr>
        <p:spPr>
          <a:xfrm>
            <a:off x="2990088" y="3703320"/>
            <a:ext cx="1664208" cy="685800"/>
          </a:xfrm>
          <a:prstGeom prst="rect">
            <a:avLst/>
          </a:prstGeom>
          <a:noFill/>
          <a:ln/>
        </p:spPr>
        <p:txBody>
          <a:bodyPr wrap="square" lIns="0" tIns="0" rIns="0" bIns="0" rtlCol="0" anchor="t"/>
          <a:lstStyle/>
          <a:p>
            <a:pPr algn="ctr" indent="0" marL="0">
              <a:buNone/>
            </a:pPr>
            <a:r>
              <a:rPr lang="en-US" sz="1700" b="1" dirty="0">
                <a:solidFill>
                  <a:schemeClr val="tx2"/>
                </a:solidFill>
              </a:rPr>
              <a:t>Executive Summary</a:t>
            </a:r>
            <a:endParaRPr lang="en-US" sz="1700" dirty="0"/>
          </a:p>
        </p:txBody>
      </p:sp>
      <p:sp>
        <p:nvSpPr>
          <p:cNvPr id="16" name="Text 12"/>
          <p:cNvSpPr txBox="1"/>
          <p:nvPr/>
        </p:nvSpPr>
        <p:spPr>
          <a:xfrm>
            <a:off x="2990088" y="4434840"/>
            <a:ext cx="1664208" cy="1325880"/>
          </a:xfrm>
          <a:prstGeom prst="rect">
            <a:avLst/>
          </a:prstGeom>
          <a:noFill/>
          <a:ln/>
        </p:spPr>
        <p:txBody>
          <a:bodyPr wrap="square" lIns="0" tIns="0" rIns="0" bIns="0" rtlCol="0" anchor="t"/>
          <a:lstStyle/>
          <a:p>
            <a:pPr algn="ctr" indent="0" marL="0">
              <a:buNone/>
            </a:pPr>
            <a:r>
              <a:rPr lang="en-US" sz="1400" dirty="0">
                <a:solidFill>
                  <a:schemeClr val="tx1"/>
                </a:solidFill>
              </a:rPr>
              <a:t>CA du jour, tendance 30 jours, top vendeurs</a:t>
            </a:r>
            <a:endParaRPr lang="en-US" sz="1400" dirty="0"/>
          </a:p>
        </p:txBody>
      </p:sp>
      <p:sp>
        <p:nvSpPr>
          <p:cNvPr id="17" name="icone-etape-2-cercle"/>
          <p:cNvSpPr/>
          <p:nvPr/>
        </p:nvSpPr>
        <p:spPr>
          <a:xfrm>
            <a:off x="5623560" y="1874520"/>
            <a:ext cx="914400" cy="914400"/>
          </a:xfrm>
          <a:prstGeom prst="ellipse">
            <a:avLst/>
          </a:prstGeom>
          <a:solidFill>
            <a:schemeClr val="accent4"/>
          </a:solidFill>
          <a:ln/>
        </p:spPr>
      </p:sp>
      <p:pic>
        <p:nvPicPr>
          <p:cNvPr id="18" name="icone-etape-2" descr="preencoded.png">    </p:cNvPr>
          <p:cNvPicPr>
            <a:picLocks noChangeAspect="1"/>
          </p:cNvPicPr>
          <p:nvPr/>
        </p:nvPicPr>
        <p:blipFill>
          <a:blip r:embed="rId3"/>
          <a:stretch>
            <a:fillRect/>
          </a:stretch>
        </p:blipFill>
        <p:spPr>
          <a:xfrm>
            <a:off x="5843016" y="2093976"/>
            <a:ext cx="475488" cy="475488"/>
          </a:xfrm>
          <a:prstGeom prst="rect">
            <a:avLst/>
          </a:prstGeom>
        </p:spPr>
      </p:pic>
      <p:sp>
        <p:nvSpPr>
          <p:cNvPr id="19" name="Text 14"/>
          <p:cNvSpPr txBox="1"/>
          <p:nvPr/>
        </p:nvSpPr>
        <p:spPr>
          <a:xfrm>
            <a:off x="5065776" y="2971800"/>
            <a:ext cx="2029968" cy="457200"/>
          </a:xfrm>
          <a:prstGeom prst="rect">
            <a:avLst/>
          </a:prstGeom>
          <a:noFill/>
          <a:ln/>
        </p:spPr>
        <p:txBody>
          <a:bodyPr wrap="square" lIns="0" tIns="0" rIns="0" bIns="0" rtlCol="0" anchor="t"/>
          <a:lstStyle/>
          <a:p>
            <a:pPr algn="ct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20" name="carte-etape-2"/>
          <p:cNvSpPr/>
          <p:nvPr/>
        </p:nvSpPr>
        <p:spPr>
          <a:xfrm>
            <a:off x="5065776" y="3520440"/>
            <a:ext cx="2029968" cy="2377440"/>
          </a:xfrm>
          <a:prstGeom prst="roundRect">
            <a:avLst>
              <a:gd name="adj" fmla="val 5405"/>
            </a:avLst>
          </a:prstGeom>
          <a:solidFill>
            <a:schemeClr val="bg2"/>
          </a:solidFill>
          <a:ln/>
        </p:spPr>
      </p:sp>
      <p:sp>
        <p:nvSpPr>
          <p:cNvPr id="21" name="Text 16"/>
          <p:cNvSpPr txBox="1"/>
          <p:nvPr/>
        </p:nvSpPr>
        <p:spPr>
          <a:xfrm>
            <a:off x="5248656" y="3703320"/>
            <a:ext cx="1664208" cy="685800"/>
          </a:xfrm>
          <a:prstGeom prst="rect">
            <a:avLst/>
          </a:prstGeom>
          <a:noFill/>
          <a:ln/>
        </p:spPr>
        <p:txBody>
          <a:bodyPr wrap="square" lIns="0" tIns="0" rIns="0" bIns="0" rtlCol="0" anchor="t"/>
          <a:lstStyle/>
          <a:p>
            <a:pPr algn="ctr" indent="0" marL="0">
              <a:buNone/>
            </a:pPr>
            <a:r>
              <a:rPr lang="en-US" sz="1700" b="1" dirty="0">
                <a:solidFill>
                  <a:schemeClr val="tx2"/>
                </a:solidFill>
              </a:rPr>
              <a:t>Finance et catalogue</a:t>
            </a:r>
            <a:endParaRPr lang="en-US" sz="1700" dirty="0"/>
          </a:p>
        </p:txBody>
      </p:sp>
      <p:sp>
        <p:nvSpPr>
          <p:cNvPr id="22" name="Text 17"/>
          <p:cNvSpPr txBox="1"/>
          <p:nvPr/>
        </p:nvSpPr>
        <p:spPr>
          <a:xfrm>
            <a:off x="5248656" y="4434840"/>
            <a:ext cx="1664208" cy="1325880"/>
          </a:xfrm>
          <a:prstGeom prst="rect">
            <a:avLst/>
          </a:prstGeom>
          <a:noFill/>
          <a:ln/>
        </p:spPr>
        <p:txBody>
          <a:bodyPr wrap="square" lIns="0" tIns="0" rIns="0" bIns="0" rtlCol="0" anchor="t"/>
          <a:lstStyle/>
          <a:p>
            <a:pPr algn="ctr" indent="0" marL="0">
              <a:buNone/>
            </a:pPr>
            <a:r>
              <a:rPr lang="en-US" sz="1400" dirty="0">
                <a:solidFill>
                  <a:schemeClr val="tx1"/>
                </a:solidFill>
              </a:rPr>
              <a:t>Commissions à facturer, CA par catégorie</a:t>
            </a:r>
            <a:endParaRPr lang="en-US" sz="1400" dirty="0"/>
          </a:p>
        </p:txBody>
      </p:sp>
      <p:sp>
        <p:nvSpPr>
          <p:cNvPr id="23" name="icone-etape-3-cercle"/>
          <p:cNvSpPr/>
          <p:nvPr/>
        </p:nvSpPr>
        <p:spPr>
          <a:xfrm>
            <a:off x="7882128" y="1874520"/>
            <a:ext cx="914400" cy="914400"/>
          </a:xfrm>
          <a:prstGeom prst="ellipse">
            <a:avLst/>
          </a:prstGeom>
          <a:solidFill>
            <a:schemeClr val="accent1"/>
          </a:solidFill>
          <a:ln/>
        </p:spPr>
      </p:sp>
      <p:pic>
        <p:nvPicPr>
          <p:cNvPr id="24" name="icone-etape-3" descr="preencoded.png">    </p:cNvPr>
          <p:cNvPicPr>
            <a:picLocks noChangeAspect="1"/>
          </p:cNvPicPr>
          <p:nvPr/>
        </p:nvPicPr>
        <p:blipFill>
          <a:blip r:embed="rId4"/>
          <a:stretch>
            <a:fillRect/>
          </a:stretch>
        </p:blipFill>
        <p:spPr>
          <a:xfrm>
            <a:off x="8101584" y="2093976"/>
            <a:ext cx="475488" cy="475488"/>
          </a:xfrm>
          <a:prstGeom prst="rect">
            <a:avLst/>
          </a:prstGeom>
        </p:spPr>
      </p:pic>
      <p:sp>
        <p:nvSpPr>
          <p:cNvPr id="25" name="Text 19"/>
          <p:cNvSpPr txBox="1"/>
          <p:nvPr/>
        </p:nvSpPr>
        <p:spPr>
          <a:xfrm>
            <a:off x="7324344" y="2971800"/>
            <a:ext cx="2029968" cy="457200"/>
          </a:xfrm>
          <a:prstGeom prst="rect">
            <a:avLst/>
          </a:prstGeom>
          <a:noFill/>
          <a:ln/>
        </p:spPr>
        <p:txBody>
          <a:bodyPr wrap="square" lIns="0" tIns="0" rIns="0" bIns="0" rtlCol="0" anchor="t"/>
          <a:lstStyle/>
          <a:p>
            <a:pPr algn="ct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26" name="carte-etape-3"/>
          <p:cNvSpPr/>
          <p:nvPr/>
        </p:nvSpPr>
        <p:spPr>
          <a:xfrm>
            <a:off x="7324344" y="3520440"/>
            <a:ext cx="2029968" cy="2377440"/>
          </a:xfrm>
          <a:prstGeom prst="roundRect">
            <a:avLst>
              <a:gd name="adj" fmla="val 5405"/>
            </a:avLst>
          </a:prstGeom>
          <a:solidFill>
            <a:schemeClr val="bg2"/>
          </a:solidFill>
          <a:ln/>
        </p:spPr>
      </p:sp>
      <p:sp>
        <p:nvSpPr>
          <p:cNvPr id="27" name="Text 21"/>
          <p:cNvSpPr txBox="1"/>
          <p:nvPr/>
        </p:nvSpPr>
        <p:spPr>
          <a:xfrm>
            <a:off x="7507224" y="3703320"/>
            <a:ext cx="1664208" cy="685800"/>
          </a:xfrm>
          <a:prstGeom prst="rect">
            <a:avLst/>
          </a:prstGeom>
          <a:noFill/>
          <a:ln/>
        </p:spPr>
        <p:txBody>
          <a:bodyPr wrap="square" lIns="0" tIns="0" rIns="0" bIns="0" rtlCol="0" anchor="t"/>
          <a:lstStyle/>
          <a:p>
            <a:pPr algn="ctr" indent="0" marL="0">
              <a:buNone/>
            </a:pPr>
            <a:r>
              <a:rPr lang="en-US" sz="1700" b="1" dirty="0">
                <a:solidFill>
                  <a:schemeClr val="tx2"/>
                </a:solidFill>
              </a:rPr>
              <a:t>Panne simulée</a:t>
            </a:r>
            <a:endParaRPr lang="en-US" sz="1700" dirty="0"/>
          </a:p>
        </p:txBody>
      </p:sp>
      <p:sp>
        <p:nvSpPr>
          <p:cNvPr id="28" name="Text 22"/>
          <p:cNvSpPr txBox="1"/>
          <p:nvPr/>
        </p:nvSpPr>
        <p:spPr>
          <a:xfrm>
            <a:off x="7507224" y="4434840"/>
            <a:ext cx="1664208" cy="1325880"/>
          </a:xfrm>
          <a:prstGeom prst="rect">
            <a:avLst/>
          </a:prstGeom>
          <a:noFill/>
          <a:ln/>
        </p:spPr>
        <p:txBody>
          <a:bodyPr wrap="square" lIns="0" tIns="0" rIns="0" bIns="0" rtlCol="0" anchor="t"/>
          <a:lstStyle/>
          <a:p>
            <a:pPr algn="ctr" indent="0" marL="0">
              <a:buNone/>
            </a:pPr>
            <a:r>
              <a:rPr lang="en-US" sz="1400" dirty="0">
                <a:solidFill>
                  <a:schemeClr val="tx1"/>
                </a:solidFill>
              </a:rPr>
              <a:t>API en 503 : le run échoue, l'alerte arrive</a:t>
            </a:r>
            <a:endParaRPr lang="en-US" sz="1400" dirty="0"/>
          </a:p>
        </p:txBody>
      </p:sp>
      <p:sp>
        <p:nvSpPr>
          <p:cNvPr id="29" name="icone-etape-4-cercle"/>
          <p:cNvSpPr/>
          <p:nvPr/>
        </p:nvSpPr>
        <p:spPr>
          <a:xfrm>
            <a:off x="10140696" y="1874520"/>
            <a:ext cx="914400" cy="914400"/>
          </a:xfrm>
          <a:prstGeom prst="ellipse">
            <a:avLst/>
          </a:prstGeom>
          <a:solidFill>
            <a:schemeClr val="accent4"/>
          </a:solidFill>
          <a:ln/>
        </p:spPr>
      </p:sp>
      <p:pic>
        <p:nvPicPr>
          <p:cNvPr id="30" name="icone-etape-4" descr="preencoded.png">    </p:cNvPr>
          <p:cNvPicPr>
            <a:picLocks noChangeAspect="1"/>
          </p:cNvPicPr>
          <p:nvPr/>
        </p:nvPicPr>
        <p:blipFill>
          <a:blip r:embed="rId5"/>
          <a:stretch>
            <a:fillRect/>
          </a:stretch>
        </p:blipFill>
        <p:spPr>
          <a:xfrm>
            <a:off x="10360152" y="2093976"/>
            <a:ext cx="475488" cy="475488"/>
          </a:xfrm>
          <a:prstGeom prst="rect">
            <a:avLst/>
          </a:prstGeom>
        </p:spPr>
      </p:pic>
      <p:sp>
        <p:nvSpPr>
          <p:cNvPr id="31" name="Text 24"/>
          <p:cNvSpPr txBox="1"/>
          <p:nvPr/>
        </p:nvSpPr>
        <p:spPr>
          <a:xfrm>
            <a:off x="9582912" y="2971800"/>
            <a:ext cx="2029968" cy="457200"/>
          </a:xfrm>
          <a:prstGeom prst="rect">
            <a:avLst/>
          </a:prstGeom>
          <a:noFill/>
          <a:ln/>
        </p:spPr>
        <p:txBody>
          <a:bodyPr wrap="square" lIns="0" tIns="0" rIns="0" bIns="0" rtlCol="0" anchor="t"/>
          <a:lstStyle/>
          <a:p>
            <a:pPr algn="ctr" indent="0" marL="0">
              <a:buNone/>
            </a:pPr>
            <a:r>
              <a:rPr lang="en-US" sz="2400" b="1" dirty="0">
                <a:solidFill>
                  <a:schemeClr val="accent1"/>
                </a:solidFill>
                <a:latin typeface="Cambria" pitchFamily="34" charset="0"/>
                <a:ea typeface="Cambria" pitchFamily="34" charset="-122"/>
                <a:cs typeface="Cambria" pitchFamily="34" charset="-120"/>
              </a:rPr>
              <a:t>5</a:t>
            </a:r>
            <a:endParaRPr lang="en-US" sz="2400" dirty="0"/>
          </a:p>
        </p:txBody>
      </p:sp>
      <p:sp>
        <p:nvSpPr>
          <p:cNvPr id="32" name="carte-etape-4"/>
          <p:cNvSpPr/>
          <p:nvPr/>
        </p:nvSpPr>
        <p:spPr>
          <a:xfrm>
            <a:off x="9582912" y="3520440"/>
            <a:ext cx="2029968" cy="2377440"/>
          </a:xfrm>
          <a:prstGeom prst="roundRect">
            <a:avLst>
              <a:gd name="adj" fmla="val 5405"/>
            </a:avLst>
          </a:prstGeom>
          <a:solidFill>
            <a:schemeClr val="bg2"/>
          </a:solidFill>
          <a:ln/>
        </p:spPr>
      </p:sp>
      <p:sp>
        <p:nvSpPr>
          <p:cNvPr id="33" name="Text 26"/>
          <p:cNvSpPr txBox="1"/>
          <p:nvPr/>
        </p:nvSpPr>
        <p:spPr>
          <a:xfrm>
            <a:off x="9765792" y="3703320"/>
            <a:ext cx="1664208" cy="685800"/>
          </a:xfrm>
          <a:prstGeom prst="rect">
            <a:avLst/>
          </a:prstGeom>
          <a:noFill/>
          <a:ln/>
        </p:spPr>
        <p:txBody>
          <a:bodyPr wrap="square" lIns="0" tIns="0" rIns="0" bIns="0" rtlCol="0" anchor="t"/>
          <a:lstStyle/>
          <a:p>
            <a:pPr algn="ctr" indent="0" marL="0">
              <a:buNone/>
            </a:pPr>
            <a:r>
              <a:rPr lang="en-US" sz="1700" b="1" dirty="0">
                <a:solidFill>
                  <a:schemeClr val="tx2"/>
                </a:solidFill>
              </a:rPr>
              <a:t>Supervision et tests</a:t>
            </a:r>
            <a:endParaRPr lang="en-US" sz="1700" dirty="0"/>
          </a:p>
        </p:txBody>
      </p:sp>
      <p:sp>
        <p:nvSpPr>
          <p:cNvPr id="34" name="Text 27"/>
          <p:cNvSpPr txBox="1"/>
          <p:nvPr/>
        </p:nvSpPr>
        <p:spPr>
          <a:xfrm>
            <a:off x="9765792" y="4434840"/>
            <a:ext cx="1664208" cy="1325880"/>
          </a:xfrm>
          <a:prstGeom prst="rect">
            <a:avLst/>
          </a:prstGeom>
          <a:noFill/>
          <a:ln/>
        </p:spPr>
        <p:txBody>
          <a:bodyPr wrap="square" lIns="0" tIns="0" rIns="0" bIns="0" rtlCol="0" anchor="t"/>
          <a:lstStyle/>
          <a:p>
            <a:pPr algn="ctr" indent="0" marL="0">
              <a:buNone/>
            </a:pPr>
            <a:r>
              <a:rPr lang="en-US" sz="1400" dirty="0">
                <a:solidFill>
                  <a:schemeClr val="tx1"/>
                </a:solidFill>
              </a:rPr>
              <a:t>Grafana, puis pytest : 44 tests verts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CEO · US-01 ET US-02</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Executive Summary pour le CEO</a:t>
            </a:r>
            <a:endParaRPr lang="en-US" sz="3600" dirty="0"/>
          </a:p>
        </p:txBody>
      </p:sp>
      <p:sp>
        <p:nvSpPr>
          <p:cNvPr id="4" name="capture-executive-cadre"/>
          <p:cNvSpPr/>
          <p:nvPr/>
        </p:nvSpPr>
        <p:spPr>
          <a:xfrm>
            <a:off x="612648" y="1664208"/>
            <a:ext cx="5998464" cy="4535424"/>
          </a:xfrm>
          <a:prstGeom prst="roundRect">
            <a:avLst>
              <a:gd name="adj" fmla="val 1613"/>
            </a:avLst>
          </a:prstGeom>
          <a:solidFill>
            <a:schemeClr val="bg1"/>
          </a:solidFill>
          <a:ln w="9525">
            <a:solidFill>
              <a:schemeClr val="accent6"/>
            </a:solidFill>
            <a:prstDash val="solid"/>
          </a:ln>
          <a:effectLst>
            <a:outerShdw sx="100000" sy="100000" kx="0" ky="0" algn="bl" rotWithShape="0" blurRad="101600" dist="25400" dir="5400000">
              <a:srgbClr val="2B1B3D">
                <a:alpha val="12000"/>
              </a:srgbClr>
            </a:outerShdw>
          </a:effectLst>
        </p:spPr>
      </p:sp>
      <p:pic>
        <p:nvPicPr>
          <p:cNvPr id="5" name="capture-executive" descr="/Users/william/Documents/Workspace/perso/Cours-Data/data-lake-warehouse/projet-final-marketplace/docs/metabase/executive-summary.jpg">    </p:cNvPr>
          <p:cNvPicPr>
            <a:picLocks noChangeAspect="1"/>
          </p:cNvPicPr>
          <p:nvPr/>
        </p:nvPicPr>
        <p:blipFill>
          <a:blip r:embed="rId1"/>
          <a:stretch>
            <a:fillRect/>
          </a:stretch>
        </p:blipFill>
        <p:spPr>
          <a:xfrm>
            <a:off x="685800" y="1737360"/>
            <a:ext cx="5852160" cy="4389120"/>
          </a:xfrm>
          <a:prstGeom prst="rect">
            <a:avLst/>
          </a:prstGeom>
        </p:spPr>
      </p:pic>
      <p:sp>
        <p:nvSpPr>
          <p:cNvPr id="6" name="carte-kpi-0"/>
          <p:cNvSpPr/>
          <p:nvPr/>
        </p:nvSpPr>
        <p:spPr>
          <a:xfrm>
            <a:off x="7086600" y="1691640"/>
            <a:ext cx="4526280" cy="1280160"/>
          </a:xfrm>
          <a:prstGeom prst="roundRect">
            <a:avLst>
              <a:gd name="adj" fmla="val 8571"/>
            </a:avLst>
          </a:prstGeom>
          <a:solidFill>
            <a:schemeClr val="bg2"/>
          </a:solidFill>
          <a:ln/>
        </p:spPr>
      </p:sp>
      <p:sp>
        <p:nvSpPr>
          <p:cNvPr id="7" name="Text 4"/>
          <p:cNvSpPr txBox="1"/>
          <p:nvPr/>
        </p:nvSpPr>
        <p:spPr>
          <a:xfrm>
            <a:off x="7360920" y="1828800"/>
            <a:ext cx="4023360" cy="5943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141,9 k€</a:t>
            </a:r>
            <a:endParaRPr lang="en-US" sz="3200" dirty="0"/>
          </a:p>
        </p:txBody>
      </p:sp>
      <p:sp>
        <p:nvSpPr>
          <p:cNvPr id="8" name="Text 5"/>
          <p:cNvSpPr txBox="1"/>
          <p:nvPr/>
        </p:nvSpPr>
        <p:spPr>
          <a:xfrm>
            <a:off x="7360920" y="2423160"/>
            <a:ext cx="4023360" cy="457200"/>
          </a:xfrm>
          <a:prstGeom prst="rect">
            <a:avLst/>
          </a:prstGeom>
          <a:noFill/>
          <a:ln/>
        </p:spPr>
        <p:txBody>
          <a:bodyPr wrap="square" lIns="0" tIns="0" rIns="0" bIns="0" rtlCol="0" anchor="t"/>
          <a:lstStyle/>
          <a:p>
            <a:pPr indent="0" marL="0">
              <a:buNone/>
            </a:pPr>
            <a:r>
              <a:rPr lang="en-US" sz="1400" dirty="0">
                <a:solidFill>
                  <a:schemeClr val="tx1"/>
                </a:solidFill>
              </a:rPr>
              <a:t>de CA le 20/10, avec la variation par rapport à la veille</a:t>
            </a:r>
            <a:endParaRPr lang="en-US" sz="1400" dirty="0"/>
          </a:p>
        </p:txBody>
      </p:sp>
      <p:sp>
        <p:nvSpPr>
          <p:cNvPr id="9" name="carte-kpi-1"/>
          <p:cNvSpPr/>
          <p:nvPr/>
        </p:nvSpPr>
        <p:spPr>
          <a:xfrm>
            <a:off x="7086600" y="3154680"/>
            <a:ext cx="4526280" cy="1280160"/>
          </a:xfrm>
          <a:prstGeom prst="roundRect">
            <a:avLst>
              <a:gd name="adj" fmla="val 8571"/>
            </a:avLst>
          </a:prstGeom>
          <a:solidFill>
            <a:schemeClr val="bg2"/>
          </a:solidFill>
          <a:ln/>
        </p:spPr>
      </p:sp>
      <p:sp>
        <p:nvSpPr>
          <p:cNvPr id="10" name="Text 7"/>
          <p:cNvSpPr txBox="1"/>
          <p:nvPr/>
        </p:nvSpPr>
        <p:spPr>
          <a:xfrm>
            <a:off x="7360920" y="3291840"/>
            <a:ext cx="4023360" cy="5943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1 122</a:t>
            </a:r>
            <a:endParaRPr lang="en-US" sz="3200" dirty="0"/>
          </a:p>
        </p:txBody>
      </p:sp>
      <p:sp>
        <p:nvSpPr>
          <p:cNvPr id="11" name="Text 8"/>
          <p:cNvSpPr txBox="1"/>
          <p:nvPr/>
        </p:nvSpPr>
        <p:spPr>
          <a:xfrm>
            <a:off x="7360920" y="3886200"/>
            <a:ext cx="4023360" cy="457200"/>
          </a:xfrm>
          <a:prstGeom prst="rect">
            <a:avLst/>
          </a:prstGeom>
          <a:noFill/>
          <a:ln/>
        </p:spPr>
        <p:txBody>
          <a:bodyPr wrap="square" lIns="0" tIns="0" rIns="0" bIns="0" rtlCol="0" anchor="t"/>
          <a:lstStyle/>
          <a:p>
            <a:pPr indent="0" marL="0">
              <a:buNone/>
            </a:pPr>
            <a:r>
              <a:rPr lang="en-US" sz="1400" dirty="0">
                <a:solidFill>
                  <a:schemeClr val="tx1"/>
                </a:solidFill>
              </a:rPr>
              <a:t>commandes sur la journée</a:t>
            </a:r>
            <a:endParaRPr lang="en-US" sz="1400" dirty="0"/>
          </a:p>
        </p:txBody>
      </p:sp>
      <p:sp>
        <p:nvSpPr>
          <p:cNvPr id="12" name="carte-kpi-2"/>
          <p:cNvSpPr/>
          <p:nvPr/>
        </p:nvSpPr>
        <p:spPr>
          <a:xfrm>
            <a:off x="7086600" y="4617720"/>
            <a:ext cx="4526280" cy="1280160"/>
          </a:xfrm>
          <a:prstGeom prst="roundRect">
            <a:avLst>
              <a:gd name="adj" fmla="val 8571"/>
            </a:avLst>
          </a:prstGeom>
          <a:solidFill>
            <a:schemeClr val="bg2"/>
          </a:solidFill>
          <a:ln/>
        </p:spPr>
      </p:sp>
      <p:sp>
        <p:nvSpPr>
          <p:cNvPr id="13" name="Text 10"/>
          <p:cNvSpPr txBox="1"/>
          <p:nvPr/>
        </p:nvSpPr>
        <p:spPr>
          <a:xfrm>
            <a:off x="7360920" y="4754880"/>
            <a:ext cx="4023360" cy="5943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135,13 €</a:t>
            </a:r>
            <a:endParaRPr lang="en-US" sz="3200" dirty="0"/>
          </a:p>
        </p:txBody>
      </p:sp>
      <p:sp>
        <p:nvSpPr>
          <p:cNvPr id="14" name="Text 11"/>
          <p:cNvSpPr txBox="1"/>
          <p:nvPr/>
        </p:nvSpPr>
        <p:spPr>
          <a:xfrm>
            <a:off x="7360920" y="5349240"/>
            <a:ext cx="4023360" cy="457200"/>
          </a:xfrm>
          <a:prstGeom prst="rect">
            <a:avLst/>
          </a:prstGeom>
          <a:noFill/>
          <a:ln/>
        </p:spPr>
        <p:txBody>
          <a:bodyPr wrap="square" lIns="0" tIns="0" rIns="0" bIns="0" rtlCol="0" anchor="t"/>
          <a:lstStyle/>
          <a:p>
            <a:pPr indent="0" marL="0">
              <a:buNone/>
            </a:pPr>
            <a:r>
              <a:rPr lang="en-US" sz="1400" dirty="0">
                <a:solidFill>
                  <a:schemeClr val="tx1"/>
                </a:solidFill>
              </a:rPr>
              <a:t>de panier moyen</a:t>
            </a:r>
            <a:endParaRPr lang="en-US" sz="1400" dirty="0"/>
          </a:p>
        </p:txBody>
      </p:sp>
      <p:sp>
        <p:nvSpPr>
          <p:cNvPr id="15" name="Text 12"/>
          <p:cNvSpPr txBox="1"/>
          <p:nvPr/>
        </p:nvSpPr>
        <p:spPr>
          <a:xfrm>
            <a:off x="7086600" y="5943600"/>
            <a:ext cx="4526280" cy="274320"/>
          </a:xfrm>
          <a:prstGeom prst="rect">
            <a:avLst/>
          </a:prstGeom>
          <a:noFill/>
          <a:ln/>
        </p:spPr>
        <p:txBody>
          <a:bodyPr wrap="square" lIns="0" tIns="0" rIns="0" bIns="0" rtlCol="0" anchor="t"/>
          <a:lstStyle/>
          <a:p>
            <a:pPr indent="0" marL="0">
              <a:buNone/>
            </a:pPr>
            <a:r>
              <a:rPr lang="en-US" sz="1200" i="1" dirty="0">
                <a:solidFill>
                  <a:schemeClr val="accent5"/>
                </a:solidFill>
              </a:rPr>
              <a:t>Calculés sur le dernier jour chargé, pas la date système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FINANCE ET CATALOGUE · US-03 ET US-04</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Finance et catalogue servis</a:t>
            </a:r>
            <a:endParaRPr lang="en-US" sz="3600" dirty="0"/>
          </a:p>
        </p:txBody>
      </p:sp>
      <p:sp>
        <p:nvSpPr>
          <p:cNvPr id="4" name="capture-commissions-cadre"/>
          <p:cNvSpPr/>
          <p:nvPr/>
        </p:nvSpPr>
        <p:spPr>
          <a:xfrm>
            <a:off x="612648" y="1709928"/>
            <a:ext cx="5175504" cy="3918204"/>
          </a:xfrm>
          <a:prstGeom prst="roundRect">
            <a:avLst>
              <a:gd name="adj" fmla="val 1867"/>
            </a:avLst>
          </a:prstGeom>
          <a:solidFill>
            <a:schemeClr val="bg1"/>
          </a:solidFill>
          <a:ln w="9525">
            <a:solidFill>
              <a:schemeClr val="accent6"/>
            </a:solidFill>
            <a:prstDash val="solid"/>
          </a:ln>
          <a:effectLst>
            <a:outerShdw sx="100000" sy="100000" kx="0" ky="0" algn="bl" rotWithShape="0" blurRad="101600" dist="25400" dir="5400000">
              <a:srgbClr val="2B1B3D">
                <a:alpha val="12000"/>
              </a:srgbClr>
            </a:outerShdw>
          </a:effectLst>
        </p:spPr>
      </p:sp>
      <p:pic>
        <p:nvPicPr>
          <p:cNvPr id="5" name="capture-commissions" descr="/Users/william/Documents/Workspace/perso/Cours-Data/data-lake-warehouse/projet-final-marketplace/docs/metabase/commissions.jpg">    </p:cNvPr>
          <p:cNvPicPr>
            <a:picLocks noChangeAspect="1"/>
          </p:cNvPicPr>
          <p:nvPr/>
        </p:nvPicPr>
        <p:blipFill>
          <a:blip r:embed="rId1"/>
          <a:stretch>
            <a:fillRect/>
          </a:stretch>
        </p:blipFill>
        <p:spPr>
          <a:xfrm>
            <a:off x="685800" y="1783080"/>
            <a:ext cx="5029200" cy="3771900"/>
          </a:xfrm>
          <a:prstGeom prst="rect">
            <a:avLst/>
          </a:prstGeom>
        </p:spPr>
      </p:pic>
      <p:sp>
        <p:nvSpPr>
          <p:cNvPr id="6" name="capture-categories-cadre"/>
          <p:cNvSpPr/>
          <p:nvPr/>
        </p:nvSpPr>
        <p:spPr>
          <a:xfrm>
            <a:off x="6281928" y="1709928"/>
            <a:ext cx="5175504" cy="3918204"/>
          </a:xfrm>
          <a:prstGeom prst="roundRect">
            <a:avLst>
              <a:gd name="adj" fmla="val 1867"/>
            </a:avLst>
          </a:prstGeom>
          <a:solidFill>
            <a:schemeClr val="bg1"/>
          </a:solidFill>
          <a:ln w="9525">
            <a:solidFill>
              <a:schemeClr val="accent6"/>
            </a:solidFill>
            <a:prstDash val="solid"/>
          </a:ln>
          <a:effectLst>
            <a:outerShdw sx="100000" sy="100000" kx="0" ky="0" algn="bl" rotWithShape="0" blurRad="101600" dist="25400" dir="5400000">
              <a:srgbClr val="2B1B3D">
                <a:alpha val="12000"/>
              </a:srgbClr>
            </a:outerShdw>
          </a:effectLst>
        </p:spPr>
      </p:sp>
      <p:pic>
        <p:nvPicPr>
          <p:cNvPr id="7" name="capture-categories" descr="/Users/william/Documents/Workspace/perso/Cours-Data/data-lake-warehouse/projet-final-marketplace/docs/metabase/categories.jpg">    </p:cNvPr>
          <p:cNvPicPr>
            <a:picLocks noChangeAspect="1"/>
          </p:cNvPicPr>
          <p:nvPr/>
        </p:nvPicPr>
        <p:blipFill>
          <a:blip r:embed="rId2"/>
          <a:stretch>
            <a:fillRect/>
          </a:stretch>
        </p:blipFill>
        <p:spPr>
          <a:xfrm>
            <a:off x="6355080" y="1783080"/>
            <a:ext cx="5029200" cy="3771900"/>
          </a:xfrm>
          <a:prstGeom prst="rect">
            <a:avLst/>
          </a:prstGeom>
        </p:spPr>
      </p:pic>
      <p:sp>
        <p:nvSpPr>
          <p:cNvPr id="8" name="Text 4"/>
          <p:cNvSpPr txBox="1"/>
          <p:nvPr/>
        </p:nvSpPr>
        <p:spPr>
          <a:xfrm>
            <a:off x="685800" y="5669280"/>
            <a:ext cx="5029200" cy="411480"/>
          </a:xfrm>
          <a:prstGeom prst="rect">
            <a:avLst/>
          </a:prstGeom>
          <a:noFill/>
          <a:ln/>
        </p:spPr>
        <p:txBody>
          <a:bodyPr wrap="square" lIns="0" tIns="0" rIns="0" bIns="0" rtlCol="0" anchor="t"/>
          <a:lstStyle/>
          <a:p>
            <a:pPr indent="0" marL="0">
              <a:buNone/>
            </a:pPr>
            <a:r>
              <a:rPr lang="en-US" sz="1300" b="1" dirty="0">
                <a:solidFill>
                  <a:schemeClr val="tx2"/>
                </a:solidFill>
              </a:rPr>
              <a:t>Commissions : </a:t>
            </a:r>
            <a:pPr indent="0" marL="0">
              <a:buNone/>
            </a:pPr>
            <a:r>
              <a:rPr lang="en-US" sz="1300" dirty="0">
                <a:solidFill>
                  <a:schemeClr val="accent5"/>
                </a:solidFill>
              </a:rPr>
              <a:t>339 157 € ce mois-ci, détail par jour et par vendeur à facturer</a:t>
            </a:r>
            <a:endParaRPr lang="en-US" sz="1300" dirty="0"/>
          </a:p>
        </p:txBody>
      </p:sp>
      <p:sp>
        <p:nvSpPr>
          <p:cNvPr id="9" name="Text 5"/>
          <p:cNvSpPr txBox="1"/>
          <p:nvPr/>
        </p:nvSpPr>
        <p:spPr>
          <a:xfrm>
            <a:off x="6355080" y="5669280"/>
            <a:ext cx="5029200" cy="411480"/>
          </a:xfrm>
          <a:prstGeom prst="rect">
            <a:avLst/>
          </a:prstGeom>
          <a:noFill/>
          <a:ln/>
        </p:spPr>
        <p:txBody>
          <a:bodyPr wrap="square" lIns="0" tIns="0" rIns="0" bIns="0" rtlCol="0" anchor="t"/>
          <a:lstStyle/>
          <a:p>
            <a:pPr indent="0" marL="0">
              <a:buNone/>
            </a:pPr>
            <a:r>
              <a:rPr lang="en-US" sz="1300" b="1" dirty="0">
                <a:solidFill>
                  <a:schemeClr val="tx2"/>
                </a:solidFill>
              </a:rPr>
              <a:t>Catégories : </a:t>
            </a:r>
            <a:pPr indent="0" marL="0">
              <a:buNone/>
            </a:pPr>
            <a:r>
              <a:rPr lang="en-US" sz="1300" dirty="0">
                <a:solidFill>
                  <a:schemeClr val="accent5"/>
                </a:solidFill>
              </a:rPr>
              <a:t>4,2 M€ sur 30 jours, dont 29 % pour High-Tech</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ANALYSTE · US-05</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Les chutes de ventes sont détectées</a:t>
            </a:r>
            <a:endParaRPr lang="en-US" sz="3600" dirty="0"/>
          </a:p>
        </p:txBody>
      </p:sp>
      <p:sp>
        <p:nvSpPr>
          <p:cNvPr id="5" name="carte-chute-0"/>
          <p:cNvSpPr/>
          <p:nvPr/>
        </p:nvSpPr>
        <p:spPr>
          <a:xfrm>
            <a:off x="8549640" y="1691640"/>
            <a:ext cx="3063240" cy="1325880"/>
          </a:xfrm>
          <a:prstGeom prst="roundRect">
            <a:avLst>
              <a:gd name="adj" fmla="val 8276"/>
            </a:avLst>
          </a:prstGeom>
          <a:solidFill>
            <a:schemeClr val="bg2"/>
          </a:solidFill>
          <a:ln/>
        </p:spPr>
      </p:sp>
      <p:sp>
        <p:nvSpPr>
          <p:cNvPr id="6" name="Text 4"/>
          <p:cNvSpPr txBox="1"/>
          <p:nvPr/>
        </p:nvSpPr>
        <p:spPr>
          <a:xfrm>
            <a:off x="8778240" y="1828800"/>
            <a:ext cx="13716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05/09</a:t>
            </a:r>
            <a:endParaRPr lang="en-US" sz="2400" dirty="0"/>
          </a:p>
        </p:txBody>
      </p:sp>
      <p:sp>
        <p:nvSpPr>
          <p:cNvPr id="7" name="Text 5"/>
          <p:cNvSpPr txBox="1"/>
          <p:nvPr/>
        </p:nvSpPr>
        <p:spPr>
          <a:xfrm>
            <a:off x="10104120" y="1874520"/>
            <a:ext cx="1371600" cy="411480"/>
          </a:xfrm>
          <a:prstGeom prst="rect">
            <a:avLst/>
          </a:prstGeom>
          <a:noFill/>
          <a:ln/>
        </p:spPr>
        <p:txBody>
          <a:bodyPr wrap="square" lIns="0" tIns="0" rIns="0" bIns="0" rtlCol="0" anchor="t"/>
          <a:lstStyle/>
          <a:p>
            <a:pPr algn="r" indent="0" marL="0">
              <a:buNone/>
            </a:pPr>
            <a:r>
              <a:rPr lang="en-US" sz="1800" b="1" dirty="0">
                <a:solidFill>
                  <a:schemeClr val="tx2"/>
                </a:solidFill>
              </a:rPr>
              <a:t>81,8 k€</a:t>
            </a:r>
            <a:endParaRPr lang="en-US" sz="1800" dirty="0"/>
          </a:p>
        </p:txBody>
      </p:sp>
      <p:sp>
        <p:nvSpPr>
          <p:cNvPr id="8" name="Text 6"/>
          <p:cNvSpPr txBox="1"/>
          <p:nvPr/>
        </p:nvSpPr>
        <p:spPr>
          <a:xfrm>
            <a:off x="8778240" y="2423160"/>
            <a:ext cx="2697480" cy="411480"/>
          </a:xfrm>
          <a:prstGeom prst="rect">
            <a:avLst/>
          </a:prstGeom>
          <a:noFill/>
          <a:ln/>
        </p:spPr>
        <p:txBody>
          <a:bodyPr wrap="square" lIns="0" tIns="0" rIns="0" bIns="0" rtlCol="0" anchor="t"/>
          <a:lstStyle/>
          <a:p>
            <a:pPr indent="0" marL="0">
              <a:buNone/>
            </a:pPr>
            <a:r>
              <a:rPr lang="en-US" sz="1400" dirty="0">
                <a:solidFill>
                  <a:schemeClr val="tx1"/>
                </a:solidFill>
              </a:rPr>
              <a:t>62 % de la moyenne sur 7 jours</a:t>
            </a:r>
            <a:endParaRPr lang="en-US" sz="1400" dirty="0"/>
          </a:p>
        </p:txBody>
      </p:sp>
      <p:sp>
        <p:nvSpPr>
          <p:cNvPr id="9" name="carte-chute-1"/>
          <p:cNvSpPr/>
          <p:nvPr/>
        </p:nvSpPr>
        <p:spPr>
          <a:xfrm>
            <a:off x="8549640" y="3200400"/>
            <a:ext cx="3063240" cy="1325880"/>
          </a:xfrm>
          <a:prstGeom prst="roundRect">
            <a:avLst>
              <a:gd name="adj" fmla="val 8276"/>
            </a:avLst>
          </a:prstGeom>
          <a:solidFill>
            <a:schemeClr val="bg2"/>
          </a:solidFill>
          <a:ln/>
        </p:spPr>
      </p:sp>
      <p:sp>
        <p:nvSpPr>
          <p:cNvPr id="10" name="Text 8"/>
          <p:cNvSpPr txBox="1"/>
          <p:nvPr/>
        </p:nvSpPr>
        <p:spPr>
          <a:xfrm>
            <a:off x="8778240" y="3337560"/>
            <a:ext cx="13716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14/09</a:t>
            </a:r>
            <a:endParaRPr lang="en-US" sz="2400" dirty="0"/>
          </a:p>
        </p:txBody>
      </p:sp>
      <p:sp>
        <p:nvSpPr>
          <p:cNvPr id="11" name="Text 9"/>
          <p:cNvSpPr txBox="1"/>
          <p:nvPr/>
        </p:nvSpPr>
        <p:spPr>
          <a:xfrm>
            <a:off x="10104120" y="3383280"/>
            <a:ext cx="1371600" cy="411480"/>
          </a:xfrm>
          <a:prstGeom prst="rect">
            <a:avLst/>
          </a:prstGeom>
          <a:noFill/>
          <a:ln/>
        </p:spPr>
        <p:txBody>
          <a:bodyPr wrap="square" lIns="0" tIns="0" rIns="0" bIns="0" rtlCol="0" anchor="t"/>
          <a:lstStyle/>
          <a:p>
            <a:pPr algn="r" indent="0" marL="0">
              <a:buNone/>
            </a:pPr>
            <a:r>
              <a:rPr lang="en-US" sz="1800" b="1" dirty="0">
                <a:solidFill>
                  <a:schemeClr val="tx2"/>
                </a:solidFill>
              </a:rPr>
              <a:t>66,2 k€</a:t>
            </a:r>
            <a:endParaRPr lang="en-US" sz="1800" dirty="0"/>
          </a:p>
        </p:txBody>
      </p:sp>
      <p:sp>
        <p:nvSpPr>
          <p:cNvPr id="12" name="Text 10"/>
          <p:cNvSpPr txBox="1"/>
          <p:nvPr/>
        </p:nvSpPr>
        <p:spPr>
          <a:xfrm>
            <a:off x="8778240" y="3931920"/>
            <a:ext cx="2697480" cy="411480"/>
          </a:xfrm>
          <a:prstGeom prst="rect">
            <a:avLst/>
          </a:prstGeom>
          <a:noFill/>
          <a:ln/>
        </p:spPr>
        <p:txBody>
          <a:bodyPr wrap="square" lIns="0" tIns="0" rIns="0" bIns="0" rtlCol="0" anchor="t"/>
          <a:lstStyle/>
          <a:p>
            <a:pPr indent="0" marL="0">
              <a:buNone/>
            </a:pPr>
            <a:r>
              <a:rPr lang="en-US" sz="1400" dirty="0">
                <a:solidFill>
                  <a:schemeClr val="tx1"/>
                </a:solidFill>
              </a:rPr>
              <a:t>47 % de la moyenne sur 7 jours</a:t>
            </a:r>
            <a:endParaRPr lang="en-US" sz="1400" dirty="0"/>
          </a:p>
        </p:txBody>
      </p:sp>
      <p:sp>
        <p:nvSpPr>
          <p:cNvPr id="13" name="carte-prix"/>
          <p:cNvSpPr/>
          <p:nvPr/>
        </p:nvSpPr>
        <p:spPr>
          <a:xfrm>
            <a:off x="8549640" y="4754880"/>
            <a:ext cx="3063240" cy="1371600"/>
          </a:xfrm>
          <a:prstGeom prst="roundRect">
            <a:avLst>
              <a:gd name="adj" fmla="val 8000"/>
            </a:avLst>
          </a:prstGeom>
          <a:solidFill>
            <a:schemeClr val="tx2"/>
          </a:solidFill>
          <a:ln/>
        </p:spPr>
      </p:sp>
      <p:sp>
        <p:nvSpPr>
          <p:cNvPr id="14" name="Text 12"/>
          <p:cNvSpPr txBox="1"/>
          <p:nvPr/>
        </p:nvSpPr>
        <p:spPr>
          <a:xfrm>
            <a:off x="8778240" y="4846320"/>
            <a:ext cx="1280160" cy="59436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206</a:t>
            </a:r>
            <a:endParaRPr lang="en-US" sz="3200" dirty="0"/>
          </a:p>
        </p:txBody>
      </p:sp>
      <p:sp>
        <p:nvSpPr>
          <p:cNvPr id="15" name="Text 13"/>
          <p:cNvSpPr txBox="1"/>
          <p:nvPr/>
        </p:nvSpPr>
        <p:spPr>
          <a:xfrm>
            <a:off x="8778240" y="5440680"/>
            <a:ext cx="2697480" cy="594360"/>
          </a:xfrm>
          <a:prstGeom prst="rect">
            <a:avLst/>
          </a:prstGeom>
          <a:noFill/>
          <a:ln/>
        </p:spPr>
        <p:txBody>
          <a:bodyPr wrap="square" lIns="0" tIns="0" rIns="0" bIns="0" rtlCol="0" anchor="t"/>
          <a:lstStyle/>
          <a:p>
            <a:pPr indent="0" marL="0">
              <a:buNone/>
            </a:pPr>
            <a:r>
              <a:rPr lang="en-US" sz="1300" dirty="0">
                <a:solidFill>
                  <a:schemeClr val="accent6"/>
                </a:solidFill>
              </a:rPr>
              <a:t>prix suspects, soit le taux de défauts injecté dans l'API</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graphicFrame>
        <p:nvGraphicFramePr>
          <p:cNvPr id="26" name="graphique-ca"/>
          <p:cNvGraphicFramePr>
            <a:graphicFrameLocks noGrp="1"/>
          </p:cNvGraphicFramePr>
          <p:nvPr/>
        </p:nvGraphicFramePr>
        <p:xfrm>
          <a:off x="548640" y="1600200"/>
          <a:ext cx="7680960" cy="4526280"/>
        </p:xfrm>
        <a:graphic>
          <a:graphicData uri="http://schemas.openxmlformats.org/drawingml/2006/chart">
            <c:chart xmlns:c="http://schemas.openxmlformats.org/drawingml/2006/chart" r:id="rId3"/>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BILAN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Ce qui est livré</a:t>
            </a:r>
            <a:endParaRPr lang="en-US" sz="3600" dirty="0"/>
          </a:p>
        </p:txBody>
      </p:sp>
      <p:sp>
        <p:nvSpPr>
          <p:cNvPr id="4" name="carte-bilan-0"/>
          <p:cNvSpPr/>
          <p:nvPr/>
        </p:nvSpPr>
        <p:spPr>
          <a:xfrm>
            <a:off x="548640" y="1691640"/>
            <a:ext cx="3520440" cy="1965960"/>
          </a:xfrm>
          <a:prstGeom prst="roundRect">
            <a:avLst>
              <a:gd name="adj" fmla="val 5581"/>
            </a:avLst>
          </a:prstGeom>
          <a:solidFill>
            <a:schemeClr val="bg2"/>
          </a:solidFill>
          <a:ln/>
        </p:spPr>
      </p:sp>
      <p:sp>
        <p:nvSpPr>
          <p:cNvPr id="5" name="Text 3"/>
          <p:cNvSpPr txBox="1"/>
          <p:nvPr/>
        </p:nvSpPr>
        <p:spPr>
          <a:xfrm>
            <a:off x="868680" y="1965960"/>
            <a:ext cx="2880360" cy="868680"/>
          </a:xfrm>
          <a:prstGeom prst="rect">
            <a:avLst/>
          </a:prstGeom>
          <a:noFill/>
          <a:ln/>
        </p:spPr>
        <p:txBody>
          <a:bodyPr wrap="square" lIns="0" tIns="0" rIns="0" bIns="0" rtlCol="0" anchor="t"/>
          <a:lstStyle/>
          <a:p>
            <a:pPr indent="0" marL="0">
              <a:buNone/>
            </a:pPr>
            <a:r>
              <a:rPr lang="en-US" sz="4600" b="1" dirty="0">
                <a:solidFill>
                  <a:schemeClr val="accent1"/>
                </a:solidFill>
                <a:latin typeface="Cambria" pitchFamily="34" charset="0"/>
                <a:ea typeface="Cambria" pitchFamily="34" charset="-122"/>
                <a:cs typeface="Cambria" pitchFamily="34" charset="-120"/>
              </a:rPr>
              <a:t>7 / 7</a:t>
            </a:r>
            <a:endParaRPr lang="en-US" sz="4600" dirty="0"/>
          </a:p>
        </p:txBody>
      </p:sp>
      <p:sp>
        <p:nvSpPr>
          <p:cNvPr id="6" name="Text 4"/>
          <p:cNvSpPr txBox="1"/>
          <p:nvPr/>
        </p:nvSpPr>
        <p:spPr>
          <a:xfrm>
            <a:off x="868680" y="2880360"/>
            <a:ext cx="2880360" cy="457200"/>
          </a:xfrm>
          <a:prstGeom prst="rect">
            <a:avLst/>
          </a:prstGeom>
          <a:noFill/>
          <a:ln/>
        </p:spPr>
        <p:txBody>
          <a:bodyPr wrap="square" lIns="0" tIns="0" rIns="0" bIns="0" rtlCol="0" anchor="t"/>
          <a:lstStyle/>
          <a:p>
            <a:pPr indent="0" marL="0">
              <a:buNone/>
            </a:pPr>
            <a:r>
              <a:rPr lang="en-US" sz="1600" dirty="0">
                <a:solidFill>
                  <a:schemeClr val="tx1"/>
                </a:solidFill>
              </a:rPr>
              <a:t>user stories couvertes</a:t>
            </a:r>
            <a:endParaRPr lang="en-US" sz="1600" dirty="0"/>
          </a:p>
        </p:txBody>
      </p:sp>
      <p:sp>
        <p:nvSpPr>
          <p:cNvPr id="7" name="carte-bilan-1"/>
          <p:cNvSpPr/>
          <p:nvPr/>
        </p:nvSpPr>
        <p:spPr>
          <a:xfrm>
            <a:off x="4320540" y="1691640"/>
            <a:ext cx="3520440" cy="1965960"/>
          </a:xfrm>
          <a:prstGeom prst="roundRect">
            <a:avLst>
              <a:gd name="adj" fmla="val 5581"/>
            </a:avLst>
          </a:prstGeom>
          <a:solidFill>
            <a:schemeClr val="bg2"/>
          </a:solidFill>
          <a:ln/>
        </p:spPr>
      </p:sp>
      <p:sp>
        <p:nvSpPr>
          <p:cNvPr id="8" name="Text 6"/>
          <p:cNvSpPr txBox="1"/>
          <p:nvPr/>
        </p:nvSpPr>
        <p:spPr>
          <a:xfrm>
            <a:off x="4640580" y="1965960"/>
            <a:ext cx="2880360" cy="868680"/>
          </a:xfrm>
          <a:prstGeom prst="rect">
            <a:avLst/>
          </a:prstGeom>
          <a:noFill/>
          <a:ln/>
        </p:spPr>
        <p:txBody>
          <a:bodyPr wrap="square" lIns="0" tIns="0" rIns="0" bIns="0" rtlCol="0" anchor="t"/>
          <a:lstStyle/>
          <a:p>
            <a:pPr indent="0" marL="0">
              <a:buNone/>
            </a:pPr>
            <a:r>
              <a:rPr lang="en-US" sz="4600" b="1" dirty="0">
                <a:solidFill>
                  <a:schemeClr val="accent4"/>
                </a:solidFill>
                <a:latin typeface="Cambria" pitchFamily="34" charset="0"/>
                <a:ea typeface="Cambria" pitchFamily="34" charset="-122"/>
                <a:cs typeface="Cambria" pitchFamily="34" charset="-120"/>
              </a:rPr>
              <a:t>52 936</a:t>
            </a:r>
            <a:endParaRPr lang="en-US" sz="4600" dirty="0"/>
          </a:p>
        </p:txBody>
      </p:sp>
      <p:sp>
        <p:nvSpPr>
          <p:cNvPr id="9" name="Text 7"/>
          <p:cNvSpPr txBox="1"/>
          <p:nvPr/>
        </p:nvSpPr>
        <p:spPr>
          <a:xfrm>
            <a:off x="4640580" y="2880360"/>
            <a:ext cx="2880360" cy="457200"/>
          </a:xfrm>
          <a:prstGeom prst="rect">
            <a:avLst/>
          </a:prstGeom>
          <a:noFill/>
          <a:ln/>
        </p:spPr>
        <p:txBody>
          <a:bodyPr wrap="square" lIns="0" tIns="0" rIns="0" bIns="0" rtlCol="0" anchor="t"/>
          <a:lstStyle/>
          <a:p>
            <a:pPr indent="0" marL="0">
              <a:buNone/>
            </a:pPr>
            <a:r>
              <a:rPr lang="en-US" sz="1600" dirty="0">
                <a:solidFill>
                  <a:schemeClr val="tx1"/>
                </a:solidFill>
              </a:rPr>
              <a:t>commandes sur 51 jours</a:t>
            </a:r>
            <a:endParaRPr lang="en-US" sz="1600" dirty="0"/>
          </a:p>
        </p:txBody>
      </p:sp>
      <p:sp>
        <p:nvSpPr>
          <p:cNvPr id="10" name="carte-bilan-2"/>
          <p:cNvSpPr/>
          <p:nvPr/>
        </p:nvSpPr>
        <p:spPr>
          <a:xfrm>
            <a:off x="8092440" y="1691640"/>
            <a:ext cx="3520440" cy="1965960"/>
          </a:xfrm>
          <a:prstGeom prst="roundRect">
            <a:avLst>
              <a:gd name="adj" fmla="val 5581"/>
            </a:avLst>
          </a:prstGeom>
          <a:solidFill>
            <a:schemeClr val="bg2"/>
          </a:solidFill>
          <a:ln/>
        </p:spPr>
      </p:sp>
      <p:sp>
        <p:nvSpPr>
          <p:cNvPr id="11" name="Text 9"/>
          <p:cNvSpPr txBox="1"/>
          <p:nvPr/>
        </p:nvSpPr>
        <p:spPr>
          <a:xfrm>
            <a:off x="8412480" y="1965960"/>
            <a:ext cx="2880360" cy="868680"/>
          </a:xfrm>
          <a:prstGeom prst="rect">
            <a:avLst/>
          </a:prstGeom>
          <a:noFill/>
          <a:ln/>
        </p:spPr>
        <p:txBody>
          <a:bodyPr wrap="square" lIns="0" tIns="0" rIns="0" bIns="0" rtlCol="0" anchor="t"/>
          <a:lstStyle/>
          <a:p>
            <a:pPr indent="0" marL="0">
              <a:buNone/>
            </a:pPr>
            <a:r>
              <a:rPr lang="en-US" sz="4600" b="1" dirty="0">
                <a:solidFill>
                  <a:schemeClr val="accent2"/>
                </a:solidFill>
                <a:latin typeface="Cambria" pitchFamily="34" charset="0"/>
                <a:ea typeface="Cambria" pitchFamily="34" charset="-122"/>
                <a:cs typeface="Cambria" pitchFamily="34" charset="-120"/>
              </a:rPr>
              <a:t>6,98 M€</a:t>
            </a:r>
            <a:endParaRPr lang="en-US" sz="4600" dirty="0"/>
          </a:p>
        </p:txBody>
      </p:sp>
      <p:sp>
        <p:nvSpPr>
          <p:cNvPr id="12" name="Text 10"/>
          <p:cNvSpPr txBox="1"/>
          <p:nvPr/>
        </p:nvSpPr>
        <p:spPr>
          <a:xfrm>
            <a:off x="8412480" y="2880360"/>
            <a:ext cx="2880360" cy="457200"/>
          </a:xfrm>
          <a:prstGeom prst="rect">
            <a:avLst/>
          </a:prstGeom>
          <a:noFill/>
          <a:ln/>
        </p:spPr>
        <p:txBody>
          <a:bodyPr wrap="square" lIns="0" tIns="0" rIns="0" bIns="0" rtlCol="0" anchor="t"/>
          <a:lstStyle/>
          <a:p>
            <a:pPr indent="0" marL="0">
              <a:buNone/>
            </a:pPr>
            <a:r>
              <a:rPr lang="en-US" sz="1600" dirty="0">
                <a:solidFill>
                  <a:schemeClr val="tx1"/>
                </a:solidFill>
              </a:rPr>
              <a:t>de CA réconcilié au centime</a:t>
            </a:r>
            <a:endParaRPr lang="en-US" sz="1600" dirty="0"/>
          </a:p>
        </p:txBody>
      </p:sp>
      <p:sp>
        <p:nvSpPr>
          <p:cNvPr id="13" name="carte-bilan-3"/>
          <p:cNvSpPr/>
          <p:nvPr/>
        </p:nvSpPr>
        <p:spPr>
          <a:xfrm>
            <a:off x="548640" y="3931920"/>
            <a:ext cx="3520440" cy="1965960"/>
          </a:xfrm>
          <a:prstGeom prst="roundRect">
            <a:avLst>
              <a:gd name="adj" fmla="val 5581"/>
            </a:avLst>
          </a:prstGeom>
          <a:solidFill>
            <a:schemeClr val="bg2"/>
          </a:solidFill>
          <a:ln/>
        </p:spPr>
      </p:sp>
      <p:sp>
        <p:nvSpPr>
          <p:cNvPr id="14" name="Text 12"/>
          <p:cNvSpPr txBox="1"/>
          <p:nvPr/>
        </p:nvSpPr>
        <p:spPr>
          <a:xfrm>
            <a:off x="868680" y="4206240"/>
            <a:ext cx="2880360" cy="868680"/>
          </a:xfrm>
          <a:prstGeom prst="rect">
            <a:avLst/>
          </a:prstGeom>
          <a:noFill/>
          <a:ln/>
        </p:spPr>
        <p:txBody>
          <a:bodyPr wrap="square" lIns="0" tIns="0" rIns="0" bIns="0" rtlCol="0" anchor="t"/>
          <a:lstStyle/>
          <a:p>
            <a:pPr indent="0" marL="0">
              <a:buNone/>
            </a:pPr>
            <a:r>
              <a:rPr lang="en-US" sz="4600" b="1" dirty="0">
                <a:solidFill>
                  <a:schemeClr val="accent1"/>
                </a:solidFill>
                <a:latin typeface="Cambria" pitchFamily="34" charset="0"/>
                <a:ea typeface="Cambria" pitchFamily="34" charset="-122"/>
                <a:cs typeface="Cambria" pitchFamily="34" charset="-120"/>
              </a:rPr>
              <a:t>44</a:t>
            </a:r>
            <a:endParaRPr lang="en-US" sz="4600" dirty="0"/>
          </a:p>
        </p:txBody>
      </p:sp>
      <p:sp>
        <p:nvSpPr>
          <p:cNvPr id="15" name="Text 13"/>
          <p:cNvSpPr txBox="1"/>
          <p:nvPr/>
        </p:nvSpPr>
        <p:spPr>
          <a:xfrm>
            <a:off x="868680" y="5120640"/>
            <a:ext cx="2880360" cy="457200"/>
          </a:xfrm>
          <a:prstGeom prst="rect">
            <a:avLst/>
          </a:prstGeom>
          <a:noFill/>
          <a:ln/>
        </p:spPr>
        <p:txBody>
          <a:bodyPr wrap="square" lIns="0" tIns="0" rIns="0" bIns="0" rtlCol="0" anchor="t"/>
          <a:lstStyle/>
          <a:p>
            <a:pPr indent="0" marL="0">
              <a:buNone/>
            </a:pPr>
            <a:r>
              <a:rPr lang="en-US" sz="1600" dirty="0">
                <a:solidFill>
                  <a:schemeClr val="tx1"/>
                </a:solidFill>
              </a:rPr>
              <a:t>tests pytest au vert</a:t>
            </a:r>
            <a:endParaRPr lang="en-US" sz="1600" dirty="0"/>
          </a:p>
        </p:txBody>
      </p:sp>
      <p:sp>
        <p:nvSpPr>
          <p:cNvPr id="16" name="carte-bilan-4"/>
          <p:cNvSpPr/>
          <p:nvPr/>
        </p:nvSpPr>
        <p:spPr>
          <a:xfrm>
            <a:off x="4320540" y="3931920"/>
            <a:ext cx="3520440" cy="1965960"/>
          </a:xfrm>
          <a:prstGeom prst="roundRect">
            <a:avLst>
              <a:gd name="adj" fmla="val 5581"/>
            </a:avLst>
          </a:prstGeom>
          <a:solidFill>
            <a:schemeClr val="bg2"/>
          </a:solidFill>
          <a:ln/>
        </p:spPr>
      </p:sp>
      <p:sp>
        <p:nvSpPr>
          <p:cNvPr id="17" name="Text 15"/>
          <p:cNvSpPr txBox="1"/>
          <p:nvPr/>
        </p:nvSpPr>
        <p:spPr>
          <a:xfrm>
            <a:off x="4640580" y="4206240"/>
            <a:ext cx="2880360" cy="868680"/>
          </a:xfrm>
          <a:prstGeom prst="rect">
            <a:avLst/>
          </a:prstGeom>
          <a:noFill/>
          <a:ln/>
        </p:spPr>
        <p:txBody>
          <a:bodyPr wrap="square" lIns="0" tIns="0" rIns="0" bIns="0" rtlCol="0" anchor="t"/>
          <a:lstStyle/>
          <a:p>
            <a:pPr indent="0" marL="0">
              <a:buNone/>
            </a:pPr>
            <a:r>
              <a:rPr lang="en-US" sz="4600" b="1" dirty="0">
                <a:solidFill>
                  <a:schemeClr val="accent4"/>
                </a:solidFill>
                <a:latin typeface="Cambria" pitchFamily="34" charset="0"/>
                <a:ea typeface="Cambria" pitchFamily="34" charset="-122"/>
                <a:cs typeface="Cambria" pitchFamily="34" charset="-120"/>
              </a:rPr>
              <a:t>5</a:t>
            </a:r>
            <a:endParaRPr lang="en-US" sz="4600" dirty="0"/>
          </a:p>
        </p:txBody>
      </p:sp>
      <p:sp>
        <p:nvSpPr>
          <p:cNvPr id="18" name="Text 16"/>
          <p:cNvSpPr txBox="1"/>
          <p:nvPr/>
        </p:nvSpPr>
        <p:spPr>
          <a:xfrm>
            <a:off x="4640580" y="5120640"/>
            <a:ext cx="2880360" cy="457200"/>
          </a:xfrm>
          <a:prstGeom prst="rect">
            <a:avLst/>
          </a:prstGeom>
          <a:noFill/>
          <a:ln/>
        </p:spPr>
        <p:txBody>
          <a:bodyPr wrap="square" lIns="0" tIns="0" rIns="0" bIns="0" rtlCol="0" anchor="t"/>
          <a:lstStyle/>
          <a:p>
            <a:pPr indent="0" marL="0">
              <a:buNone/>
            </a:pPr>
            <a:r>
              <a:rPr lang="en-US" sz="1600" dirty="0">
                <a:solidFill>
                  <a:schemeClr val="tx1"/>
                </a:solidFill>
              </a:rPr>
              <a:t>dashboards Metabase</a:t>
            </a:r>
            <a:endParaRPr lang="en-US" sz="1600" dirty="0"/>
          </a:p>
        </p:txBody>
      </p:sp>
      <p:sp>
        <p:nvSpPr>
          <p:cNvPr id="19" name="carte-bilan-5"/>
          <p:cNvSpPr/>
          <p:nvPr/>
        </p:nvSpPr>
        <p:spPr>
          <a:xfrm>
            <a:off x="8092440" y="3931920"/>
            <a:ext cx="3520440" cy="1965960"/>
          </a:xfrm>
          <a:prstGeom prst="roundRect">
            <a:avLst>
              <a:gd name="adj" fmla="val 5581"/>
            </a:avLst>
          </a:prstGeom>
          <a:solidFill>
            <a:schemeClr val="bg2"/>
          </a:solidFill>
          <a:ln/>
        </p:spPr>
      </p:sp>
      <p:sp>
        <p:nvSpPr>
          <p:cNvPr id="20" name="Text 18"/>
          <p:cNvSpPr txBox="1"/>
          <p:nvPr/>
        </p:nvSpPr>
        <p:spPr>
          <a:xfrm>
            <a:off x="8412480" y="4206240"/>
            <a:ext cx="2880360" cy="868680"/>
          </a:xfrm>
          <a:prstGeom prst="rect">
            <a:avLst/>
          </a:prstGeom>
          <a:noFill/>
          <a:ln/>
        </p:spPr>
        <p:txBody>
          <a:bodyPr wrap="square" lIns="0" tIns="0" rIns="0" bIns="0" rtlCol="0" anchor="t"/>
          <a:lstStyle/>
          <a:p>
            <a:pPr indent="0" marL="0">
              <a:buNone/>
            </a:pPr>
            <a:r>
              <a:rPr lang="en-US" sz="4600" b="1" dirty="0">
                <a:solidFill>
                  <a:schemeClr val="accent2"/>
                </a:solidFill>
                <a:latin typeface="Cambria" pitchFamily="34" charset="0"/>
                <a:ea typeface="Cambria" pitchFamily="34" charset="-122"/>
                <a:cs typeface="Cambria" pitchFamily="34" charset="-120"/>
              </a:rPr>
              <a:t>3</a:t>
            </a:r>
            <a:endParaRPr lang="en-US" sz="4600" dirty="0"/>
          </a:p>
        </p:txBody>
      </p:sp>
      <p:sp>
        <p:nvSpPr>
          <p:cNvPr id="21" name="Text 19"/>
          <p:cNvSpPr txBox="1"/>
          <p:nvPr/>
        </p:nvSpPr>
        <p:spPr>
          <a:xfrm>
            <a:off x="8412480" y="5120640"/>
            <a:ext cx="2880360" cy="457200"/>
          </a:xfrm>
          <a:prstGeom prst="rect">
            <a:avLst/>
          </a:prstGeom>
          <a:noFill/>
          <a:ln/>
        </p:spPr>
        <p:txBody>
          <a:bodyPr wrap="square" lIns="0" tIns="0" rIns="0" bIns="0" rtlCol="0" anchor="t"/>
          <a:lstStyle/>
          <a:p>
            <a:pPr indent="0" marL="0">
              <a:buNone/>
            </a:pPr>
            <a:r>
              <a:rPr lang="en-US" sz="1600" dirty="0">
                <a:solidFill>
                  <a:schemeClr val="tx1"/>
                </a:solidFill>
              </a:rPr>
              <a:t>DAGs Airflow 3</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RECUL</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Limites et prochaines étapes</a:t>
            </a:r>
            <a:endParaRPr lang="en-US" sz="3600" dirty="0"/>
          </a:p>
        </p:txBody>
      </p:sp>
      <p:sp>
        <p:nvSpPr>
          <p:cNvPr id="4" name="carte-limites"/>
          <p:cNvSpPr/>
          <p:nvPr/>
        </p:nvSpPr>
        <p:spPr>
          <a:xfrm>
            <a:off x="548640" y="1691640"/>
            <a:ext cx="5394960" cy="4389120"/>
          </a:xfrm>
          <a:prstGeom prst="roundRect">
            <a:avLst>
              <a:gd name="adj" fmla="val 2500"/>
            </a:avLst>
          </a:prstGeom>
          <a:solidFill>
            <a:schemeClr val="bg2"/>
          </a:solidFill>
          <a:ln/>
        </p:spPr>
      </p:sp>
      <p:sp>
        <p:nvSpPr>
          <p:cNvPr id="5" name="icone-limites-cercle"/>
          <p:cNvSpPr/>
          <p:nvPr/>
        </p:nvSpPr>
        <p:spPr>
          <a:xfrm>
            <a:off x="822960" y="1920240"/>
            <a:ext cx="685800" cy="685800"/>
          </a:xfrm>
          <a:prstGeom prst="ellipse">
            <a:avLst/>
          </a:prstGeom>
          <a:solidFill>
            <a:schemeClr val="accent3"/>
          </a:solidFill>
          <a:ln/>
        </p:spPr>
      </p:sp>
      <p:pic>
        <p:nvPicPr>
          <p:cNvPr id="6" name="icone-limites" descr="preencoded.png">    </p:cNvPr>
          <p:cNvPicPr>
            <a:picLocks noChangeAspect="1"/>
          </p:cNvPicPr>
          <p:nvPr/>
        </p:nvPicPr>
        <p:blipFill>
          <a:blip r:embed="rId1"/>
          <a:stretch>
            <a:fillRect/>
          </a:stretch>
        </p:blipFill>
        <p:spPr>
          <a:xfrm>
            <a:off x="987552" y="2084832"/>
            <a:ext cx="356616" cy="356616"/>
          </a:xfrm>
          <a:prstGeom prst="rect">
            <a:avLst/>
          </a:prstGeom>
        </p:spPr>
      </p:pic>
      <p:sp>
        <p:nvSpPr>
          <p:cNvPr id="7" name="Text 4"/>
          <p:cNvSpPr txBox="1"/>
          <p:nvPr/>
        </p:nvSpPr>
        <p:spPr>
          <a:xfrm>
            <a:off x="1691640" y="2057400"/>
            <a:ext cx="4023360" cy="411480"/>
          </a:xfrm>
          <a:prstGeom prst="rect">
            <a:avLst/>
          </a:prstGeom>
          <a:noFill/>
          <a:ln/>
        </p:spPr>
        <p:txBody>
          <a:bodyPr wrap="square" lIns="0" tIns="0" rIns="0" bIns="0" rtlCol="0" anchor="t"/>
          <a:lstStyle/>
          <a:p>
            <a:pPr indent="0" marL="0">
              <a:buNone/>
            </a:pPr>
            <a:r>
              <a:rPr lang="en-US" sz="2000" b="1" dirty="0">
                <a:solidFill>
                  <a:schemeClr val="tx2"/>
                </a:solidFill>
              </a:rPr>
              <a:t>Limites connues</a:t>
            </a:r>
            <a:endParaRPr lang="en-US" sz="2000" dirty="0"/>
          </a:p>
        </p:txBody>
      </p:sp>
      <p:sp>
        <p:nvSpPr>
          <p:cNvPr id="8" name="Text 5"/>
          <p:cNvSpPr txBox="1"/>
          <p:nvPr/>
        </p:nvSpPr>
        <p:spPr>
          <a:xfrm>
            <a:off x="822960" y="2880360"/>
            <a:ext cx="4892040" cy="3017520"/>
          </a:xfrm>
          <a:prstGeom prst="rect">
            <a:avLst/>
          </a:prstGeom>
          <a:noFill/>
          <a:ln/>
        </p:spPr>
        <p:txBody>
          <a:bodyPr wrap="square" lIns="0" tIns="0" rIns="0" bIns="0" rtlCol="0" anchor="t"/>
          <a:lstStyle/>
          <a:p>
            <a:pPr marL="342900" indent="-342900">
              <a:spcAft>
                <a:spcPts val="1600"/>
              </a:spcAft>
              <a:buSzPct val="100000"/>
              <a:buChar char="•"/>
            </a:pPr>
            <a:r>
              <a:rPr lang="en-US" sz="1700" dirty="0">
                <a:solidFill>
                  <a:schemeClr val="tx1"/>
                </a:solidFill>
              </a:rPr>
              <a:t>dags test exige un DAG en pause</a:t>
            </a:r>
            <a:endParaRPr lang="en-US" sz="1700" dirty="0"/>
          </a:p>
          <a:p>
            <a:pPr marL="342900" indent="-342900">
              <a:spcAft>
                <a:spcPts val="1600"/>
              </a:spcAft>
              <a:buSzPct val="100000"/>
              <a:buChar char="•"/>
            </a:pPr>
            <a:r>
              <a:rPr lang="en-US" sz="1700" dirty="0">
                <a:solidFill>
                  <a:schemeClr val="tx1"/>
                </a:solidFill>
              </a:rPr>
              <a:t>Docker suspendu quand le Mac est en veille</a:t>
            </a:r>
            <a:endParaRPr lang="en-US" sz="1700" dirty="0"/>
          </a:p>
          <a:p>
            <a:pPr marL="342900" indent="-342900">
              <a:spcAft>
                <a:spcPts val="1600"/>
              </a:spcAft>
              <a:buSzPct val="100000"/>
              <a:buChar char="•"/>
            </a:pPr>
            <a:r>
              <a:rPr lang="en-US" sz="1700" dirty="0">
                <a:solidFill>
                  <a:schemeClr val="tx1"/>
                </a:solidFill>
              </a:rPr>
              <a:t>Statistiques de checkpoint PostgreSQL 18 absentes du dashboard 9628</a:t>
            </a:r>
            <a:endParaRPr lang="en-US" sz="1700" dirty="0"/>
          </a:p>
          <a:p>
            <a:pPr marL="342900" indent="-342900">
              <a:spcAft>
                <a:spcPts val="1600"/>
              </a:spcAft>
              <a:buSzPct val="100000"/>
              <a:buChar char="•"/>
            </a:pPr>
            <a:r>
              <a:rPr lang="en-US" sz="1700" dirty="0">
                <a:solidFill>
                  <a:schemeClr val="tx1"/>
                </a:solidFill>
              </a:rPr>
              <a:t>Source simulée : volumes et défauts contrôlés</a:t>
            </a:r>
            <a:endParaRPr lang="en-US" sz="1700" dirty="0"/>
          </a:p>
        </p:txBody>
      </p:sp>
      <p:sp>
        <p:nvSpPr>
          <p:cNvPr id="9" name="carte-suite"/>
          <p:cNvSpPr/>
          <p:nvPr/>
        </p:nvSpPr>
        <p:spPr>
          <a:xfrm>
            <a:off x="6217920" y="1691640"/>
            <a:ext cx="5394960" cy="4389120"/>
          </a:xfrm>
          <a:prstGeom prst="roundRect">
            <a:avLst>
              <a:gd name="adj" fmla="val 2500"/>
            </a:avLst>
          </a:prstGeom>
          <a:solidFill>
            <a:schemeClr val="tx2"/>
          </a:solidFill>
          <a:ln/>
        </p:spPr>
      </p:sp>
      <p:sp>
        <p:nvSpPr>
          <p:cNvPr id="10" name="icone-suite-cercle"/>
          <p:cNvSpPr/>
          <p:nvPr/>
        </p:nvSpPr>
        <p:spPr>
          <a:xfrm>
            <a:off x="6492240" y="1920240"/>
            <a:ext cx="685800" cy="685800"/>
          </a:xfrm>
          <a:prstGeom prst="ellipse">
            <a:avLst/>
          </a:prstGeom>
          <a:solidFill>
            <a:schemeClr val="accent1"/>
          </a:solidFill>
          <a:ln/>
        </p:spPr>
      </p:sp>
      <p:pic>
        <p:nvPicPr>
          <p:cNvPr id="11" name="icone-suite" descr="preencoded.png">    </p:cNvPr>
          <p:cNvPicPr>
            <a:picLocks noChangeAspect="1"/>
          </p:cNvPicPr>
          <p:nvPr/>
        </p:nvPicPr>
        <p:blipFill>
          <a:blip r:embed="rId2"/>
          <a:stretch>
            <a:fillRect/>
          </a:stretch>
        </p:blipFill>
        <p:spPr>
          <a:xfrm>
            <a:off x="6656832" y="2084832"/>
            <a:ext cx="356616" cy="356616"/>
          </a:xfrm>
          <a:prstGeom prst="rect">
            <a:avLst/>
          </a:prstGeom>
        </p:spPr>
      </p:pic>
      <p:sp>
        <p:nvSpPr>
          <p:cNvPr id="12" name="Text 8"/>
          <p:cNvSpPr txBox="1"/>
          <p:nvPr/>
        </p:nvSpPr>
        <p:spPr>
          <a:xfrm>
            <a:off x="7360920" y="2057400"/>
            <a:ext cx="4023360" cy="411480"/>
          </a:xfrm>
          <a:prstGeom prst="rect">
            <a:avLst/>
          </a:prstGeom>
          <a:noFill/>
          <a:ln/>
        </p:spPr>
        <p:txBody>
          <a:bodyPr wrap="square" lIns="0" tIns="0" rIns="0" bIns="0" rtlCol="0" anchor="t"/>
          <a:lstStyle/>
          <a:p>
            <a:pPr indent="0" marL="0">
              <a:buNone/>
            </a:pPr>
            <a:r>
              <a:rPr lang="en-US" sz="2000" b="1" dirty="0">
                <a:solidFill>
                  <a:schemeClr val="bg1"/>
                </a:solidFill>
              </a:rPr>
              <a:t>Avec plus de temps</a:t>
            </a:r>
            <a:endParaRPr lang="en-US" sz="2000" dirty="0"/>
          </a:p>
        </p:txBody>
      </p:sp>
      <p:sp>
        <p:nvSpPr>
          <p:cNvPr id="13" name="Text 9"/>
          <p:cNvSpPr txBox="1"/>
          <p:nvPr/>
        </p:nvSpPr>
        <p:spPr>
          <a:xfrm>
            <a:off x="6492240" y="2880360"/>
            <a:ext cx="4892040" cy="3017520"/>
          </a:xfrm>
          <a:prstGeom prst="rect">
            <a:avLst/>
          </a:prstGeom>
          <a:noFill/>
          <a:ln/>
        </p:spPr>
        <p:txBody>
          <a:bodyPr wrap="square" lIns="0" tIns="0" rIns="0" bIns="0" rtlCol="0" anchor="t"/>
          <a:lstStyle/>
          <a:p>
            <a:pPr marL="342900" indent="-342900">
              <a:spcAft>
                <a:spcPts val="1600"/>
              </a:spcAft>
              <a:buSzPct val="100000"/>
              <a:buChar char="•"/>
            </a:pPr>
            <a:r>
              <a:rPr lang="en-US" sz="1700" dirty="0">
                <a:solidFill>
                  <a:schemeClr val="accent6"/>
                </a:solidFill>
              </a:rPr>
              <a:t>dbt pour les transformations SQL</a:t>
            </a:r>
            <a:endParaRPr lang="en-US" sz="1700" dirty="0"/>
          </a:p>
          <a:p>
            <a:pPr marL="342900" indent="-342900">
              <a:spcAft>
                <a:spcPts val="1600"/>
              </a:spcAft>
              <a:buSzPct val="100000"/>
              <a:buChar char="•"/>
            </a:pPr>
            <a:r>
              <a:rPr lang="en-US" sz="1700" dirty="0">
                <a:solidFill>
                  <a:schemeClr val="accent6"/>
                </a:solidFill>
              </a:rPr>
              <a:t>CI/CD : tests et build à chaque push</a:t>
            </a:r>
            <a:endParaRPr lang="en-US" sz="1700" dirty="0"/>
          </a:p>
          <a:p>
            <a:pPr marL="342900" indent="-342900">
              <a:spcAft>
                <a:spcPts val="1600"/>
              </a:spcAft>
              <a:buSzPct val="100000"/>
              <a:buChar char="•"/>
            </a:pPr>
            <a:r>
              <a:rPr lang="en-US" sz="1700" dirty="0">
                <a:solidFill>
                  <a:schemeClr val="accent6"/>
                </a:solidFill>
              </a:rPr>
              <a:t>SCD2 sur vendeurs et produits</a:t>
            </a:r>
            <a:endParaRPr lang="en-US" sz="1700" dirty="0"/>
          </a:p>
          <a:p>
            <a:pPr marL="342900" indent="-342900">
              <a:spcAft>
                <a:spcPts val="1600"/>
              </a:spcAft>
              <a:buSzPct val="100000"/>
              <a:buChar char="•"/>
            </a:pPr>
            <a:r>
              <a:rPr lang="en-US" sz="1700" dirty="0">
                <a:solidFill>
                  <a:schemeClr val="accent6"/>
                </a:solidFill>
              </a:rPr>
              <a:t>Cloud, gestionnaire de secrets, alertes Slack</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lIns="0" tIns="0" rIns="0" bIns="0" rtlCol="0" anchor="b"/>
          <a:lstStyle/>
          <a:p>
            <a:pPr algn="l" indent="0" marL="0">
              <a:buNone/>
            </a:pPr>
            <a:r>
              <a:rPr lang="en-US" sz="4800" b="1" dirty="0">
                <a:solidFill>
                  <a:schemeClr val="bg1"/>
                </a:solidFill>
              </a:rPr>
              <a:t>Merci, des questions ?</a:t>
            </a:r>
            <a:endParaRPr lang="en-US" sz="4800" dirty="0"/>
          </a:p>
        </p:txBody>
      </p:sp>
      <p:sp>
        <p:nvSpPr>
          <p:cNvPr id="3" name="Text 0"/>
          <p:cNvSpPr/>
          <p:nvPr>
            <p:ph idx="101" type="body" hasCustomPrompt="1"/>
          </p:nvPr>
        </p:nvSpPr>
        <p:spPr>
          <a:xfrm>
            <a:off x="731520" y="2880360"/>
            <a:ext cx="10698480" cy="822960"/>
          </a:xfrm>
          <a:prstGeom prst="rect">
            <a:avLst/>
          </a:prstGeom>
          <a:noFill/>
          <a:ln/>
        </p:spPr>
        <p:txBody>
          <a:bodyPr wrap="square" lIns="0" tIns="0" rIns="0" bIns="0" rtlCol="0" anchor="t"/>
          <a:lstStyle/>
          <a:p>
            <a:pPr indent="0" marL="0">
              <a:buNone/>
            </a:pPr>
            <a:r>
              <a:rPr lang="en-US" sz="2400" dirty="0">
                <a:solidFill>
                  <a:schemeClr val="accent6"/>
                </a:solidFill>
              </a:rPr>
              <a:t>De 2 jours d’extraction manuelle par semaine à 4 commandes pour tout reconstruire</a:t>
            </a:r>
            <a:endParaRPr lang="en-US" sz="2400" dirty="0"/>
          </a:p>
        </p:txBody>
      </p:sp>
      <p:sp>
        <p:nvSpPr>
          <p:cNvPr id="4" name="Text 0"/>
          <p:cNvSpPr/>
          <p:nvPr>
            <p:ph idx="102" type="body" hasCustomPrompt="1"/>
          </p:nvPr>
        </p:nvSpPr>
        <p:spPr>
          <a:xfrm>
            <a:off x="731520" y="5897880"/>
            <a:ext cx="10698480" cy="411480"/>
          </a:xfrm>
          <a:prstGeom prst="rect">
            <a:avLst/>
          </a:prstGeom>
          <a:noFill/>
          <a:ln/>
        </p:spPr>
        <p:txBody>
          <a:bodyPr wrap="square" lIns="0" tIns="0" rIns="0" bIns="0" rtlCol="0" anchor="t"/>
          <a:lstStyle/>
          <a:p>
            <a:pPr indent="0" marL="0">
              <a:buNone/>
            </a:pPr>
            <a:r>
              <a:rPr lang="en-US" sz="1400" dirty="0">
                <a:solidFill>
                  <a:schemeClr val="accent6"/>
                </a:solidFill>
              </a:rPr>
              <a:t>github.com/bhvvl/projet-final-marketplace</a:t>
            </a:r>
            <a:endParaRPr lang="en-US" sz="1400" dirty="0"/>
          </a:p>
        </p:txBody>
      </p:sp>
      <p:sp>
        <p:nvSpPr>
          <p:cNvPr id="5" name="icone-github-cercle"/>
          <p:cNvSpPr/>
          <p:nvPr/>
        </p:nvSpPr>
        <p:spPr>
          <a:xfrm>
            <a:off x="731520" y="4297680"/>
            <a:ext cx="822960" cy="822960"/>
          </a:xfrm>
          <a:prstGeom prst="ellipse">
            <a:avLst/>
          </a:prstGeom>
          <a:solidFill>
            <a:schemeClr val="accent4"/>
          </a:solidFill>
          <a:ln/>
        </p:spPr>
      </p:sp>
      <p:pic>
        <p:nvPicPr>
          <p:cNvPr id="6" name="icone-github" descr="preencoded.png">    </p:cNvPr>
          <p:cNvPicPr>
            <a:picLocks noChangeAspect="1"/>
          </p:cNvPicPr>
          <p:nvPr/>
        </p:nvPicPr>
        <p:blipFill>
          <a:blip r:embed="rId1"/>
          <a:stretch>
            <a:fillRect/>
          </a:stretch>
        </p:blipFill>
        <p:spPr>
          <a:xfrm>
            <a:off x="929030" y="4495190"/>
            <a:ext cx="427939" cy="427939"/>
          </a:xfrm>
          <a:prstGeom prst="rect">
            <a:avLst/>
          </a:prstGeom>
        </p:spPr>
      </p:pic>
      <p:sp>
        <p:nvSpPr>
          <p:cNvPr id="7" name="Text 4"/>
          <p:cNvSpPr txBox="1"/>
          <p:nvPr/>
        </p:nvSpPr>
        <p:spPr>
          <a:xfrm>
            <a:off x="1783080" y="4297680"/>
            <a:ext cx="8229600" cy="822960"/>
          </a:xfrm>
          <a:prstGeom prst="rect">
            <a:avLst/>
          </a:prstGeom>
          <a:noFill/>
          <a:ln/>
        </p:spPr>
        <p:txBody>
          <a:bodyPr wrap="square" lIns="0" tIns="0" rIns="0" bIns="0" rtlCol="0" anchor="ctr"/>
          <a:lstStyle/>
          <a:p>
            <a:pPr indent="0" marL="0">
              <a:buNone/>
            </a:pPr>
            <a:r>
              <a:rPr lang="en-US" sz="1800" dirty="0">
                <a:solidFill>
                  <a:schemeClr val="accent6"/>
                </a:solidFill>
              </a:rPr>
              <a:t>README complet : architecture, choix techniques, procédure de test</a:t>
            </a:r>
            <a:endParaRPr lang="en-US" sz="1800" dirty="0"/>
          </a:p>
        </p:txBody>
      </p:sp>
    </p:spTree>
  </p:cSld>
  <p:clrMapOvr>
    <a:masterClrMapping/>
  </p:clrMapOvr>
</p:sld>
</file>

<file path=ppt/theme/theme1.xml><?xml version="1.0" encoding="utf-8"?>
<a:theme xmlns:a="http://schemas.openxmlformats.org/drawingml/2006/main" name="Maelys Data">
  <a:themeElements>
    <a:clrScheme name="Maelys Data">
      <a:dk1>
        <a:srgbClr val="1D1A24"/>
      </a:dk1>
      <a:lt1>
        <a:srgbClr val="FFFFFF"/>
      </a:lt1>
      <a:dk2>
        <a:srgbClr val="2B1B3D"/>
      </a:dk2>
      <a:lt2>
        <a:srgbClr val="F4F1F8"/>
      </a:lt2>
      <a:accent1>
        <a:srgbClr val="E8603C"/>
      </a:accent1>
      <a:accent2>
        <a:srgbClr val="1F9E89"/>
      </a:accent2>
      <a:accent3>
        <a:srgbClr val="F2B134"/>
      </a:accent3>
      <a:accent4>
        <a:srgbClr val="7B5EA7"/>
      </a:accent4>
      <a:accent5>
        <a:srgbClr val="5B6472"/>
      </a:accent5>
      <a:accent6>
        <a:srgbClr val="CFC6DE"/>
      </a:accent6>
      <a:hlink>
        <a:srgbClr val="1F9E89"/>
      </a:hlink>
      <a:folHlink>
        <a:srgbClr val="7B5EA7"/>
      </a:folHlink>
    </a:clrScheme>
    <a:fontScheme name="Maelys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Maelys Marketplace Analytics</dc:title>
  <dc:subject>Projet final Data Lake et Data Warehouse</dc:subject>
  <dc:creator>William</dc:creator>
  <cp:lastModifiedBy>William</cp:lastModifiedBy>
  <cp:revision>1</cp:revision>
  <dcterms:created xsi:type="dcterms:W3CDTF">2026-10-22T14:14:56Z</dcterms:created>
  <dcterms:modified xsi:type="dcterms:W3CDTF">2026-10-22T14:14:56Z</dcterms:modified>
</cp:coreProperties>
</file>